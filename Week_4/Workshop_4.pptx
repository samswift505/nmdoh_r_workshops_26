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5" r:id="rId4"/>
    <p:sldId id="343" r:id="rId5"/>
    <p:sldId id="259" r:id="rId6"/>
    <p:sldId id="334" r:id="rId7"/>
    <p:sldId id="264" r:id="rId8"/>
    <p:sldId id="331" r:id="rId9"/>
    <p:sldId id="329" r:id="rId10"/>
    <p:sldId id="338" r:id="rId11"/>
    <p:sldId id="339" r:id="rId12"/>
    <p:sldId id="336" r:id="rId13"/>
    <p:sldId id="337" r:id="rId14"/>
    <p:sldId id="332" r:id="rId15"/>
    <p:sldId id="333" r:id="rId16"/>
    <p:sldId id="340" r:id="rId17"/>
    <p:sldId id="341" r:id="rId18"/>
    <p:sldId id="342" r:id="rId19"/>
    <p:sldId id="328" r:id="rId20"/>
    <p:sldId id="344" r:id="rId21"/>
    <p:sldId id="330" r:id="rId22"/>
    <p:sldId id="34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09T15:48:34.4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03C2-431A-4B20-9CB0-B1E231D56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082A8-CAFD-44DB-9B58-548592074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92880-35CE-431F-AE7C-746397EA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E72C7-C235-42B3-B21B-E4CFFBEA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5E99-D54D-460D-BAAA-5C405BD9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FEAF-EB45-4B36-8611-7540FDDF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F767-4B73-4E55-A599-5A2882E1B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E4500-A49E-4E1E-8C7D-EA447667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8F6B1-0562-41F4-B71D-711B9D99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08CC4-B3CA-4077-B987-79125B51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0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57CBE-6C47-4C42-866B-831C1E3F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A122B-8266-47C2-AB7E-B38F47EF1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6F187-96E1-4650-8977-DE13B3F6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47F33-308A-4DCA-96E4-2D17A220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1FA04-1CDE-4BF1-96D7-DF8EA5BE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8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61EF-5330-44FD-8643-DD76C706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9E41-6975-48C8-8AA0-D3B0A27EB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103A7-2CD4-404D-81CA-1FE4DC751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7ECB2-CC30-4FA8-91FD-3334DCA2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1C716-501E-4F2E-BE51-824A8547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FDDC9-8E12-4AC6-AE8B-8509101A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F984-E88E-4823-85CF-6C78C311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33389-B135-483E-BA7F-B6B0B6569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F33D2-A015-465F-B59C-D25E63B2E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121CFB-7412-4FF9-9023-9D6B2EAD6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46611-FEF0-474E-9667-A04600F69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9A861-3C2E-4A05-B3A1-0297F374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9E071-D5B4-4307-A5DE-598C985A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CFA3D-67F3-4026-B5F9-EDD29742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3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B68B9-3A01-47DE-8BA0-DE26A384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BE8E0-8863-40C7-8D5C-E7D17978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57A39-AF99-48D8-B94D-3B328973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45137-F543-49E2-B3DD-1FA9EB22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4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18267-C087-4B17-9CF4-8568DC7F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E3EF0-A69D-4C4F-A3BF-7D13AC7B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C041C-A858-4EAD-B96F-29A55DB6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3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E7BB-7334-426E-8138-052F58CE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53866-4131-493A-AD8C-D9E3BFC22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A7858-3825-4A56-A75E-280710390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4AF36-3E55-464E-852E-30417403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A4BFA-FC16-41C7-8C79-7173734B1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49FFC-79F2-4C84-BE67-1C017723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37BA-F5D0-4091-94CC-4FB59828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E9CC4-A716-4BD7-A8A9-69476D1AF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B133A-AD87-4170-89ED-B1F50C683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DE659-D317-4249-9233-F04836AE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0A6DA-3DF7-49C1-8FE7-2AB8430C3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8CE5-80B0-4B95-8896-698D9106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0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4E59-BA33-4963-8768-D607D5F3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FC36F-D183-4319-A567-941F676CF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C59D-3CBC-468D-AFCB-6307727A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2E64C-74A7-479B-8253-CA18C8DD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840E0-6969-49D0-8244-0BB98A09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3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AF488-F53F-4F23-978F-F614988DC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58D26-2866-4FE6-9CD5-9416F1B76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5B267-7E57-4D16-80F3-4B19F3DF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180DE-E257-4418-A135-C4652684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B123E-8ECF-4D7C-941F-FB92B3D0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5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66879-38E3-4D7C-A0CF-6CBFC793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5DE17-E6AF-4CBC-B77E-023B37869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3D840-A7D9-46AE-BC74-A54B8BD93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A810C6-A60A-40A3-8518-A2013DFAB85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F3E0-2FFC-4887-8108-BFED9DBBB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9E00A-D8F1-4CDD-8D0C-4D7AE7E92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7D120-CE21-4466-BFB8-40B5C609D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3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" TargetMode="External"/><Relationship Id="rId2" Type="http://schemas.openxmlformats.org/officeDocument/2006/relationships/hyperlink" Target="https://github.com/rstudio/cheatsheets/blob/main/data-visualizatio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rikgahner/awesome-ggplot2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ilto:samswift@salud.unm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2D15-0320-4B94-99CB-6F704FECE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8000" dirty="0"/>
              <a:t>Workshop #4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67D47-E8E5-43D0-9F15-ED36ECBE4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13328"/>
            <a:ext cx="9144000" cy="165576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dirty="0"/>
              <a:t>Data Visualization with ggplot2() transposing some data </a:t>
            </a:r>
          </a:p>
        </p:txBody>
      </p:sp>
    </p:spTree>
    <p:extLst>
      <p:ext uri="{BB962C8B-B14F-4D97-AF65-F5344CB8AC3E}">
        <p14:creationId xmlns:p14="http://schemas.microsoft.com/office/powerpoint/2010/main" val="3990252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7435-479E-4283-A5A9-EB6FBD1B707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Presentation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8AA9-41CD-4862-83B8-2062CFB1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0200" cy="4351338"/>
          </a:xfrm>
        </p:spPr>
        <p:txBody>
          <a:bodyPr>
            <a:normAutofit/>
          </a:bodyPr>
          <a:lstStyle/>
          <a:p>
            <a:r>
              <a:rPr lang="en-US" dirty="0"/>
              <a:t>Quick review </a:t>
            </a:r>
          </a:p>
          <a:p>
            <a:r>
              <a:rPr lang="en-US" dirty="0"/>
              <a:t>Time for your questions and week 3 homework solutions </a:t>
            </a:r>
          </a:p>
          <a:p>
            <a:r>
              <a:rPr lang="en-US" dirty="0" err="1"/>
              <a:t>ggplot</a:t>
            </a:r>
            <a:r>
              <a:rPr lang="en-US" dirty="0"/>
              <a:t> basics </a:t>
            </a:r>
          </a:p>
          <a:p>
            <a:r>
              <a:rPr lang="en-US" dirty="0"/>
              <a:t>Transposing data (wide to long)</a:t>
            </a:r>
          </a:p>
          <a:p>
            <a:r>
              <a:rPr lang="en-US" dirty="0" err="1"/>
              <a:t>ggplot</a:t>
            </a:r>
            <a:r>
              <a:rPr lang="en-US" dirty="0"/>
              <a:t> with a grouping variable</a:t>
            </a:r>
          </a:p>
          <a:p>
            <a:r>
              <a:rPr lang="en-US" dirty="0">
                <a:highlight>
                  <a:srgbClr val="FFFF00"/>
                </a:highlight>
              </a:rPr>
              <a:t>Longer R lab today with some review from week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53176-47ED-4214-9623-22AE02397E2B}"/>
              </a:ext>
            </a:extLst>
          </p:cNvPr>
          <p:cNvSpPr/>
          <p:nvPr/>
        </p:nvSpPr>
        <p:spPr>
          <a:xfrm>
            <a:off x="6408548" y="1890793"/>
            <a:ext cx="4945251" cy="45177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Learning objectives: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Understand basic data visualization in R using </a:t>
            </a:r>
            <a:r>
              <a:rPr lang="en-US" sz="3200" dirty="0" err="1"/>
              <a:t>ggplot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Understand </a:t>
            </a:r>
            <a:r>
              <a:rPr lang="en-US" sz="3200" dirty="0" err="1"/>
              <a:t>pivot_longer</a:t>
            </a:r>
            <a:r>
              <a:rPr lang="en-US" sz="3200" dirty="0"/>
              <a:t> command for transposing data in r </a:t>
            </a:r>
          </a:p>
        </p:txBody>
      </p:sp>
    </p:spTree>
    <p:extLst>
      <p:ext uri="{BB962C8B-B14F-4D97-AF65-F5344CB8AC3E}">
        <p14:creationId xmlns:p14="http://schemas.microsoft.com/office/powerpoint/2010/main" val="279666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3303-E726-40AE-800A-5EB5C8B1314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Review: What have we learned??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093FE-F649-45EA-A2F7-96B864200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0552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 has many panes (pains?) </a:t>
            </a:r>
          </a:p>
          <a:p>
            <a:r>
              <a:rPr lang="en-US" dirty="0"/>
              <a:t>Packages are bundles of code, which can contain functions</a:t>
            </a:r>
          </a:p>
          <a:p>
            <a:r>
              <a:rPr lang="en-US" dirty="0"/>
              <a:t>Functions are bits of code that you perform on objects</a:t>
            </a:r>
          </a:p>
          <a:p>
            <a:r>
              <a:rPr lang="en-US" dirty="0"/>
              <a:t>Objects are things you make in r like data frames and plots</a:t>
            </a:r>
          </a:p>
          <a:p>
            <a:pPr lvl="1"/>
            <a:r>
              <a:rPr lang="en-US" dirty="0"/>
              <a:t>When you make objects they appear in the environment window </a:t>
            </a:r>
          </a:p>
          <a:p>
            <a:r>
              <a:rPr lang="en-US" dirty="0"/>
              <a:t>Scripts are the programs where you save the code you wrote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6792A-50EF-4114-92FB-E73E90CA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9" y="2476643"/>
            <a:ext cx="5201587" cy="304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2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0BD4F-6FFC-4175-B229-A7AE0406EFB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Review: some specific things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29ED-199A-45B4-B69F-C23AC10A8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table() makes ugly tables that just show frequencies</a:t>
            </a:r>
          </a:p>
          <a:p>
            <a:r>
              <a:rPr lang="en-US" dirty="0"/>
              <a:t>This works btw for proportions: </a:t>
            </a:r>
            <a:r>
              <a:rPr lang="en-US" dirty="0" err="1"/>
              <a:t>prop.table</a:t>
            </a:r>
            <a:r>
              <a:rPr lang="en-US" dirty="0"/>
              <a:t>(table(data$took_GLP1,data$has_diabetes),margin=2) </a:t>
            </a:r>
          </a:p>
          <a:p>
            <a:r>
              <a:rPr lang="en-US" dirty="0"/>
              <a:t>aggregate() lets you aggregate </a:t>
            </a:r>
            <a:r>
              <a:rPr lang="en-US" dirty="0" err="1"/>
              <a:t>continious</a:t>
            </a:r>
            <a:r>
              <a:rPr lang="en-US" dirty="0"/>
              <a:t> variables by categorical ones</a:t>
            </a:r>
          </a:p>
          <a:p>
            <a:endParaRPr lang="en-US" dirty="0"/>
          </a:p>
          <a:p>
            <a:r>
              <a:rPr lang="en-US" dirty="0"/>
              <a:t>We learned a couple de duplication and data cleaning functions/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33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E28873-AD29-4771-AA15-B43B95E48E0D}"/>
              </a:ext>
            </a:extLst>
          </p:cNvPr>
          <p:cNvSpPr/>
          <p:nvPr/>
        </p:nvSpPr>
        <p:spPr>
          <a:xfrm>
            <a:off x="8313093" y="4112315"/>
            <a:ext cx="3040708" cy="21099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AD61E-F893-4B63-8637-FA9462AC1F9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Types of joins in statistical software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EA9AD-C556-4A77-B57C-D7DD89A2F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817" y="1690688"/>
            <a:ext cx="7915275" cy="401955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1B4513-36A3-487C-A836-578B9E8F7E73}"/>
                  </a:ext>
                </a:extLst>
              </p14:cNvPr>
              <p14:cNvContentPartPr/>
              <p14:nvPr/>
            </p14:nvContentPartPr>
            <p14:xfrm>
              <a:off x="10080549" y="65549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1B4513-36A3-487C-A836-578B9E8F7E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17549" y="6491912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263B27CF-1971-4085-8D7F-BDEC47F119CF}"/>
              </a:ext>
            </a:extLst>
          </p:cNvPr>
          <p:cNvSpPr/>
          <p:nvPr/>
        </p:nvSpPr>
        <p:spPr>
          <a:xfrm>
            <a:off x="7662596" y="3107987"/>
            <a:ext cx="2654554" cy="642026"/>
          </a:xfrm>
          <a:prstGeom prst="wedgeRectCallout">
            <a:avLst>
              <a:gd name="adj1" fmla="val -85044"/>
              <a:gd name="adj2" fmla="val 652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Also called outer join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C33B51-3E8D-430D-8D33-B2BB55CDB765}"/>
              </a:ext>
            </a:extLst>
          </p:cNvPr>
          <p:cNvSpPr/>
          <p:nvPr/>
        </p:nvSpPr>
        <p:spPr>
          <a:xfrm>
            <a:off x="8561925" y="4477422"/>
            <a:ext cx="1396173" cy="140485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8DAC6-1E26-46CA-AC82-2FDF7C168404}"/>
              </a:ext>
            </a:extLst>
          </p:cNvPr>
          <p:cNvSpPr/>
          <p:nvPr/>
        </p:nvSpPr>
        <p:spPr>
          <a:xfrm>
            <a:off x="9524385" y="4464886"/>
            <a:ext cx="1396173" cy="14048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4991C-ADC6-48D5-99B4-ECD0F023C02F}"/>
              </a:ext>
            </a:extLst>
          </p:cNvPr>
          <p:cNvSpPr txBox="1"/>
          <p:nvPr/>
        </p:nvSpPr>
        <p:spPr>
          <a:xfrm>
            <a:off x="9342612" y="4108090"/>
            <a:ext cx="221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ANTI JOIN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771C6D-D743-49E7-AD33-EF1D897C40D5}"/>
              </a:ext>
            </a:extLst>
          </p:cNvPr>
          <p:cNvSpPr/>
          <p:nvPr/>
        </p:nvSpPr>
        <p:spPr>
          <a:xfrm>
            <a:off x="8561924" y="4477422"/>
            <a:ext cx="1396173" cy="14048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DD2C-CE00-4BF6-889D-CC860D3B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264150" cy="2852737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Question time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95300-3A49-4F94-BACD-AFA80FCF3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480" y="1709738"/>
            <a:ext cx="3660478" cy="28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41AC-0022-49C4-8510-90C9602D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820620" cy="4154167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Data Visualization with ggplot2 in R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E3CF6-A91A-4BB0-8815-68C8E0AE8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470" y="1978185"/>
            <a:ext cx="5027341" cy="375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3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B88F-4C32-41F4-A32E-8033C825BEA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Some basic ingredients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B203-B2BB-4BC4-9361-8A54BD5BC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aes</a:t>
            </a:r>
            <a:r>
              <a:rPr lang="en-US" dirty="0">
                <a:highlight>
                  <a:srgbClr val="FFFF00"/>
                </a:highlight>
              </a:rPr>
              <a:t>: </a:t>
            </a:r>
            <a:r>
              <a:rPr lang="en-US" dirty="0"/>
              <a:t>stands for aesthetic mapping- this is where you tell r which columns (variables) are going to be in the graph </a:t>
            </a:r>
          </a:p>
          <a:p>
            <a:pPr lvl="1"/>
            <a:r>
              <a:rPr lang="en-US" dirty="0"/>
              <a:t>Outside </a:t>
            </a:r>
            <a:r>
              <a:rPr lang="en-US" dirty="0" err="1"/>
              <a:t>aes</a:t>
            </a:r>
            <a:r>
              <a:rPr lang="en-US" dirty="0"/>
              <a:t>() is where we usually “hardcode” additionally properties of the graph, and where I will add additional things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This is where you tell </a:t>
            </a:r>
            <a:r>
              <a:rPr lang="en-US" dirty="0" err="1">
                <a:highlight>
                  <a:srgbClr val="FFFF00"/>
                </a:highlight>
              </a:rPr>
              <a:t>ggplot</a:t>
            </a:r>
            <a:r>
              <a:rPr lang="en-US" dirty="0">
                <a:highlight>
                  <a:srgbClr val="FFFF00"/>
                </a:highlight>
              </a:rPr>
              <a:t> your x and y axis </a:t>
            </a:r>
          </a:p>
          <a:p>
            <a:r>
              <a:rPr lang="en-US" dirty="0" err="1">
                <a:highlight>
                  <a:srgbClr val="FFFF00"/>
                </a:highlight>
              </a:rPr>
              <a:t>geoms</a:t>
            </a:r>
            <a:r>
              <a:rPr lang="en-US" dirty="0">
                <a:highlight>
                  <a:srgbClr val="FFFF00"/>
                </a:highlight>
              </a:rPr>
              <a:t>:</a:t>
            </a:r>
            <a:r>
              <a:rPr lang="en-US" dirty="0"/>
              <a:t> how your data are rendered- to oversimplify the type of graph you are making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Line graph, bar graph </a:t>
            </a:r>
            <a:r>
              <a:rPr lang="en-US" dirty="0" err="1">
                <a:highlight>
                  <a:srgbClr val="FFFF00"/>
                </a:highlight>
              </a:rPr>
              <a:t>etc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r>
              <a:rPr lang="en-US" dirty="0">
                <a:highlight>
                  <a:srgbClr val="FFFF00"/>
                </a:highlight>
              </a:rPr>
              <a:t>attributes: </a:t>
            </a:r>
            <a:r>
              <a:rPr lang="en-US" dirty="0"/>
              <a:t>Additional things you manipulate outside of the </a:t>
            </a:r>
            <a:r>
              <a:rPr lang="en-US" dirty="0" err="1"/>
              <a:t>aes</a:t>
            </a:r>
            <a:r>
              <a:rPr lang="en-US" dirty="0"/>
              <a:t>() parentheses to change the appearance of the graph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We will do this iteratively to clean up our graphs today </a:t>
            </a:r>
          </a:p>
        </p:txBody>
      </p:sp>
    </p:spTree>
    <p:extLst>
      <p:ext uri="{BB962C8B-B14F-4D97-AF65-F5344CB8AC3E}">
        <p14:creationId xmlns:p14="http://schemas.microsoft.com/office/powerpoint/2010/main" val="421519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E574-71A5-42F0-8D9A-CEC433AC229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Syntax breakdown: things in </a:t>
            </a:r>
            <a:r>
              <a:rPr lang="en-US" dirty="0" err="1"/>
              <a:t>ggplot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8F120-442A-43E9-9A37-598F921F5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pbar&lt;- </a:t>
            </a:r>
            <a:r>
              <a:rPr lang="en-US" sz="3200" dirty="0" err="1">
                <a:highlight>
                  <a:srgbClr val="FFFF00"/>
                </a:highlight>
              </a:rPr>
              <a:t>ggplot</a:t>
            </a:r>
            <a:r>
              <a:rPr lang="en-US" sz="3200" dirty="0"/>
              <a:t>(data3, </a:t>
            </a:r>
            <a:r>
              <a:rPr lang="en-US" sz="3200" dirty="0" err="1"/>
              <a:t>aes</a:t>
            </a:r>
            <a:r>
              <a:rPr lang="en-US" sz="3200" dirty="0"/>
              <a:t>(x=took_GLP1, y=</a:t>
            </a:r>
            <a:r>
              <a:rPr lang="en-US" sz="3200" dirty="0" err="1"/>
              <a:t>egfr</a:t>
            </a:r>
            <a:r>
              <a:rPr lang="en-US" sz="3200" dirty="0"/>
              <a:t>)) +   				      </a:t>
            </a:r>
            <a:r>
              <a:rPr lang="en-US" sz="3200" dirty="0" err="1"/>
              <a:t>geom_bar</a:t>
            </a:r>
            <a:r>
              <a:rPr lang="en-US" sz="3200" dirty="0"/>
              <a:t>(stat='</a:t>
            </a:r>
            <a:r>
              <a:rPr lang="en-US" sz="3200" dirty="0" err="1"/>
              <a:t>summary',fun</a:t>
            </a:r>
            <a:r>
              <a:rPr lang="en-US" sz="3200" dirty="0"/>
              <a:t>='mean')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A761ED-AB98-44F1-92F1-24DF0B8AB8B3}"/>
              </a:ext>
            </a:extLst>
          </p:cNvPr>
          <p:cNvCxnSpPr/>
          <p:nvPr/>
        </p:nvCxnSpPr>
        <p:spPr>
          <a:xfrm flipV="1">
            <a:off x="1512917" y="2909454"/>
            <a:ext cx="0" cy="13549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Brace 5">
            <a:extLst>
              <a:ext uri="{FF2B5EF4-FFF2-40B4-BE49-F238E27FC236}">
                <a16:creationId xmlns:a16="http://schemas.microsoft.com/office/drawing/2014/main" id="{28BCFA52-A1D9-4424-BAF9-64B9DA3CC8E4}"/>
              </a:ext>
            </a:extLst>
          </p:cNvPr>
          <p:cNvSpPr/>
          <p:nvPr/>
        </p:nvSpPr>
        <p:spPr>
          <a:xfrm rot="5400000">
            <a:off x="1372082" y="1935417"/>
            <a:ext cx="256728" cy="1072341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9ADA6-D452-4EA7-B6A1-4A885CBA63CC}"/>
              </a:ext>
            </a:extLst>
          </p:cNvPr>
          <p:cNvSpPr/>
          <p:nvPr/>
        </p:nvSpPr>
        <p:spPr>
          <a:xfrm>
            <a:off x="764773" y="4264430"/>
            <a:ext cx="1496286" cy="1155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 the plot into an object called “pbar”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065C6D-5F2A-4D36-86A6-9FA9FD26273B}"/>
              </a:ext>
            </a:extLst>
          </p:cNvPr>
          <p:cNvCxnSpPr/>
          <p:nvPr/>
        </p:nvCxnSpPr>
        <p:spPr>
          <a:xfrm flipV="1">
            <a:off x="4233950" y="2820785"/>
            <a:ext cx="0" cy="13549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52F50C8-F6B7-43F3-93D8-2AEA72E9C134}"/>
              </a:ext>
            </a:extLst>
          </p:cNvPr>
          <p:cNvSpPr/>
          <p:nvPr/>
        </p:nvSpPr>
        <p:spPr>
          <a:xfrm>
            <a:off x="3485807" y="4175761"/>
            <a:ext cx="1496286" cy="124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of graph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ACD9E6-34E5-48C0-9406-0CDE6D12184B}"/>
              </a:ext>
            </a:extLst>
          </p:cNvPr>
          <p:cNvCxnSpPr/>
          <p:nvPr/>
        </p:nvCxnSpPr>
        <p:spPr>
          <a:xfrm flipV="1">
            <a:off x="7334597" y="3710043"/>
            <a:ext cx="0" cy="13549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CCB2342-A2D6-48F6-9AB9-9C7D3B07D805}"/>
              </a:ext>
            </a:extLst>
          </p:cNvPr>
          <p:cNvSpPr/>
          <p:nvPr/>
        </p:nvSpPr>
        <p:spPr>
          <a:xfrm>
            <a:off x="6544889" y="4923702"/>
            <a:ext cx="1496286" cy="1537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Types of statistics that can be in your plot will go here 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4F72154-CE1F-4D10-9EE8-1BFD62026FAA}"/>
              </a:ext>
            </a:extLst>
          </p:cNvPr>
          <p:cNvSpPr/>
          <p:nvPr/>
        </p:nvSpPr>
        <p:spPr>
          <a:xfrm rot="5400000">
            <a:off x="7054980" y="953433"/>
            <a:ext cx="577254" cy="423256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B2CC88-51AC-45C9-B8F7-DA3620FB04A1}"/>
              </a:ext>
            </a:extLst>
          </p:cNvPr>
          <p:cNvCxnSpPr>
            <a:cxnSpLocks/>
          </p:cNvCxnSpPr>
          <p:nvPr/>
        </p:nvCxnSpPr>
        <p:spPr>
          <a:xfrm flipH="1">
            <a:off x="9371215" y="2036618"/>
            <a:ext cx="117374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BD315DE-0472-4151-8D28-BC7351749F4D}"/>
              </a:ext>
            </a:extLst>
          </p:cNvPr>
          <p:cNvSpPr/>
          <p:nvPr/>
        </p:nvSpPr>
        <p:spPr>
          <a:xfrm>
            <a:off x="9462660" y="4814957"/>
            <a:ext cx="1496286" cy="1537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Plus sign means do this as well, easier in iterations after this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E3D3CA-D74A-47AF-B23B-B913CF80B7FF}"/>
              </a:ext>
            </a:extLst>
          </p:cNvPr>
          <p:cNvCxnSpPr>
            <a:cxnSpLocks/>
          </p:cNvCxnSpPr>
          <p:nvPr/>
        </p:nvCxnSpPr>
        <p:spPr>
          <a:xfrm>
            <a:off x="10494628" y="2043043"/>
            <a:ext cx="50333" cy="285954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FBF9524-1AFE-4AA7-B921-072A3AC5DDEF}"/>
              </a:ext>
            </a:extLst>
          </p:cNvPr>
          <p:cNvSpPr/>
          <p:nvPr/>
        </p:nvSpPr>
        <p:spPr>
          <a:xfrm>
            <a:off x="764773" y="5886450"/>
            <a:ext cx="4462549" cy="7281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aes</a:t>
            </a:r>
            <a:r>
              <a:rPr lang="en-US" sz="2400" dirty="0"/>
              <a:t> contains our X and Y variables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17203A-9194-4F45-BD6F-713BABA7FFD8}"/>
              </a:ext>
            </a:extLst>
          </p:cNvPr>
          <p:cNvCxnSpPr>
            <a:cxnSpLocks/>
          </p:cNvCxnSpPr>
          <p:nvPr/>
        </p:nvCxnSpPr>
        <p:spPr>
          <a:xfrm flipV="1">
            <a:off x="2506289" y="2343223"/>
            <a:ext cx="0" cy="8626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1DBF946-55C2-40AB-A179-3BA4F4EB210A}"/>
              </a:ext>
            </a:extLst>
          </p:cNvPr>
          <p:cNvSpPr/>
          <p:nvPr/>
        </p:nvSpPr>
        <p:spPr>
          <a:xfrm>
            <a:off x="1758146" y="3048682"/>
            <a:ext cx="1496286" cy="3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function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CEF1CE-3D45-442B-8416-425E297A20B6}"/>
              </a:ext>
            </a:extLst>
          </p:cNvPr>
          <p:cNvCxnSpPr>
            <a:cxnSpLocks/>
          </p:cNvCxnSpPr>
          <p:nvPr/>
        </p:nvCxnSpPr>
        <p:spPr>
          <a:xfrm flipV="1">
            <a:off x="3782639" y="2238375"/>
            <a:ext cx="0" cy="15104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7705330-F810-415E-9817-01402A1E959C}"/>
              </a:ext>
            </a:extLst>
          </p:cNvPr>
          <p:cNvSpPr/>
          <p:nvPr/>
        </p:nvSpPr>
        <p:spPr>
          <a:xfrm>
            <a:off x="3034496" y="3591606"/>
            <a:ext cx="1070775" cy="408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data</a:t>
            </a:r>
          </a:p>
        </p:txBody>
      </p:sp>
    </p:spTree>
    <p:extLst>
      <p:ext uri="{BB962C8B-B14F-4D97-AF65-F5344CB8AC3E}">
        <p14:creationId xmlns:p14="http://schemas.microsoft.com/office/powerpoint/2010/main" val="343785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2" grpId="0" animBg="1"/>
      <p:bldP spid="14" grpId="0" animBg="1"/>
      <p:bldP spid="19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AE71-36C0-4B79-B006-4A1F3304875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The graph that code on last slide makes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102A-C8E6-4A3C-B565-31BEC56A9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2075" cy="4351338"/>
          </a:xfrm>
        </p:spPr>
        <p:txBody>
          <a:bodyPr/>
          <a:lstStyle/>
          <a:p>
            <a:r>
              <a:rPr lang="en-US" dirty="0"/>
              <a:t>The code (again):</a:t>
            </a:r>
          </a:p>
          <a:p>
            <a:r>
              <a:rPr lang="en-US" sz="2800" dirty="0"/>
              <a:t>pbar&lt;- </a:t>
            </a:r>
            <a:r>
              <a:rPr lang="en-US" sz="2800" dirty="0" err="1"/>
              <a:t>ggplot</a:t>
            </a:r>
            <a:r>
              <a:rPr lang="en-US" sz="2800" dirty="0"/>
              <a:t>(data3, </a:t>
            </a:r>
            <a:r>
              <a:rPr lang="en-US" sz="2800" dirty="0" err="1"/>
              <a:t>aes</a:t>
            </a:r>
            <a:r>
              <a:rPr lang="en-US" sz="2800" dirty="0"/>
              <a:t>(x=took_GLP1, y=</a:t>
            </a:r>
            <a:r>
              <a:rPr lang="en-US" sz="2800" dirty="0" err="1"/>
              <a:t>egfr</a:t>
            </a:r>
            <a:r>
              <a:rPr lang="en-US" sz="2800" dirty="0"/>
              <a:t>)) +   	      </a:t>
            </a:r>
            <a:r>
              <a:rPr lang="en-US" sz="2800" dirty="0" err="1"/>
              <a:t>geom_bar</a:t>
            </a:r>
            <a:r>
              <a:rPr lang="en-US" sz="2800" dirty="0"/>
              <a:t>(stat='</a:t>
            </a:r>
            <a:r>
              <a:rPr lang="en-US" sz="2800" dirty="0" err="1"/>
              <a:t>summary',fun</a:t>
            </a:r>
            <a:r>
              <a:rPr lang="en-US" sz="2800" dirty="0"/>
              <a:t>='mean')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FABB1-1951-4D10-A69F-65EFCFE83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065" y="2054225"/>
            <a:ext cx="5391817" cy="36800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DF9E46-AC6F-49F5-806A-D1876AA10496}"/>
              </a:ext>
            </a:extLst>
          </p:cNvPr>
          <p:cNvSpPr/>
          <p:nvPr/>
        </p:nvSpPr>
        <p:spPr>
          <a:xfrm>
            <a:off x="933450" y="4286250"/>
            <a:ext cx="5007486" cy="2400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I know its terrible– We will make a batter graph </a:t>
            </a:r>
          </a:p>
        </p:txBody>
      </p:sp>
    </p:spTree>
    <p:extLst>
      <p:ext uri="{BB962C8B-B14F-4D97-AF65-F5344CB8AC3E}">
        <p14:creationId xmlns:p14="http://schemas.microsoft.com/office/powerpoint/2010/main" val="1388021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A12D-B90A-4667-92B3-66841A1EFA8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The stuff inside the </a:t>
            </a:r>
            <a:r>
              <a:rPr lang="en-US" dirty="0" err="1"/>
              <a:t>geom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F130C-925D-43E8-9D6C-20846E3D8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 </a:t>
            </a:r>
            <a:r>
              <a:rPr lang="en-US" sz="2800" dirty="0" err="1"/>
              <a:t>geom_bar</a:t>
            </a:r>
            <a:r>
              <a:rPr lang="en-US" sz="2800" dirty="0"/>
              <a:t>(</a:t>
            </a:r>
            <a:r>
              <a:rPr lang="en-US" sz="2800" dirty="0">
                <a:highlight>
                  <a:srgbClr val="FFFF00"/>
                </a:highlight>
              </a:rPr>
              <a:t>stat='</a:t>
            </a:r>
            <a:r>
              <a:rPr lang="en-US" sz="2800" dirty="0" err="1">
                <a:highlight>
                  <a:srgbClr val="FFFF00"/>
                </a:highlight>
              </a:rPr>
              <a:t>summary',fun</a:t>
            </a:r>
            <a:r>
              <a:rPr lang="en-US" sz="2800" dirty="0">
                <a:highlight>
                  <a:srgbClr val="FFFF00"/>
                </a:highlight>
              </a:rPr>
              <a:t>='mean’)</a:t>
            </a:r>
          </a:p>
          <a:p>
            <a:r>
              <a:rPr lang="en-US" dirty="0"/>
              <a:t>This tells us what statistic to plot</a:t>
            </a:r>
          </a:p>
          <a:p>
            <a:r>
              <a:rPr lang="en-US" dirty="0"/>
              <a:t>stat=‘summary’ means ggplot2 calcs stats for you</a:t>
            </a:r>
          </a:p>
          <a:p>
            <a:r>
              <a:rPr lang="en-US" dirty="0"/>
              <a:t>stat=‘identity’ means it plots the actual values in your data </a:t>
            </a:r>
          </a:p>
          <a:p>
            <a:r>
              <a:rPr lang="en-US" dirty="0">
                <a:highlight>
                  <a:srgbClr val="FFFF00"/>
                </a:highlight>
              </a:rPr>
              <a:t>I will show this a couple different ways once we get to 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C0BB5-CB35-40E7-9444-AA25E81B2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767" y="4552951"/>
            <a:ext cx="3762491" cy="147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17D095-721A-411F-8B13-B508958A3D6D}"/>
              </a:ext>
            </a:extLst>
          </p:cNvPr>
          <p:cNvSpPr/>
          <p:nvPr/>
        </p:nvSpPr>
        <p:spPr>
          <a:xfrm>
            <a:off x="7038975" y="6101557"/>
            <a:ext cx="3657600" cy="557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Aggregate data where I calculated the means (stat= ‘identity’)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2FB74A-EA85-4941-BDE2-274EEB2356EE}"/>
              </a:ext>
            </a:extLst>
          </p:cNvPr>
          <p:cNvSpPr/>
          <p:nvPr/>
        </p:nvSpPr>
        <p:spPr>
          <a:xfrm>
            <a:off x="1495425" y="6214269"/>
            <a:ext cx="4251266" cy="557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 where ggplot2 calculates the means (stat= ‘summary’, fun=‘mean’)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2E222F-4D4B-4A53-8C17-A345D7C8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06" y="4474280"/>
            <a:ext cx="4743694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36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BFF7-F34A-4E95-9CCC-2007050F235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err="1"/>
              <a:t>ggplot</a:t>
            </a:r>
            <a:r>
              <a:rPr lang="en-US" dirty="0"/>
              <a:t> with a grouping variable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18676-DB12-4650-88E0-2ACA8284B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77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BF76-3B20-4537-AEE0-BFB2575BE19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What a graph might look like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0AA635-118E-4033-88B9-FDB786803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50" y="1690688"/>
            <a:ext cx="10065100" cy="501015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F00234-58DE-4C24-82DD-C87CC2EF9C42}"/>
              </a:ext>
            </a:extLst>
          </p:cNvPr>
          <p:cNvCxnSpPr>
            <a:cxnSpLocks/>
          </p:cNvCxnSpPr>
          <p:nvPr/>
        </p:nvCxnSpPr>
        <p:spPr>
          <a:xfrm flipH="1">
            <a:off x="8582025" y="6402723"/>
            <a:ext cx="21621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4387B39-298C-4F0F-ACC1-579BEDF6FA1B}"/>
              </a:ext>
            </a:extLst>
          </p:cNvPr>
          <p:cNvSpPr/>
          <p:nvPr/>
        </p:nvSpPr>
        <p:spPr>
          <a:xfrm>
            <a:off x="9813721" y="6096909"/>
            <a:ext cx="1676400" cy="571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2F523-0AD2-4973-8082-DEF1C4B21AF1}"/>
              </a:ext>
            </a:extLst>
          </p:cNvPr>
          <p:cNvSpPr/>
          <p:nvPr/>
        </p:nvSpPr>
        <p:spPr>
          <a:xfrm>
            <a:off x="6096000" y="4784299"/>
            <a:ext cx="400050" cy="571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8DDEA-67FA-49B0-A15E-C4D94B58ABE3}"/>
              </a:ext>
            </a:extLst>
          </p:cNvPr>
          <p:cNvSpPr/>
          <p:nvPr/>
        </p:nvSpPr>
        <p:spPr>
          <a:xfrm>
            <a:off x="1831596" y="2857230"/>
            <a:ext cx="400050" cy="571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14192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59F1-6B90-497E-8E0A-AD5C082EEDF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Adding a grouping variable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D862-7840-41F3-AEA2-1C128DD21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pline</a:t>
            </a:r>
            <a:r>
              <a:rPr lang="en-US" dirty="0"/>
              <a:t>&lt;- </a:t>
            </a: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life_ex_long</a:t>
            </a:r>
            <a:r>
              <a:rPr lang="en-US" dirty="0"/>
              <a:t>, </a:t>
            </a:r>
            <a:r>
              <a:rPr lang="en-US" dirty="0" err="1"/>
              <a:t>aes</a:t>
            </a:r>
            <a:r>
              <a:rPr lang="en-US" dirty="0"/>
              <a:t>(x=Year, y=</a:t>
            </a:r>
            <a:r>
              <a:rPr lang="en-US" dirty="0" err="1"/>
              <a:t>Life_ex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color=Country</a:t>
            </a:r>
            <a:r>
              <a:rPr lang="en-US" dirty="0"/>
              <a:t>)) +   </a:t>
            </a:r>
            <a:r>
              <a:rPr lang="en-US" dirty="0" err="1"/>
              <a:t>geom_line</a:t>
            </a:r>
            <a:r>
              <a:rPr lang="en-US" dirty="0"/>
              <a:t>(stat='identity')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BFA416-32C6-456C-A2B1-608DE01E44D8}"/>
              </a:ext>
            </a:extLst>
          </p:cNvPr>
          <p:cNvCxnSpPr/>
          <p:nvPr/>
        </p:nvCxnSpPr>
        <p:spPr>
          <a:xfrm flipV="1">
            <a:off x="9247286" y="2351026"/>
            <a:ext cx="0" cy="13549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FDCC54A-2CD5-41FD-AA46-91154688DB0B}"/>
              </a:ext>
            </a:extLst>
          </p:cNvPr>
          <p:cNvSpPr/>
          <p:nvPr/>
        </p:nvSpPr>
        <p:spPr>
          <a:xfrm>
            <a:off x="8457578" y="3564685"/>
            <a:ext cx="1496286" cy="1537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Similar syntax but we have added the group variable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9F833-0577-4C3A-984C-184D31BC4E03}"/>
              </a:ext>
            </a:extLst>
          </p:cNvPr>
          <p:cNvSpPr/>
          <p:nvPr/>
        </p:nvSpPr>
        <p:spPr>
          <a:xfrm>
            <a:off x="8457578" y="5343787"/>
            <a:ext cx="1667934" cy="114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There are some options here, more next 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EF1B0-BCE9-4A5E-B317-6CBA8CB25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682" y="3360716"/>
            <a:ext cx="2711589" cy="32450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F547FA-590D-4205-930B-BBEE68BD6C7C}"/>
              </a:ext>
            </a:extLst>
          </p:cNvPr>
          <p:cNvSpPr/>
          <p:nvPr/>
        </p:nvSpPr>
        <p:spPr>
          <a:xfrm>
            <a:off x="5083726" y="2976399"/>
            <a:ext cx="494951" cy="293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642D7-E18F-48E0-8236-45F57AC162A3}"/>
              </a:ext>
            </a:extLst>
          </p:cNvPr>
          <p:cNvSpPr/>
          <p:nvPr/>
        </p:nvSpPr>
        <p:spPr>
          <a:xfrm>
            <a:off x="5709405" y="3012107"/>
            <a:ext cx="829113" cy="19714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673839-93B8-447D-8E99-67478078CD91}"/>
              </a:ext>
            </a:extLst>
          </p:cNvPr>
          <p:cNvSpPr/>
          <p:nvPr/>
        </p:nvSpPr>
        <p:spPr>
          <a:xfrm>
            <a:off x="6669244" y="2936353"/>
            <a:ext cx="494951" cy="2938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F5BB63-4784-4EB8-BB58-5AB97041A39D}"/>
              </a:ext>
            </a:extLst>
          </p:cNvPr>
          <p:cNvSpPr/>
          <p:nvPr/>
        </p:nvSpPr>
        <p:spPr>
          <a:xfrm>
            <a:off x="4966281" y="2860646"/>
            <a:ext cx="743124" cy="38673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210F9E-D623-4EA5-B84E-18C082A10C7D}"/>
              </a:ext>
            </a:extLst>
          </p:cNvPr>
          <p:cNvSpPr/>
          <p:nvPr/>
        </p:nvSpPr>
        <p:spPr>
          <a:xfrm>
            <a:off x="5771274" y="2860646"/>
            <a:ext cx="743124" cy="3867325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07F5DB-9ADA-41B8-A601-58D6C16478CC}"/>
              </a:ext>
            </a:extLst>
          </p:cNvPr>
          <p:cNvSpPr/>
          <p:nvPr/>
        </p:nvSpPr>
        <p:spPr>
          <a:xfrm>
            <a:off x="6576267" y="2860645"/>
            <a:ext cx="761076" cy="3867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034FCD-FCF8-4CC2-99B7-DAAB56404F2C}"/>
              </a:ext>
            </a:extLst>
          </p:cNvPr>
          <p:cNvCxnSpPr/>
          <p:nvPr/>
        </p:nvCxnSpPr>
        <p:spPr>
          <a:xfrm flipV="1">
            <a:off x="1918586" y="2820785"/>
            <a:ext cx="0" cy="13549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3B3C83C-F51B-45DC-8EF5-CABA5B5E6A96}"/>
              </a:ext>
            </a:extLst>
          </p:cNvPr>
          <p:cNvSpPr/>
          <p:nvPr/>
        </p:nvSpPr>
        <p:spPr>
          <a:xfrm>
            <a:off x="1170443" y="4175761"/>
            <a:ext cx="1496286" cy="1243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of graph</a:t>
            </a:r>
          </a:p>
        </p:txBody>
      </p:sp>
    </p:spTree>
    <p:extLst>
      <p:ext uri="{BB962C8B-B14F-4D97-AF65-F5344CB8AC3E}">
        <p14:creationId xmlns:p14="http://schemas.microsoft.com/office/powerpoint/2010/main" val="90987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4571-7849-4A1C-8C26-6F836A4CFDF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Adding a grouping variable continued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D370DB0-E0FB-431F-9D7D-7BF4DBC7A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244557"/>
              </p:ext>
            </p:extLst>
          </p:nvPr>
        </p:nvGraphicFramePr>
        <p:xfrm>
          <a:off x="838200" y="1825625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296597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931294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687517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6006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Aesthetic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What it Affects?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Common </a:t>
                      </a:r>
                      <a:r>
                        <a:rPr lang="en-US" sz="2400" dirty="0" err="1"/>
                        <a:t>Geoms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Implicit Grouping?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13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Polygons will be different colors or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Bars, boxes, violins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Yes- bars and boxes will be different colors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456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Lines will be different colors or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Lines, borders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Yes, lines will be different colors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565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group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 knows that is the grouping variable, but does not differentiate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 knows these are groups but won’t split them unless you do so elsewhere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745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661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F7B5-9DD3-4842-9B12-0B4B3E807E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Transposing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28CBE-D9BB-4390-95A7-ED630F84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be wide or long</a:t>
            </a:r>
          </a:p>
          <a:p>
            <a:r>
              <a:rPr lang="en-US" dirty="0"/>
              <a:t>R is looking for a grouping variable that specifies the category</a:t>
            </a:r>
          </a:p>
          <a:p>
            <a:r>
              <a:rPr lang="en-US" dirty="0"/>
              <a:t>We will go wide to long today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2B73D-4B48-4362-BAE8-C39D43D1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89" y="3360716"/>
            <a:ext cx="3283119" cy="3200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45251-86BE-4D93-86F0-A1DD9BC67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86" y="3360716"/>
            <a:ext cx="2711589" cy="324501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F55027C-AFE1-4A5D-8DB8-D76CACCC505E}"/>
              </a:ext>
            </a:extLst>
          </p:cNvPr>
          <p:cNvSpPr/>
          <p:nvPr/>
        </p:nvSpPr>
        <p:spPr>
          <a:xfrm>
            <a:off x="4532852" y="3925793"/>
            <a:ext cx="1912690" cy="1577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A6860-19EA-445F-B8D7-42EB22BFDB4C}"/>
              </a:ext>
            </a:extLst>
          </p:cNvPr>
          <p:cNvSpPr/>
          <p:nvPr/>
        </p:nvSpPr>
        <p:spPr>
          <a:xfrm>
            <a:off x="9873842" y="3691156"/>
            <a:ext cx="2030136" cy="28701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Note: year is repeated and the columns become a categorical variable in the long data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BFB77-037E-477C-A755-8B4D43878F74}"/>
              </a:ext>
            </a:extLst>
          </p:cNvPr>
          <p:cNvSpPr/>
          <p:nvPr/>
        </p:nvSpPr>
        <p:spPr>
          <a:xfrm>
            <a:off x="7063530" y="2976399"/>
            <a:ext cx="494951" cy="293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D480F-4CA5-4B96-BF11-2FD40A4E0081}"/>
              </a:ext>
            </a:extLst>
          </p:cNvPr>
          <p:cNvSpPr/>
          <p:nvPr/>
        </p:nvSpPr>
        <p:spPr>
          <a:xfrm>
            <a:off x="7689209" y="3012107"/>
            <a:ext cx="829113" cy="19714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2D3A78-7107-446F-8F69-7DC7475DC190}"/>
              </a:ext>
            </a:extLst>
          </p:cNvPr>
          <p:cNvSpPr/>
          <p:nvPr/>
        </p:nvSpPr>
        <p:spPr>
          <a:xfrm>
            <a:off x="8649048" y="2936353"/>
            <a:ext cx="494951" cy="2938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5C283-C1E0-486C-A99B-60AD6D44E55E}"/>
              </a:ext>
            </a:extLst>
          </p:cNvPr>
          <p:cNvSpPr/>
          <p:nvPr/>
        </p:nvSpPr>
        <p:spPr>
          <a:xfrm>
            <a:off x="6946085" y="2860646"/>
            <a:ext cx="743124" cy="38673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DA4B7E-E459-426A-ABC4-FAB95535EADE}"/>
              </a:ext>
            </a:extLst>
          </p:cNvPr>
          <p:cNvSpPr/>
          <p:nvPr/>
        </p:nvSpPr>
        <p:spPr>
          <a:xfrm>
            <a:off x="7751078" y="2860646"/>
            <a:ext cx="743124" cy="3867325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C0D8AD-73C0-4A26-853B-BBE260EC0DE1}"/>
              </a:ext>
            </a:extLst>
          </p:cNvPr>
          <p:cNvSpPr/>
          <p:nvPr/>
        </p:nvSpPr>
        <p:spPr>
          <a:xfrm>
            <a:off x="8556071" y="2860645"/>
            <a:ext cx="761076" cy="3867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5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6252-DB1D-4ABF-A939-01945364CF7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Code to transpose wide to long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6C06-159F-44C7-B139-8AAE574DC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life_ex_long</a:t>
            </a:r>
            <a:r>
              <a:rPr lang="en-US" sz="2400" dirty="0"/>
              <a:t>&lt;-life_ex2 %&gt;%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#the pipe says do this next  </a:t>
            </a:r>
          </a:p>
          <a:p>
            <a:pPr marL="0" indent="0">
              <a:buNone/>
            </a:pPr>
            <a:r>
              <a:rPr lang="en-US" sz="2400" dirty="0" err="1"/>
              <a:t>pivot_longer</a:t>
            </a:r>
            <a:r>
              <a:rPr lang="en-US" sz="2400" dirty="0"/>
              <a:t>(                      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#pivot longer is the transpose function </a:t>
            </a:r>
          </a:p>
          <a:p>
            <a:pPr marL="0" indent="0">
              <a:buNone/>
            </a:pPr>
            <a:r>
              <a:rPr lang="en-US" sz="2400" dirty="0"/>
              <a:t>cols = c(</a:t>
            </a:r>
            <a:r>
              <a:rPr lang="en-US" sz="2400" dirty="0" err="1"/>
              <a:t>high_inc_avg</a:t>
            </a:r>
            <a:r>
              <a:rPr lang="en-US" sz="2400" dirty="0"/>
              <a:t>, </a:t>
            </a:r>
            <a:r>
              <a:rPr lang="en-US" sz="2400" dirty="0" err="1"/>
              <a:t>United_States</a:t>
            </a:r>
            <a:r>
              <a:rPr lang="en-US" sz="2400" dirty="0"/>
              <a:t>),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The columns you want to collapse    </a:t>
            </a:r>
          </a:p>
          <a:p>
            <a:pPr marL="0" indent="0">
              <a:buNone/>
            </a:pPr>
            <a:r>
              <a:rPr lang="en-US" sz="2400" dirty="0" err="1"/>
              <a:t>names_to</a:t>
            </a:r>
            <a:r>
              <a:rPr lang="en-US" sz="2400" dirty="0"/>
              <a:t> = "Country",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The name of the new column for old headers    </a:t>
            </a:r>
          </a:p>
          <a:p>
            <a:pPr marL="0" indent="0">
              <a:buNone/>
            </a:pPr>
            <a:r>
              <a:rPr lang="en-US" sz="2400" dirty="0" err="1"/>
              <a:t>values_to</a:t>
            </a:r>
            <a:r>
              <a:rPr lang="en-US" sz="2400" dirty="0"/>
              <a:t> = "</a:t>
            </a:r>
            <a:r>
              <a:rPr lang="en-US" sz="2400" dirty="0" err="1"/>
              <a:t>Life_ex</a:t>
            </a:r>
            <a:r>
              <a:rPr lang="en-US" sz="2400" dirty="0"/>
              <a:t>")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The name of the new column for cell values</a:t>
            </a:r>
          </a:p>
        </p:txBody>
      </p:sp>
    </p:spTree>
    <p:extLst>
      <p:ext uri="{BB962C8B-B14F-4D97-AF65-F5344CB8AC3E}">
        <p14:creationId xmlns:p14="http://schemas.microsoft.com/office/powerpoint/2010/main" val="580538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E1FB-B9EE-463A-9688-BC595375F1A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The iterative process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2C88AC-625A-4E3E-970E-2593D5FDE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236020" cy="50675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348336-11E0-43A4-8B9A-0BB84445B364}"/>
              </a:ext>
            </a:extLst>
          </p:cNvPr>
          <p:cNvSpPr/>
          <p:nvPr/>
        </p:nvSpPr>
        <p:spPr>
          <a:xfrm>
            <a:off x="7648575" y="1866900"/>
            <a:ext cx="3705225" cy="4514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 do this by creating an object and iteratively adding things to it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This makes it easier for me to figure out when/ where/ why it brakes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You can do all this in one step</a:t>
            </a:r>
          </a:p>
        </p:txBody>
      </p:sp>
    </p:spTree>
    <p:extLst>
      <p:ext uri="{BB962C8B-B14F-4D97-AF65-F5344CB8AC3E}">
        <p14:creationId xmlns:p14="http://schemas.microsoft.com/office/powerpoint/2010/main" val="783539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2B7C-972B-4947-9EEE-E27DE023B60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Postscript: exporting the figure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27B1-65BF-407D-B430-BD561F9C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35150"/>
            <a:ext cx="4714702" cy="4351338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I will show this live, it’s a point and click menu</a:t>
            </a:r>
          </a:p>
          <a:p>
            <a:r>
              <a:rPr lang="en-US" dirty="0"/>
              <a:t>You can also use </a:t>
            </a:r>
            <a:r>
              <a:rPr lang="en-US" dirty="0" err="1"/>
              <a:t>ggsave</a:t>
            </a:r>
            <a:r>
              <a:rPr lang="en-US" dirty="0"/>
              <a:t>, which I will show in code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89BB8-B80B-48D5-81DA-7262C772E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844" y="1923995"/>
            <a:ext cx="5642956" cy="484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71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32DC-529C-4392-A930-B6CD7111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38375" cy="5845175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Plot export window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7F73C-B49E-4D1D-9994-99186394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814" y="365125"/>
            <a:ext cx="8336017" cy="58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53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6B22-0B97-49BD-821E-E981EB65132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More resources: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69133-7412-4787-92E5-86945BC0E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https://github.com/rstudio/cheatsheets/blob/main/data-visualization.pdf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https://ggplot2.tidyverse.org/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https://github.com/erikgahner/awesome-ggplot2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124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E496-9B09-4F43-AF04-20D4996EE52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EMAIL ME YOUR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C65A0-000A-4641-80E3-703A03878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991100" cy="4621537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samswift@salud.unm.edu</a:t>
            </a:r>
            <a:endParaRPr lang="en-US" dirty="0"/>
          </a:p>
          <a:p>
            <a:endParaRPr lang="en-US" dirty="0"/>
          </a:p>
          <a:p>
            <a:r>
              <a:rPr lang="en-US" dirty="0"/>
              <a:t>Next week: Markdown and a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D2BEB-CF84-43B6-98EA-6A264E0EA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247" y="1968404"/>
            <a:ext cx="4870553" cy="447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5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1001</Words>
  <Application>Microsoft Office PowerPoint</Application>
  <PresentationFormat>Widescreen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Workshop #4</vt:lpstr>
      <vt:lpstr>Presentation Contents</vt:lpstr>
      <vt:lpstr>Review: What have we learned?? </vt:lpstr>
      <vt:lpstr>Review: some specific things we learned</vt:lpstr>
      <vt:lpstr>Types of joins in statistical software</vt:lpstr>
      <vt:lpstr>Question time </vt:lpstr>
      <vt:lpstr>Data Visualization with ggplot2 in R studio</vt:lpstr>
      <vt:lpstr>Some basic ingredients </vt:lpstr>
      <vt:lpstr>Syntax breakdown: things in ggplot()</vt:lpstr>
      <vt:lpstr>The graph that code on last slide makes </vt:lpstr>
      <vt:lpstr>The stuff inside the geom()</vt:lpstr>
      <vt:lpstr>ggplot with a grouping variable</vt:lpstr>
      <vt:lpstr>What a graph might look like </vt:lpstr>
      <vt:lpstr>Adding a grouping variable </vt:lpstr>
      <vt:lpstr>Adding a grouping variable continued</vt:lpstr>
      <vt:lpstr>Transposing data</vt:lpstr>
      <vt:lpstr>Code to transpose wide to long</vt:lpstr>
      <vt:lpstr>The iterative process</vt:lpstr>
      <vt:lpstr>Postscript: exporting the figure </vt:lpstr>
      <vt:lpstr>Plot export window </vt:lpstr>
      <vt:lpstr>More resources: </vt:lpstr>
      <vt:lpstr>EMAIL ME YOUR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Data Week 5</dc:title>
  <dc:creator>Samuel L Swift</dc:creator>
  <cp:lastModifiedBy>Samuel L Swift</cp:lastModifiedBy>
  <cp:revision>85</cp:revision>
  <dcterms:created xsi:type="dcterms:W3CDTF">2025-06-26T15:27:26Z</dcterms:created>
  <dcterms:modified xsi:type="dcterms:W3CDTF">2026-09-08T03:46:26Z</dcterms:modified>
</cp:coreProperties>
</file>