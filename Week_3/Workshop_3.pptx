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9" r:id="rId4"/>
    <p:sldId id="320" r:id="rId5"/>
    <p:sldId id="324" r:id="rId6"/>
    <p:sldId id="305" r:id="rId7"/>
    <p:sldId id="306" r:id="rId8"/>
    <p:sldId id="312" r:id="rId9"/>
    <p:sldId id="304" r:id="rId10"/>
    <p:sldId id="258" r:id="rId11"/>
    <p:sldId id="261" r:id="rId12"/>
    <p:sldId id="259" r:id="rId13"/>
    <p:sldId id="260" r:id="rId14"/>
    <p:sldId id="308" r:id="rId15"/>
    <p:sldId id="311" r:id="rId16"/>
    <p:sldId id="321" r:id="rId17"/>
    <p:sldId id="322" r:id="rId18"/>
    <p:sldId id="323" r:id="rId19"/>
    <p:sldId id="3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674B2C-D474-4DFB-B563-CCE49623B7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98E191-28BC-434F-A1F0-59983D533E53}">
      <dgm:prSet/>
      <dgm:spPr/>
      <dgm:t>
        <a:bodyPr/>
        <a:lstStyle/>
        <a:p>
          <a:r>
            <a:rPr lang="en-US"/>
            <a:t>2 (or more!) datasets</a:t>
          </a:r>
        </a:p>
      </dgm:t>
    </dgm:pt>
    <dgm:pt modelId="{30929EC4-EA79-425A-B55B-F9DFA419CB21}" type="parTrans" cxnId="{307F2288-1278-4AA3-86DB-BB99A4B41C70}">
      <dgm:prSet/>
      <dgm:spPr/>
      <dgm:t>
        <a:bodyPr/>
        <a:lstStyle/>
        <a:p>
          <a:endParaRPr lang="en-US"/>
        </a:p>
      </dgm:t>
    </dgm:pt>
    <dgm:pt modelId="{D105020D-D3E0-4695-8FAA-42D6040BE590}" type="sibTrans" cxnId="{307F2288-1278-4AA3-86DB-BB99A4B41C70}">
      <dgm:prSet/>
      <dgm:spPr/>
      <dgm:t>
        <a:bodyPr/>
        <a:lstStyle/>
        <a:p>
          <a:endParaRPr lang="en-US"/>
        </a:p>
      </dgm:t>
    </dgm:pt>
    <dgm:pt modelId="{6D41B18A-6F87-4361-A3C2-6C1E59E5D8CE}">
      <dgm:prSet/>
      <dgm:spPr/>
      <dgm:t>
        <a:bodyPr/>
        <a:lstStyle/>
        <a:p>
          <a:r>
            <a:rPr lang="en-US"/>
            <a:t>Unique identifier to merge datasets</a:t>
          </a:r>
        </a:p>
      </dgm:t>
    </dgm:pt>
    <dgm:pt modelId="{BB7F1D9B-A131-4146-8EE3-E803BAEB0FA9}" type="parTrans" cxnId="{08E28B37-0AB0-47FE-BDEC-89D1D967C5B7}">
      <dgm:prSet/>
      <dgm:spPr/>
      <dgm:t>
        <a:bodyPr/>
        <a:lstStyle/>
        <a:p>
          <a:endParaRPr lang="en-US"/>
        </a:p>
      </dgm:t>
    </dgm:pt>
    <dgm:pt modelId="{C4860AC5-FC41-4E12-9CB6-DCE16D088384}" type="sibTrans" cxnId="{08E28B37-0AB0-47FE-BDEC-89D1D967C5B7}">
      <dgm:prSet/>
      <dgm:spPr/>
      <dgm:t>
        <a:bodyPr/>
        <a:lstStyle/>
        <a:p>
          <a:endParaRPr lang="en-US"/>
        </a:p>
      </dgm:t>
    </dgm:pt>
    <dgm:pt modelId="{EEDD216E-30B6-4AEC-A438-E0E7C8B493F6}">
      <dgm:prSet/>
      <dgm:spPr/>
      <dgm:t>
        <a:bodyPr/>
        <a:lstStyle/>
        <a:p>
          <a:r>
            <a:rPr lang="en-US"/>
            <a:t>Unique identifiers must be formatted the same! </a:t>
          </a:r>
        </a:p>
      </dgm:t>
    </dgm:pt>
    <dgm:pt modelId="{6AA715C8-05DC-457E-A947-67CB818A1FE0}" type="parTrans" cxnId="{240FC8AD-904B-4146-9367-9A62DE356989}">
      <dgm:prSet/>
      <dgm:spPr/>
      <dgm:t>
        <a:bodyPr/>
        <a:lstStyle/>
        <a:p>
          <a:endParaRPr lang="en-US"/>
        </a:p>
      </dgm:t>
    </dgm:pt>
    <dgm:pt modelId="{FEBA367A-9392-4CF2-8029-30DFAB377608}" type="sibTrans" cxnId="{240FC8AD-904B-4146-9367-9A62DE356989}">
      <dgm:prSet/>
      <dgm:spPr/>
      <dgm:t>
        <a:bodyPr/>
        <a:lstStyle/>
        <a:p>
          <a:endParaRPr lang="en-US"/>
        </a:p>
      </dgm:t>
    </dgm:pt>
    <dgm:pt modelId="{5933F381-F835-40A7-B3D8-C66E583FD470}" type="pres">
      <dgm:prSet presAssocID="{46674B2C-D474-4DFB-B563-CCE49623B723}" presName="linear" presStyleCnt="0">
        <dgm:presLayoutVars>
          <dgm:animLvl val="lvl"/>
          <dgm:resizeHandles val="exact"/>
        </dgm:presLayoutVars>
      </dgm:prSet>
      <dgm:spPr/>
    </dgm:pt>
    <dgm:pt modelId="{2C242959-9703-4E3F-BA5A-4060D37A5292}" type="pres">
      <dgm:prSet presAssocID="{E898E191-28BC-434F-A1F0-59983D533E5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A1A3F11-27F1-44AE-BAFC-D98C9CB62510}" type="pres">
      <dgm:prSet presAssocID="{D105020D-D3E0-4695-8FAA-42D6040BE590}" presName="spacer" presStyleCnt="0"/>
      <dgm:spPr/>
    </dgm:pt>
    <dgm:pt modelId="{2E198C21-83CD-4B85-8EC3-BDC01ADC7637}" type="pres">
      <dgm:prSet presAssocID="{6D41B18A-6F87-4361-A3C2-6C1E59E5D8C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AAC6EEF-CFBA-4471-B357-B54AA4F33EB5}" type="pres">
      <dgm:prSet presAssocID="{6D41B18A-6F87-4361-A3C2-6C1E59E5D8C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D5A8320-D0F2-44C7-BE46-EEBD9BAB11BF}" type="presOf" srcId="{E898E191-28BC-434F-A1F0-59983D533E53}" destId="{2C242959-9703-4E3F-BA5A-4060D37A5292}" srcOrd="0" destOrd="0" presId="urn:microsoft.com/office/officeart/2005/8/layout/vList2"/>
    <dgm:cxn modelId="{08E28B37-0AB0-47FE-BDEC-89D1D967C5B7}" srcId="{46674B2C-D474-4DFB-B563-CCE49623B723}" destId="{6D41B18A-6F87-4361-A3C2-6C1E59E5D8CE}" srcOrd="1" destOrd="0" parTransId="{BB7F1D9B-A131-4146-8EE3-E803BAEB0FA9}" sibTransId="{C4860AC5-FC41-4E12-9CB6-DCE16D088384}"/>
    <dgm:cxn modelId="{1EF09E3E-9134-4447-A4C2-903CF59C3D8A}" type="presOf" srcId="{6D41B18A-6F87-4361-A3C2-6C1E59E5D8CE}" destId="{2E198C21-83CD-4B85-8EC3-BDC01ADC7637}" srcOrd="0" destOrd="0" presId="urn:microsoft.com/office/officeart/2005/8/layout/vList2"/>
    <dgm:cxn modelId="{307F2288-1278-4AA3-86DB-BB99A4B41C70}" srcId="{46674B2C-D474-4DFB-B563-CCE49623B723}" destId="{E898E191-28BC-434F-A1F0-59983D533E53}" srcOrd="0" destOrd="0" parTransId="{30929EC4-EA79-425A-B55B-F9DFA419CB21}" sibTransId="{D105020D-D3E0-4695-8FAA-42D6040BE590}"/>
    <dgm:cxn modelId="{030E67A6-DB05-42D6-9344-B226C4B2FE7F}" type="presOf" srcId="{EEDD216E-30B6-4AEC-A438-E0E7C8B493F6}" destId="{6AAC6EEF-CFBA-4471-B357-B54AA4F33EB5}" srcOrd="0" destOrd="0" presId="urn:microsoft.com/office/officeart/2005/8/layout/vList2"/>
    <dgm:cxn modelId="{240FC8AD-904B-4146-9367-9A62DE356989}" srcId="{6D41B18A-6F87-4361-A3C2-6C1E59E5D8CE}" destId="{EEDD216E-30B6-4AEC-A438-E0E7C8B493F6}" srcOrd="0" destOrd="0" parTransId="{6AA715C8-05DC-457E-A947-67CB818A1FE0}" sibTransId="{FEBA367A-9392-4CF2-8029-30DFAB377608}"/>
    <dgm:cxn modelId="{400C92DD-B2A0-40DD-BC98-B84D460452CC}" type="presOf" srcId="{46674B2C-D474-4DFB-B563-CCE49623B723}" destId="{5933F381-F835-40A7-B3D8-C66E583FD470}" srcOrd="0" destOrd="0" presId="urn:microsoft.com/office/officeart/2005/8/layout/vList2"/>
    <dgm:cxn modelId="{F6AC8A83-9F6D-404E-952B-CA952DF9CDF2}" type="presParOf" srcId="{5933F381-F835-40A7-B3D8-C66E583FD470}" destId="{2C242959-9703-4E3F-BA5A-4060D37A5292}" srcOrd="0" destOrd="0" presId="urn:microsoft.com/office/officeart/2005/8/layout/vList2"/>
    <dgm:cxn modelId="{9F470106-66FE-4F8E-9152-9EE5A0AB5591}" type="presParOf" srcId="{5933F381-F835-40A7-B3D8-C66E583FD470}" destId="{FA1A3F11-27F1-44AE-BAFC-D98C9CB62510}" srcOrd="1" destOrd="0" presId="urn:microsoft.com/office/officeart/2005/8/layout/vList2"/>
    <dgm:cxn modelId="{C0FFBAD9-132D-4953-8789-2A49E66B50F4}" type="presParOf" srcId="{5933F381-F835-40A7-B3D8-C66E583FD470}" destId="{2E198C21-83CD-4B85-8EC3-BDC01ADC7637}" srcOrd="2" destOrd="0" presId="urn:microsoft.com/office/officeart/2005/8/layout/vList2"/>
    <dgm:cxn modelId="{A93479D3-9F36-49E7-B3BC-D114434B3439}" type="presParOf" srcId="{5933F381-F835-40A7-B3D8-C66E583FD470}" destId="{6AAC6EEF-CFBA-4471-B357-B54AA4F33EB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42959-9703-4E3F-BA5A-4060D37A5292}">
      <dsp:nvSpPr>
        <dsp:cNvPr id="0" name=""/>
        <dsp:cNvSpPr/>
      </dsp:nvSpPr>
      <dsp:spPr>
        <a:xfrm>
          <a:off x="0" y="146011"/>
          <a:ext cx="10515600" cy="1295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2 (or more!) datasets</a:t>
          </a:r>
        </a:p>
      </dsp:txBody>
      <dsp:txXfrm>
        <a:off x="63226" y="209237"/>
        <a:ext cx="10389148" cy="1168738"/>
      </dsp:txXfrm>
    </dsp:sp>
    <dsp:sp modelId="{2E198C21-83CD-4B85-8EC3-BDC01ADC7637}">
      <dsp:nvSpPr>
        <dsp:cNvPr id="0" name=""/>
        <dsp:cNvSpPr/>
      </dsp:nvSpPr>
      <dsp:spPr>
        <a:xfrm>
          <a:off x="0" y="1596721"/>
          <a:ext cx="10515600" cy="1295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Unique identifier to merge datasets</a:t>
          </a:r>
        </a:p>
      </dsp:txBody>
      <dsp:txXfrm>
        <a:off x="63226" y="1659947"/>
        <a:ext cx="10389148" cy="1168738"/>
      </dsp:txXfrm>
    </dsp:sp>
    <dsp:sp modelId="{6AAC6EEF-CFBA-4471-B357-B54AA4F33EB5}">
      <dsp:nvSpPr>
        <dsp:cNvPr id="0" name=""/>
        <dsp:cNvSpPr/>
      </dsp:nvSpPr>
      <dsp:spPr>
        <a:xfrm>
          <a:off x="0" y="2891911"/>
          <a:ext cx="10515600" cy="1313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68580" rIns="384048" bIns="68580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200" kern="1200"/>
            <a:t>Unique identifiers must be formatted the same! </a:t>
          </a:r>
        </a:p>
      </dsp:txBody>
      <dsp:txXfrm>
        <a:off x="0" y="2891911"/>
        <a:ext cx="10515600" cy="1313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09T15:48:34.4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FC27-E57E-41C8-96BA-C4372B226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D165E-E772-4A82-984E-EB4189792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88370-CDD4-441F-9D8B-A86B9DB9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35BDF-EE31-4B9A-A1CA-45C167C1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E2877-2A5D-4AC5-98BE-E341F8E7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3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E1ED-999F-4597-8D13-DF3760B1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F7CCC-E006-4D93-B2EE-A47E8EE5D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E40F6-8E94-4D3D-B58F-076EBAD8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9B39E-0DBF-4D3F-928A-1A49B336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EE46C-F83F-44D2-9516-DAD7E6F7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72F6-E7A2-4EA9-A654-35960803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A7264-1B9B-4059-9FF3-94BBB976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ED37E-E4C1-4C5E-8C45-D25CA21E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DBC6A-8FD0-4125-9F97-7D2B10B8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0A894-B456-4C58-950A-37789E9A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5CF8-2CEC-4577-833B-F2EC15C3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A423A-FFB2-4AEF-86AE-22A5BED68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A6D8C-19D6-417D-9436-07BE9A798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16701-DCE2-464B-ABC6-7AB1CFDF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52964-D826-4D95-8AFD-99DBB8B2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A04CC-2A66-4B14-B185-47F235BD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6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E1CD-A178-47CA-AEC7-E4A6CDEA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5ED1C-F72F-4E16-B90F-BBE691144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8E7F9-A12C-4CA8-98C9-C133EE6F9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78C97-778C-449A-9414-DD1F26C15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C2D0A-995A-4A74-A361-9F8BB8F95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C6092-6A79-4B7F-9BA8-D95A2D97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A955C1-F91C-4604-8BF3-40E0DCBB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E2C26-E9B7-4A53-9805-E817D5A8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1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13CC-6134-49AA-B961-9D1910D9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D8524-3520-4106-B7D5-39A11EF4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68499-D0EE-4A69-83E5-79C4731E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19D48-9A40-4ECB-BCEC-5D914716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8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BA9A0-9E45-44DA-879C-BC632D9C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4683B-8CA4-4135-8AA3-436B08AD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49E6F-8BCB-4770-BB52-24635A95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90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7D11C-E747-41AB-9E96-9F6274F64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DA46-17F4-4870-8911-318A91194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02A63-4B97-4674-9E42-36865548A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5B6C8-34A4-469F-B4B8-DBF175E5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E7438-65DB-4189-BCB3-9CF3953E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1944F-E034-4C69-8A91-ABC0BD51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0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55AD-DAFF-4453-955E-9D0DFB222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4B178-DE9F-49D7-A486-09ED4B146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42A33-0085-42FD-9346-C8EC04CC6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B082D-A149-4501-B0E3-6A73B43D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808F0-7018-423B-B760-909DDC42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5F7C2-F449-4370-B086-E70E9D0B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2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A9F2-7DC3-4F15-B237-957D0482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2E7E5-1D8B-4D8C-A726-E3CE12FFD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F949-1BEF-48A1-A8F2-7116E5AB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0014F-F751-433E-95A4-ABA01E30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EFD46-23FC-4674-A366-E2890E1E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7EAC3-5ECA-4C8E-90FE-B48B8A1CC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D6804-EDEA-4F8D-9775-7C9DDDA3A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0424F-BD39-46B8-8307-BF7FAAF5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FA018-2DE8-4556-BEB7-8637ABBF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E36D4-CA83-4D98-8198-9F995950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1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D8A353-A775-4CB4-A64A-787A8B68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5676-6A45-4D0F-A54B-6440BBEBB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BBFF9-9752-4216-94A6-BAB121D3C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0B1BF-33F6-46E7-BDA4-793543D80FE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48E6E-2273-491F-A160-D0D5D4E83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5AFEE-BBDC-4B87-ADC3-C7944575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38684-6292-4651-AAF8-8B908CAFF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7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3A7E-443B-441F-8239-88965D0D7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Workshop #3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588DB-8010-4D1C-9DD6-17D3B2428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/>
              <a:t>Review (LOTS), slowing it down, </a:t>
            </a:r>
            <a:r>
              <a:rPr lang="en-US" sz="4400" dirty="0" err="1"/>
              <a:t>subsetting</a:t>
            </a:r>
            <a:r>
              <a:rPr lang="en-US" sz="4400" dirty="0"/>
              <a:t> and Joins</a:t>
            </a:r>
          </a:p>
        </p:txBody>
      </p:sp>
    </p:spTree>
    <p:extLst>
      <p:ext uri="{BB962C8B-B14F-4D97-AF65-F5344CB8AC3E}">
        <p14:creationId xmlns:p14="http://schemas.microsoft.com/office/powerpoint/2010/main" val="222796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9DC4-EF46-41BF-80B9-824B9D2EF49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Presentation Contents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CF028-AD3B-4AAA-8BA4-62732F34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talk, I listen (10-15 mins)</a:t>
            </a:r>
          </a:p>
          <a:p>
            <a:r>
              <a:rPr lang="en-US" dirty="0"/>
              <a:t>Important syntax (reviewed)</a:t>
            </a:r>
          </a:p>
          <a:p>
            <a:r>
              <a:rPr lang="en-US" dirty="0"/>
              <a:t>Reading in data (reviewed in r)</a:t>
            </a:r>
          </a:p>
          <a:p>
            <a:r>
              <a:rPr lang="en-US" dirty="0"/>
              <a:t>Deduplicating and capitalizing (reviewed in r)</a:t>
            </a:r>
          </a:p>
          <a:p>
            <a:r>
              <a:rPr lang="en-US" dirty="0"/>
              <a:t>Joins (Matching)</a:t>
            </a:r>
          </a:p>
          <a:p>
            <a:pPr lvl="1"/>
            <a:r>
              <a:rPr lang="en-US" dirty="0"/>
              <a:t>R demo</a:t>
            </a:r>
          </a:p>
          <a:p>
            <a:r>
              <a:rPr lang="en-US" dirty="0" err="1"/>
              <a:t>Subsetting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R demo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7495F-839C-4F82-8592-477012DEB878}"/>
              </a:ext>
            </a:extLst>
          </p:cNvPr>
          <p:cNvSpPr/>
          <p:nvPr/>
        </p:nvSpPr>
        <p:spPr>
          <a:xfrm>
            <a:off x="7801760" y="1825625"/>
            <a:ext cx="3552039" cy="4491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Learning objectives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Students will: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Review reading data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Review a simple deduplication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Review a capitalization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Understand logic of sub setting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Understand logic of joins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CB5A07-06A6-4ABB-B522-6B723C6F87A6}"/>
              </a:ext>
            </a:extLst>
          </p:cNvPr>
          <p:cNvSpPr/>
          <p:nvPr/>
        </p:nvSpPr>
        <p:spPr>
          <a:xfrm>
            <a:off x="609600" y="5663381"/>
            <a:ext cx="6980903" cy="10028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 added bonus code at the bottom of the program for those that want more advanced stuff </a:t>
            </a:r>
          </a:p>
        </p:txBody>
      </p:sp>
    </p:spTree>
    <p:extLst>
      <p:ext uri="{BB962C8B-B14F-4D97-AF65-F5344CB8AC3E}">
        <p14:creationId xmlns:p14="http://schemas.microsoft.com/office/powerpoint/2010/main" val="211901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5E85-2748-403A-9B38-E258D6F23D8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Updated workshop schedule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EBEE-2F4D-4BCE-8726-C59F5A0A9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Session 3. (Sept 1</a:t>
            </a:r>
            <a:r>
              <a:rPr lang="en-US" baseline="30000" dirty="0"/>
              <a:t>st</a:t>
            </a:r>
            <a:r>
              <a:rPr lang="en-US" dirty="0"/>
              <a:t> 2026): REVIEW, joining datasets, and basic statistical analysis in R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Removed</a:t>
            </a:r>
            <a:r>
              <a:rPr lang="en-US" dirty="0"/>
              <a:t>: more advanced and different data cleaning functions, time math, deduping with distinct()</a:t>
            </a:r>
          </a:p>
          <a:p>
            <a:r>
              <a:rPr lang="en-US" dirty="0"/>
              <a:t>Session 4. (Sept 8</a:t>
            </a:r>
            <a:r>
              <a:rPr lang="en-US" baseline="30000" dirty="0"/>
              <a:t>th</a:t>
            </a:r>
            <a:r>
              <a:rPr lang="en-US" dirty="0"/>
              <a:t> 2026): Data visualization with ggplot2</a:t>
            </a:r>
          </a:p>
          <a:p>
            <a:r>
              <a:rPr lang="en-US" dirty="0"/>
              <a:t>Session 5. (Sept 1</a:t>
            </a:r>
            <a:r>
              <a:rPr lang="en-US" baseline="30000" dirty="0"/>
              <a:t>st</a:t>
            </a:r>
            <a:r>
              <a:rPr lang="en-US" dirty="0"/>
              <a:t> 2026):  Automating reports with R markdown, and  for loops (time permitting)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Removed</a:t>
            </a:r>
            <a:r>
              <a:rPr lang="en-US" dirty="0"/>
              <a:t>: Analysis using survey weights, R shiny, APIs, </a:t>
            </a:r>
            <a:r>
              <a:rPr lang="en-US" dirty="0" err="1"/>
              <a:t>Github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32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6014-AF9D-4906-86DF-303781CC690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You talk, I listen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234B-12FF-498F-8DC2-0C5EECFC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0831" cy="4351338"/>
          </a:xfrm>
        </p:spPr>
        <p:txBody>
          <a:bodyPr/>
          <a:lstStyle/>
          <a:p>
            <a:r>
              <a:rPr lang="en-US" dirty="0"/>
              <a:t>Lets specifically go over errors people are getting and where people are stuck </a:t>
            </a:r>
          </a:p>
          <a:p>
            <a:r>
              <a:rPr lang="en-US" dirty="0"/>
              <a:t>Available to talk about other things too but I only want to spend 10-15 mins here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DDA07-2FDA-4E64-98D9-4D3DF8F2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245" y="4638386"/>
            <a:ext cx="3938272" cy="2039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DE3F9E-F3DF-4201-ADDC-955DDDA36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876" y="1825625"/>
            <a:ext cx="2121009" cy="3321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F60570-5A68-429A-9C30-13E524458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78" y="4638386"/>
            <a:ext cx="5870193" cy="194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2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DA2B-366E-4826-93BC-A47C9180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7761544" cy="2852737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Error and troubleshooting listening time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76AAB-E252-4ABB-A205-1B2C59790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84" y="1307212"/>
            <a:ext cx="4457929" cy="36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509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4A0C-30B1-4013-8BAF-E99D4CB8092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Review: Important Syntax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A62B8-128D-4AE5-97DC-222540C7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arrow operator </a:t>
            </a:r>
            <a:r>
              <a:rPr lang="en-US" dirty="0">
                <a:highlight>
                  <a:srgbClr val="FFFF00"/>
                </a:highlight>
              </a:rPr>
              <a:t>&lt;-</a:t>
            </a:r>
            <a:r>
              <a:rPr lang="en-US" dirty="0"/>
              <a:t> creates objects </a:t>
            </a:r>
          </a:p>
          <a:p>
            <a:pPr lvl="1"/>
            <a:r>
              <a:rPr lang="en-US" dirty="0"/>
              <a:t>Like this: </a:t>
            </a:r>
            <a:r>
              <a:rPr lang="en-US" dirty="0" err="1"/>
              <a:t>newdata</a:t>
            </a:r>
            <a:r>
              <a:rPr lang="en-US" dirty="0">
                <a:highlight>
                  <a:srgbClr val="FFFF00"/>
                </a:highlight>
              </a:rPr>
              <a:t>&lt;-</a:t>
            </a:r>
            <a:r>
              <a:rPr lang="en-US" dirty="0" err="1"/>
              <a:t>olddata</a:t>
            </a:r>
            <a:r>
              <a:rPr lang="en-US" dirty="0"/>
              <a:t> </a:t>
            </a:r>
          </a:p>
          <a:p>
            <a:r>
              <a:rPr lang="en-US" dirty="0"/>
              <a:t>The dollar sign </a:t>
            </a:r>
            <a:r>
              <a:rPr lang="en-US" dirty="0">
                <a:highlight>
                  <a:srgbClr val="FFFF00"/>
                </a:highlight>
              </a:rPr>
              <a:t>$</a:t>
            </a:r>
            <a:r>
              <a:rPr lang="en-US" dirty="0"/>
              <a:t> refers to a variable within a data set</a:t>
            </a:r>
          </a:p>
          <a:p>
            <a:pPr lvl="1"/>
            <a:r>
              <a:rPr lang="en-US" dirty="0"/>
              <a:t>Like this: </a:t>
            </a:r>
            <a:r>
              <a:rPr lang="en-US" dirty="0" err="1"/>
              <a:t>dataset</a:t>
            </a:r>
            <a:r>
              <a:rPr lang="en-US" dirty="0" err="1">
                <a:highlight>
                  <a:srgbClr val="FFFF00"/>
                </a:highlight>
              </a:rPr>
              <a:t>$</a:t>
            </a:r>
            <a:r>
              <a:rPr lang="en-US" dirty="0" err="1"/>
              <a:t>variable</a:t>
            </a:r>
            <a:r>
              <a:rPr lang="en-US" dirty="0"/>
              <a:t> </a:t>
            </a:r>
          </a:p>
          <a:p>
            <a:r>
              <a:rPr lang="en-US" dirty="0"/>
              <a:t>Functions usually wrap other stuff in parenthesis ()</a:t>
            </a:r>
          </a:p>
          <a:p>
            <a:pPr lvl="1"/>
            <a:r>
              <a:rPr lang="en-US" dirty="0"/>
              <a:t>Like this: </a:t>
            </a:r>
            <a:r>
              <a:rPr lang="en-US" dirty="0">
                <a:highlight>
                  <a:srgbClr val="FFFF00"/>
                </a:highlight>
              </a:rPr>
              <a:t>function(</a:t>
            </a:r>
            <a:r>
              <a:rPr lang="en-US" dirty="0" err="1"/>
              <a:t>dataset$variable</a:t>
            </a:r>
            <a:r>
              <a:rPr lang="en-US" dirty="0">
                <a:highlight>
                  <a:srgbClr val="FFFF00"/>
                </a:highlight>
              </a:rPr>
              <a:t>)</a:t>
            </a:r>
          </a:p>
          <a:p>
            <a:pPr lvl="1"/>
            <a:r>
              <a:rPr lang="en-US" dirty="0"/>
              <a:t>Like this </a:t>
            </a:r>
            <a:r>
              <a:rPr lang="en-US" dirty="0">
                <a:highlight>
                  <a:srgbClr val="FFFF00"/>
                </a:highlight>
              </a:rPr>
              <a:t>sqrt(</a:t>
            </a:r>
            <a:r>
              <a:rPr lang="en-US" dirty="0"/>
              <a:t>4</a:t>
            </a:r>
            <a:r>
              <a:rPr lang="en-US" dirty="0">
                <a:highlight>
                  <a:srgbClr val="FFFF00"/>
                </a:highlight>
              </a:rPr>
              <a:t>) </a:t>
            </a:r>
          </a:p>
          <a:p>
            <a:r>
              <a:rPr lang="en-US" dirty="0" err="1"/>
              <a:t>Filepaths</a:t>
            </a:r>
            <a:r>
              <a:rPr lang="en-US" dirty="0"/>
              <a:t> tell R where our data are saved: </a:t>
            </a:r>
          </a:p>
          <a:p>
            <a:pPr lvl="1"/>
            <a:r>
              <a:rPr lang="en-US" dirty="0"/>
              <a:t>data&lt;-read.csv("</a:t>
            </a:r>
            <a:r>
              <a:rPr lang="en-US" dirty="0">
                <a:highlight>
                  <a:srgbClr val="FFFF00"/>
                </a:highlight>
              </a:rPr>
              <a:t>C:/YOUR_FOLDER/YOUR_SUB_FOLDER/</a:t>
            </a:r>
            <a:r>
              <a:rPr lang="en-US" dirty="0"/>
              <a:t>names_n_dx.csv")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0188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47B7D-96E4-4771-AD6F-8431066B4CD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Todays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47610-C933-4930-83B8-5F02A89CD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have two datasets</a:t>
            </a:r>
          </a:p>
          <a:p>
            <a:r>
              <a:rPr lang="en-US" dirty="0"/>
              <a:t>One is our week 2 data and one is new</a:t>
            </a:r>
          </a:p>
          <a:p>
            <a:r>
              <a:rPr lang="en-US" dirty="0"/>
              <a:t>Week 3 data has the favorite colors and holidays of the people in week 1</a:t>
            </a:r>
          </a:p>
          <a:p>
            <a:r>
              <a:rPr lang="en-US" dirty="0"/>
              <a:t>Our task today is to join them.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AA8AC-5636-40C7-85D8-CD4B80A5F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488140"/>
            <a:ext cx="2734241" cy="1744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8D5335-B506-4350-B4F4-28BBBE43A2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83"/>
          <a:stretch/>
        </p:blipFill>
        <p:spPr>
          <a:xfrm>
            <a:off x="4234106" y="4508198"/>
            <a:ext cx="3859455" cy="18117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ABA284-2DFC-4B71-AEB0-232313199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227" y="4508198"/>
            <a:ext cx="2431395" cy="178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2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4873-C34D-48A5-A30B-EFD031BF6BE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Variables in the datasets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E59B-13AA-4CEC-B221-BF470C77C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 1: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birthdate</a:t>
            </a:r>
          </a:p>
          <a:p>
            <a:pPr lvl="1"/>
            <a:r>
              <a:rPr lang="en-US" dirty="0"/>
              <a:t>Did they take medicine (yes/no)</a:t>
            </a:r>
          </a:p>
          <a:p>
            <a:r>
              <a:rPr lang="en-US" dirty="0"/>
              <a:t>Dataset 2: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birthdate</a:t>
            </a:r>
          </a:p>
          <a:p>
            <a:pPr lvl="1"/>
            <a:r>
              <a:rPr lang="en-US" dirty="0"/>
              <a:t>visit date</a:t>
            </a:r>
          </a:p>
          <a:p>
            <a:pPr lvl="1"/>
            <a:r>
              <a:rPr lang="en-US" dirty="0"/>
              <a:t>Diabetes (yes/no)</a:t>
            </a:r>
          </a:p>
          <a:p>
            <a:pPr lvl="1"/>
            <a:r>
              <a:rPr lang="en-US" dirty="0" err="1"/>
              <a:t>Egfr</a:t>
            </a:r>
            <a:endParaRPr lang="en-US" dirty="0"/>
          </a:p>
          <a:p>
            <a:pPr lvl="1"/>
            <a:r>
              <a:rPr lang="en-US" dirty="0"/>
              <a:t>Took_glp1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718A3B-F29A-4417-83DF-8CC44B5FD421}"/>
              </a:ext>
            </a:extLst>
          </p:cNvPr>
          <p:cNvSpPr/>
          <p:nvPr/>
        </p:nvSpPr>
        <p:spPr>
          <a:xfrm>
            <a:off x="4360333" y="5207000"/>
            <a:ext cx="7069667" cy="14393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THESE DATA ARE SIMULATED BY CHAT GPT- NOT REAL HIPPA!!!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E16E7-29D7-4446-BE58-B850001D6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443" y="1742106"/>
            <a:ext cx="4991357" cy="33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8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028B-5483-4F12-9E5C-3462BE12EE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Why should we match things across datasets?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19EC-0843-4987-A8C6-22EF29E0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task in data science not really doable in Excel</a:t>
            </a:r>
          </a:p>
          <a:p>
            <a:r>
              <a:rPr lang="en-US" dirty="0"/>
              <a:t>Lots of imaginable use cases:</a:t>
            </a:r>
          </a:p>
          <a:p>
            <a:r>
              <a:rPr lang="en-US" dirty="0"/>
              <a:t>Imagine we want to link clinical encounters with mortality data…</a:t>
            </a:r>
          </a:p>
          <a:p>
            <a:r>
              <a:rPr lang="en-US" dirty="0"/>
              <a:t>Imagine we want to link data on wildfire smoke from monitors to person level zip code…</a:t>
            </a:r>
          </a:p>
          <a:p>
            <a:r>
              <a:rPr lang="en-US" dirty="0"/>
              <a:t>Imagine we want to link multiple records from the same patients together… </a:t>
            </a:r>
          </a:p>
          <a:p>
            <a:pPr lvl="1"/>
            <a:r>
              <a:rPr lang="en-US" dirty="0"/>
              <a:t>THIS IS THE ONE FROM TODAY</a:t>
            </a:r>
          </a:p>
          <a:p>
            <a:r>
              <a:rPr lang="en-US" dirty="0">
                <a:highlight>
                  <a:srgbClr val="FFFF00"/>
                </a:highlight>
              </a:rPr>
              <a:t>Just to practice coding  </a:t>
            </a:r>
          </a:p>
        </p:txBody>
      </p:sp>
    </p:spTree>
    <p:extLst>
      <p:ext uri="{BB962C8B-B14F-4D97-AF65-F5344CB8AC3E}">
        <p14:creationId xmlns:p14="http://schemas.microsoft.com/office/powerpoint/2010/main" val="452444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7D35-8B2B-47F0-871E-F949FB13983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Merging two files together- the basics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36F568-AAF9-4ED2-AF2C-1B7B753C0301}"/>
              </a:ext>
            </a:extLst>
          </p:cNvPr>
          <p:cNvGraphicFramePr>
            <a:graphicFrameLocks noGrp="1"/>
          </p:cNvGraphicFramePr>
          <p:nvPr/>
        </p:nvGraphicFramePr>
        <p:xfrm>
          <a:off x="494759" y="1960364"/>
          <a:ext cx="2905389" cy="31265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805">
                  <a:extLst>
                    <a:ext uri="{9D8B030D-6E8A-4147-A177-3AD203B41FA5}">
                      <a16:colId xmlns:a16="http://schemas.microsoft.com/office/drawing/2014/main" val="3258538409"/>
                    </a:ext>
                  </a:extLst>
                </a:gridCol>
                <a:gridCol w="1637584">
                  <a:extLst>
                    <a:ext uri="{9D8B030D-6E8A-4147-A177-3AD203B41FA5}">
                      <a16:colId xmlns:a16="http://schemas.microsoft.com/office/drawing/2014/main" val="3670377549"/>
                    </a:ext>
                  </a:extLst>
                </a:gridCol>
              </a:tblGrid>
              <a:tr h="99783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Unique_ID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Hat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363451"/>
                  </a:ext>
                </a:extLst>
              </a:tr>
              <a:tr h="5321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Stetson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0822"/>
                  </a:ext>
                </a:extLst>
              </a:tr>
              <a:tr h="5321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Ballcap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11705"/>
                  </a:ext>
                </a:extLst>
              </a:tr>
              <a:tr h="5321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Top hat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37577581"/>
                  </a:ext>
                </a:extLst>
              </a:tr>
              <a:tr h="53217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Pirate hat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8178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ABB28B-FEDB-4251-B75A-94621FD8481F}"/>
              </a:ext>
            </a:extLst>
          </p:cNvPr>
          <p:cNvGraphicFramePr>
            <a:graphicFrameLocks noGrp="1"/>
          </p:cNvGraphicFramePr>
          <p:nvPr/>
        </p:nvGraphicFramePr>
        <p:xfrm>
          <a:off x="4492101" y="1976517"/>
          <a:ext cx="2654423" cy="3263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5860">
                  <a:extLst>
                    <a:ext uri="{9D8B030D-6E8A-4147-A177-3AD203B41FA5}">
                      <a16:colId xmlns:a16="http://schemas.microsoft.com/office/drawing/2014/main" val="1661473006"/>
                    </a:ext>
                  </a:extLst>
                </a:gridCol>
                <a:gridCol w="1258563">
                  <a:extLst>
                    <a:ext uri="{9D8B030D-6E8A-4147-A177-3AD203B41FA5}">
                      <a16:colId xmlns:a16="http://schemas.microsoft.com/office/drawing/2014/main" val="3640915385"/>
                    </a:ext>
                  </a:extLst>
                </a:gridCol>
              </a:tblGrid>
              <a:tr h="9886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Unique_ID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Accessory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393648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Hot dog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703085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Monocle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9591367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Parrot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217595"/>
                  </a:ext>
                </a:extLst>
              </a:tr>
              <a:tr h="5686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Horse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0008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C968CF-76AB-4269-BB56-86410D82C67A}"/>
              </a:ext>
            </a:extLst>
          </p:cNvPr>
          <p:cNvGraphicFramePr>
            <a:graphicFrameLocks noGrp="1"/>
          </p:cNvGraphicFramePr>
          <p:nvPr/>
        </p:nvGraphicFramePr>
        <p:xfrm>
          <a:off x="8084598" y="2020103"/>
          <a:ext cx="3740457" cy="32196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6819">
                  <a:extLst>
                    <a:ext uri="{9D8B030D-6E8A-4147-A177-3AD203B41FA5}">
                      <a16:colId xmlns:a16="http://schemas.microsoft.com/office/drawing/2014/main" val="2308448037"/>
                    </a:ext>
                  </a:extLst>
                </a:gridCol>
                <a:gridCol w="1246819">
                  <a:extLst>
                    <a:ext uri="{9D8B030D-6E8A-4147-A177-3AD203B41FA5}">
                      <a16:colId xmlns:a16="http://schemas.microsoft.com/office/drawing/2014/main" val="1170185669"/>
                    </a:ext>
                  </a:extLst>
                </a:gridCol>
                <a:gridCol w="1246819">
                  <a:extLst>
                    <a:ext uri="{9D8B030D-6E8A-4147-A177-3AD203B41FA5}">
                      <a16:colId xmlns:a16="http://schemas.microsoft.com/office/drawing/2014/main" val="1187684631"/>
                    </a:ext>
                  </a:extLst>
                </a:gridCol>
              </a:tblGrid>
              <a:tr h="105503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Unique_ID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Hat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Accessory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114191"/>
                  </a:ext>
                </a:extLst>
              </a:tr>
              <a:tr h="5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Stetson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Horse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83459"/>
                  </a:ext>
                </a:extLst>
              </a:tr>
              <a:tr h="5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Ballcap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Hot dog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103155"/>
                  </a:ext>
                </a:extLst>
              </a:tr>
              <a:tr h="5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Top hat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Monocle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24632344"/>
                  </a:ext>
                </a:extLst>
              </a:tr>
              <a:tr h="47655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Pirate hat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Parrot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36692"/>
                  </a:ext>
                </a:extLst>
              </a:tr>
            </a:tbl>
          </a:graphicData>
        </a:graphic>
      </p:graphicFrame>
      <p:sp>
        <p:nvSpPr>
          <p:cNvPr id="9" name="Plus Sign 8">
            <a:extLst>
              <a:ext uri="{FF2B5EF4-FFF2-40B4-BE49-F238E27FC236}">
                <a16:creationId xmlns:a16="http://schemas.microsoft.com/office/drawing/2014/main" id="{372BAE93-3F69-4185-A348-61604F662124}"/>
              </a:ext>
            </a:extLst>
          </p:cNvPr>
          <p:cNvSpPr/>
          <p:nvPr/>
        </p:nvSpPr>
        <p:spPr>
          <a:xfrm>
            <a:off x="3409026" y="3338004"/>
            <a:ext cx="985422" cy="87001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32BB6E1F-14C1-484C-A2FD-B7220E1C3954}"/>
              </a:ext>
            </a:extLst>
          </p:cNvPr>
          <p:cNvSpPr/>
          <p:nvPr/>
        </p:nvSpPr>
        <p:spPr>
          <a:xfrm>
            <a:off x="7208668" y="3311371"/>
            <a:ext cx="813786" cy="107197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73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DE7A-62CF-4B4B-862A-FEEFFE13ADC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Ingredients needed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67E5EE-82EE-4CC3-A226-0CEE8AF5C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368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E28873-AD29-4771-AA15-B43B95E48E0D}"/>
              </a:ext>
            </a:extLst>
          </p:cNvPr>
          <p:cNvSpPr/>
          <p:nvPr/>
        </p:nvSpPr>
        <p:spPr>
          <a:xfrm>
            <a:off x="8313092" y="4112315"/>
            <a:ext cx="3673861" cy="21099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AD61E-F893-4B63-8637-FA9462AC1F9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Types of joins in statistical software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EA9AD-C556-4A77-B57C-D7DD89A2F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817" y="1690688"/>
            <a:ext cx="7915275" cy="401955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C1B4513-36A3-487C-A836-578B9E8F7E73}"/>
                  </a:ext>
                </a:extLst>
              </p14:cNvPr>
              <p14:cNvContentPartPr/>
              <p14:nvPr/>
            </p14:nvContentPartPr>
            <p14:xfrm>
              <a:off x="10080549" y="65549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C1B4513-36A3-487C-A836-578B9E8F7E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17549" y="6491912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263B27CF-1971-4085-8D7F-BDEC47F119CF}"/>
              </a:ext>
            </a:extLst>
          </p:cNvPr>
          <p:cNvSpPr/>
          <p:nvPr/>
        </p:nvSpPr>
        <p:spPr>
          <a:xfrm>
            <a:off x="7662596" y="3107987"/>
            <a:ext cx="2654554" cy="642026"/>
          </a:xfrm>
          <a:prstGeom prst="wedgeRectCallout">
            <a:avLst>
              <a:gd name="adj1" fmla="val -85044"/>
              <a:gd name="adj2" fmla="val 652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Also called outer join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C33B51-3E8D-430D-8D33-B2BB55CDB765}"/>
              </a:ext>
            </a:extLst>
          </p:cNvPr>
          <p:cNvSpPr/>
          <p:nvPr/>
        </p:nvSpPr>
        <p:spPr>
          <a:xfrm>
            <a:off x="8684376" y="4459058"/>
            <a:ext cx="1396173" cy="140485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98DAC6-1E26-46CA-AC82-2FDF7C168404}"/>
              </a:ext>
            </a:extLst>
          </p:cNvPr>
          <p:cNvSpPr/>
          <p:nvPr/>
        </p:nvSpPr>
        <p:spPr>
          <a:xfrm>
            <a:off x="9575742" y="4459058"/>
            <a:ext cx="1396173" cy="14048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4991C-ADC6-48D5-99B4-ECD0F023C02F}"/>
              </a:ext>
            </a:extLst>
          </p:cNvPr>
          <p:cNvSpPr txBox="1"/>
          <p:nvPr/>
        </p:nvSpPr>
        <p:spPr>
          <a:xfrm>
            <a:off x="9342612" y="4108090"/>
            <a:ext cx="221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ANTI JOIN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771C6D-D743-49E7-AD33-EF1D897C40D5}"/>
              </a:ext>
            </a:extLst>
          </p:cNvPr>
          <p:cNvSpPr/>
          <p:nvPr/>
        </p:nvSpPr>
        <p:spPr>
          <a:xfrm>
            <a:off x="8684375" y="4459058"/>
            <a:ext cx="1396173" cy="14048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7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1B71-B609-450E-BA94-22A3CCBC8A7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D20A-45AC-46EE-8819-5E93D28B5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3234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dirty="0" err="1"/>
              <a:t>Joined_data</a:t>
            </a:r>
            <a:r>
              <a:rPr lang="en-US" sz="3600" dirty="0"/>
              <a:t> &lt;- </a:t>
            </a:r>
            <a:r>
              <a:rPr lang="en-US" sz="3600" dirty="0" err="1"/>
              <a:t>inner_join</a:t>
            </a:r>
            <a:r>
              <a:rPr lang="en-US" sz="3600" dirty="0"/>
              <a:t>(data1, data2, by=c("id" = "id"))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BB76376-E3BA-4DBD-A2EB-535F9A927CF3}"/>
              </a:ext>
            </a:extLst>
          </p:cNvPr>
          <p:cNvSpPr/>
          <p:nvPr/>
        </p:nvSpPr>
        <p:spPr>
          <a:xfrm>
            <a:off x="427839" y="3611462"/>
            <a:ext cx="2952225" cy="788565"/>
          </a:xfrm>
          <a:prstGeom prst="wedgeRectCallout">
            <a:avLst>
              <a:gd name="adj1" fmla="val -10042"/>
              <a:gd name="adj2" fmla="val -2087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Joined dataset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E5D17AD-7582-4070-BFA0-F224CE24C453}"/>
              </a:ext>
            </a:extLst>
          </p:cNvPr>
          <p:cNvSpPr/>
          <p:nvPr/>
        </p:nvSpPr>
        <p:spPr>
          <a:xfrm>
            <a:off x="2004969" y="5237340"/>
            <a:ext cx="2541865" cy="632349"/>
          </a:xfrm>
          <a:prstGeom prst="wedgeRectCallout">
            <a:avLst>
              <a:gd name="adj1" fmla="val 34034"/>
              <a:gd name="adj2" fmla="val -4767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Type of join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6BBA6DE2-28DB-4506-B59E-F7FCC59F2D1E}"/>
              </a:ext>
            </a:extLst>
          </p:cNvPr>
          <p:cNvSpPr/>
          <p:nvPr/>
        </p:nvSpPr>
        <p:spPr>
          <a:xfrm>
            <a:off x="4672668" y="3917659"/>
            <a:ext cx="2181837" cy="788566"/>
          </a:xfrm>
          <a:prstGeom prst="wedgeRectCallout">
            <a:avLst>
              <a:gd name="adj1" fmla="val 21970"/>
              <a:gd name="adj2" fmla="val -2360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Dataset #1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D4E00B6-7FDD-4C94-9113-CE337CADD753}"/>
              </a:ext>
            </a:extLst>
          </p:cNvPr>
          <p:cNvSpPr/>
          <p:nvPr/>
        </p:nvSpPr>
        <p:spPr>
          <a:xfrm>
            <a:off x="6930006" y="5696124"/>
            <a:ext cx="1987491" cy="696287"/>
          </a:xfrm>
          <a:prstGeom prst="wedgeRectCallout">
            <a:avLst>
              <a:gd name="adj1" fmla="val -32984"/>
              <a:gd name="adj2" fmla="val -5273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Dataset #2 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357AC428-E3A4-45D4-A4AF-8E5E5B351A53}"/>
              </a:ext>
            </a:extLst>
          </p:cNvPr>
          <p:cNvSpPr/>
          <p:nvPr/>
        </p:nvSpPr>
        <p:spPr>
          <a:xfrm>
            <a:off x="8565160" y="3782414"/>
            <a:ext cx="2788640" cy="1599429"/>
          </a:xfrm>
          <a:prstGeom prst="wedgeRectCallout">
            <a:avLst>
              <a:gd name="adj1" fmla="val -2195"/>
              <a:gd name="adj2" fmla="val -1387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Unique IDs- present in both datasets </a:t>
            </a:r>
          </a:p>
        </p:txBody>
      </p:sp>
    </p:spTree>
    <p:extLst>
      <p:ext uri="{BB962C8B-B14F-4D97-AF65-F5344CB8AC3E}">
        <p14:creationId xmlns:p14="http://schemas.microsoft.com/office/powerpoint/2010/main" val="350210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ED8BED-8694-4724-A3C4-1D337E60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96" y="1854200"/>
            <a:ext cx="5670462" cy="39769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37490-9525-45C5-B8BD-5FEAD1BB7B6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Our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DBB01-7441-481E-B5FC-810099E9E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096" y="1838616"/>
            <a:ext cx="5611008" cy="26483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FFF74B-D6B7-4EFA-9935-BFA9A9CEACF5}"/>
              </a:ext>
            </a:extLst>
          </p:cNvPr>
          <p:cNvSpPr/>
          <p:nvPr/>
        </p:nvSpPr>
        <p:spPr>
          <a:xfrm>
            <a:off x="5461000" y="5003800"/>
            <a:ext cx="5689600" cy="1489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Maybe we can match on name and birthdate?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98538C-61EA-4992-94BC-4271BD612D29}"/>
              </a:ext>
            </a:extLst>
          </p:cNvPr>
          <p:cNvSpPr/>
          <p:nvPr/>
        </p:nvSpPr>
        <p:spPr>
          <a:xfrm>
            <a:off x="838200" y="2434991"/>
            <a:ext cx="2421467" cy="1006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1F7944-6601-4AAF-95C4-9D50F64D394F}"/>
              </a:ext>
            </a:extLst>
          </p:cNvPr>
          <p:cNvSpPr/>
          <p:nvPr/>
        </p:nvSpPr>
        <p:spPr>
          <a:xfrm>
            <a:off x="6570133" y="1837968"/>
            <a:ext cx="2421467" cy="10061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BBE0-B1D9-48FE-8BD9-D2B21A66C2E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Merging the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A698-D8C7-4B9D-AE46-ED836428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both_inner_2&lt;-</a:t>
            </a:r>
            <a:r>
              <a:rPr lang="en-US" sz="1800" dirty="0" err="1"/>
              <a:t>inner_join</a:t>
            </a:r>
            <a:r>
              <a:rPr lang="en-US" sz="1800" dirty="0"/>
              <a:t>(data2,colors_holidays2, by = c("name" = "name", "birthdate" = "birthdate"))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F01BCE7-79A3-45D6-916D-D1A1FCB023B2}"/>
              </a:ext>
            </a:extLst>
          </p:cNvPr>
          <p:cNvSpPr/>
          <p:nvPr/>
        </p:nvSpPr>
        <p:spPr>
          <a:xfrm>
            <a:off x="1058333" y="3581400"/>
            <a:ext cx="922867" cy="829733"/>
          </a:xfrm>
          <a:prstGeom prst="wedgeRectCallout">
            <a:avLst>
              <a:gd name="adj1" fmla="val 13112"/>
              <a:gd name="adj2" fmla="val -214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dataset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CD911D07-06C5-4E50-9CB8-990A78A7D0D5}"/>
              </a:ext>
            </a:extLst>
          </p:cNvPr>
          <p:cNvSpPr/>
          <p:nvPr/>
        </p:nvSpPr>
        <p:spPr>
          <a:xfrm>
            <a:off x="2667000" y="3581400"/>
            <a:ext cx="922867" cy="829733"/>
          </a:xfrm>
          <a:prstGeom prst="wedgeRectCallout">
            <a:avLst>
              <a:gd name="adj1" fmla="val 13112"/>
              <a:gd name="adj2" fmla="val -214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 of join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BAF81693-0437-4C96-955E-D89DA1D0508C}"/>
              </a:ext>
            </a:extLst>
          </p:cNvPr>
          <p:cNvSpPr/>
          <p:nvPr/>
        </p:nvSpPr>
        <p:spPr>
          <a:xfrm>
            <a:off x="3725333" y="3581399"/>
            <a:ext cx="1011767" cy="829733"/>
          </a:xfrm>
          <a:prstGeom prst="wedgeRectCallout">
            <a:avLst>
              <a:gd name="adj1" fmla="val -37780"/>
              <a:gd name="adj2" fmla="val -221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 dataset #1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7B6C26C-1F88-4CF4-B8EF-3CA61FE54B91}"/>
              </a:ext>
            </a:extLst>
          </p:cNvPr>
          <p:cNvSpPr/>
          <p:nvPr/>
        </p:nvSpPr>
        <p:spPr>
          <a:xfrm>
            <a:off x="4828116" y="3564465"/>
            <a:ext cx="1011767" cy="829733"/>
          </a:xfrm>
          <a:prstGeom prst="wedgeRectCallout">
            <a:avLst>
              <a:gd name="adj1" fmla="val 13112"/>
              <a:gd name="adj2" fmla="val -214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 dataset #2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B76B9AE-77FF-4EFC-B182-61763AA00DCF}"/>
              </a:ext>
            </a:extLst>
          </p:cNvPr>
          <p:cNvSpPr/>
          <p:nvPr/>
        </p:nvSpPr>
        <p:spPr>
          <a:xfrm>
            <a:off x="7033682" y="3725332"/>
            <a:ext cx="3532718" cy="829733"/>
          </a:xfrm>
          <a:prstGeom prst="wedgeRectCallout">
            <a:avLst>
              <a:gd name="adj1" fmla="val -14928"/>
              <a:gd name="adj2" fmla="val -1742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Unique Identifiers (notice there are two)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8D7B0D6-0AAF-4096-A87C-2DEC1270F86D}"/>
              </a:ext>
            </a:extLst>
          </p:cNvPr>
          <p:cNvSpPr/>
          <p:nvPr/>
        </p:nvSpPr>
        <p:spPr>
          <a:xfrm rot="16200000">
            <a:off x="8081434" y="95778"/>
            <a:ext cx="389467" cy="4580466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2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E58B-3FC8-4FE8-8785-4D2AEEC83A3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err="1"/>
              <a:t>Subsetting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AAF71-7711-4CAB-88B4-888CCB2A2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idea- we are going to remove some rows or columns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164128C-EE9F-404A-B460-24E1C379E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145976"/>
              </p:ext>
            </p:extLst>
          </p:nvPr>
        </p:nvGraphicFramePr>
        <p:xfrm>
          <a:off x="1188621" y="2687320"/>
          <a:ext cx="4173492" cy="334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373">
                  <a:extLst>
                    <a:ext uri="{9D8B030D-6E8A-4147-A177-3AD203B41FA5}">
                      <a16:colId xmlns:a16="http://schemas.microsoft.com/office/drawing/2014/main" val="1173596020"/>
                    </a:ext>
                  </a:extLst>
                </a:gridCol>
                <a:gridCol w="1043373">
                  <a:extLst>
                    <a:ext uri="{9D8B030D-6E8A-4147-A177-3AD203B41FA5}">
                      <a16:colId xmlns:a16="http://schemas.microsoft.com/office/drawing/2014/main" val="1186994245"/>
                    </a:ext>
                  </a:extLst>
                </a:gridCol>
                <a:gridCol w="1043373">
                  <a:extLst>
                    <a:ext uri="{9D8B030D-6E8A-4147-A177-3AD203B41FA5}">
                      <a16:colId xmlns:a16="http://schemas.microsoft.com/office/drawing/2014/main" val="2849457649"/>
                    </a:ext>
                  </a:extLst>
                </a:gridCol>
                <a:gridCol w="1043373">
                  <a:extLst>
                    <a:ext uri="{9D8B030D-6E8A-4147-A177-3AD203B41FA5}">
                      <a16:colId xmlns:a16="http://schemas.microsoft.com/office/drawing/2014/main" val="2400323553"/>
                    </a:ext>
                  </a:extLst>
                </a:gridCol>
              </a:tblGrid>
              <a:tr h="8351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57839"/>
                  </a:ext>
                </a:extLst>
              </a:tr>
              <a:tr h="83515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560"/>
                  </a:ext>
                </a:extLst>
              </a:tr>
              <a:tr h="83515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492905"/>
                  </a:ext>
                </a:extLst>
              </a:tr>
              <a:tr h="8351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52668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260A5D-9355-4EF6-B953-E8F5C9646A8F}"/>
              </a:ext>
            </a:extLst>
          </p:cNvPr>
          <p:cNvCxnSpPr>
            <a:cxnSpLocks/>
          </p:cNvCxnSpPr>
          <p:nvPr/>
        </p:nvCxnSpPr>
        <p:spPr>
          <a:xfrm>
            <a:off x="5734975" y="3429000"/>
            <a:ext cx="2343705" cy="0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741A9C-EA6A-4617-9AAB-0E3701952F18}"/>
              </a:ext>
            </a:extLst>
          </p:cNvPr>
          <p:cNvCxnSpPr>
            <a:cxnSpLocks/>
          </p:cNvCxnSpPr>
          <p:nvPr/>
        </p:nvCxnSpPr>
        <p:spPr>
          <a:xfrm>
            <a:off x="5734975" y="5436833"/>
            <a:ext cx="2467992" cy="0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2EDED7DF-E80A-481D-BEA8-8D62053F1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410690"/>
              </p:ext>
            </p:extLst>
          </p:nvPr>
        </p:nvGraphicFramePr>
        <p:xfrm>
          <a:off x="8202967" y="2455272"/>
          <a:ext cx="2361462" cy="177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154">
                  <a:extLst>
                    <a:ext uri="{9D8B030D-6E8A-4147-A177-3AD203B41FA5}">
                      <a16:colId xmlns:a16="http://schemas.microsoft.com/office/drawing/2014/main" val="1173596020"/>
                    </a:ext>
                  </a:extLst>
                </a:gridCol>
                <a:gridCol w="787154">
                  <a:extLst>
                    <a:ext uri="{9D8B030D-6E8A-4147-A177-3AD203B41FA5}">
                      <a16:colId xmlns:a16="http://schemas.microsoft.com/office/drawing/2014/main" val="1186994245"/>
                    </a:ext>
                  </a:extLst>
                </a:gridCol>
                <a:gridCol w="787154">
                  <a:extLst>
                    <a:ext uri="{9D8B030D-6E8A-4147-A177-3AD203B41FA5}">
                      <a16:colId xmlns:a16="http://schemas.microsoft.com/office/drawing/2014/main" val="2849457649"/>
                    </a:ext>
                  </a:extLst>
                </a:gridCol>
              </a:tblGrid>
              <a:tr h="4448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57839"/>
                  </a:ext>
                </a:extLst>
              </a:tr>
              <a:tr h="44484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488560"/>
                  </a:ext>
                </a:extLst>
              </a:tr>
              <a:tr h="44484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492905"/>
                  </a:ext>
                </a:extLst>
              </a:tr>
              <a:tr h="4448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5266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3AD770-26B4-4F2B-903A-9A4726BE4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784508"/>
              </p:ext>
            </p:extLst>
          </p:nvPr>
        </p:nvGraphicFramePr>
        <p:xfrm>
          <a:off x="8405675" y="5166803"/>
          <a:ext cx="2912368" cy="140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092">
                  <a:extLst>
                    <a:ext uri="{9D8B030D-6E8A-4147-A177-3AD203B41FA5}">
                      <a16:colId xmlns:a16="http://schemas.microsoft.com/office/drawing/2014/main" val="4256921048"/>
                    </a:ext>
                  </a:extLst>
                </a:gridCol>
                <a:gridCol w="728092">
                  <a:extLst>
                    <a:ext uri="{9D8B030D-6E8A-4147-A177-3AD203B41FA5}">
                      <a16:colId xmlns:a16="http://schemas.microsoft.com/office/drawing/2014/main" val="360145577"/>
                    </a:ext>
                  </a:extLst>
                </a:gridCol>
                <a:gridCol w="728092">
                  <a:extLst>
                    <a:ext uri="{9D8B030D-6E8A-4147-A177-3AD203B41FA5}">
                      <a16:colId xmlns:a16="http://schemas.microsoft.com/office/drawing/2014/main" val="2951853152"/>
                    </a:ext>
                  </a:extLst>
                </a:gridCol>
                <a:gridCol w="728092">
                  <a:extLst>
                    <a:ext uri="{9D8B030D-6E8A-4147-A177-3AD203B41FA5}">
                      <a16:colId xmlns:a16="http://schemas.microsoft.com/office/drawing/2014/main" val="1284388390"/>
                    </a:ext>
                  </a:extLst>
                </a:gridCol>
              </a:tblGrid>
              <a:tr h="4678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793176"/>
                  </a:ext>
                </a:extLst>
              </a:tr>
              <a:tr h="4678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65229"/>
                  </a:ext>
                </a:extLst>
              </a:tr>
              <a:tr h="4678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832248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4A040B1A-6C4E-4EBC-894C-1EA3EBEAABDC}"/>
              </a:ext>
            </a:extLst>
          </p:cNvPr>
          <p:cNvSpPr/>
          <p:nvPr/>
        </p:nvSpPr>
        <p:spPr>
          <a:xfrm>
            <a:off x="5734975" y="2687320"/>
            <a:ext cx="2246050" cy="49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Removing columns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B521CE-3A0E-427A-AD1B-2D9E758D1F57}"/>
              </a:ext>
            </a:extLst>
          </p:cNvPr>
          <p:cNvSpPr/>
          <p:nvPr/>
        </p:nvSpPr>
        <p:spPr>
          <a:xfrm>
            <a:off x="5783802" y="4522652"/>
            <a:ext cx="2246050" cy="49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Removing rows</a:t>
            </a:r>
          </a:p>
        </p:txBody>
      </p:sp>
    </p:spTree>
    <p:extLst>
      <p:ext uri="{BB962C8B-B14F-4D97-AF65-F5344CB8AC3E}">
        <p14:creationId xmlns:p14="http://schemas.microsoft.com/office/powerpoint/2010/main" val="62446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9422-954E-4D3D-A48E-723DBAE6FA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Why would you subset?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14111-FDB0-4429-BB84-FE8CA3994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only variables that you want for an analytical dataset</a:t>
            </a:r>
          </a:p>
          <a:p>
            <a:r>
              <a:rPr lang="en-US" dirty="0"/>
              <a:t>Remove missing data</a:t>
            </a:r>
          </a:p>
          <a:p>
            <a:r>
              <a:rPr lang="en-US" dirty="0"/>
              <a:t>Keep data meeting a certain condition (favorite color = blue)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Create datasets to be stacked or joined later </a:t>
            </a:r>
          </a:p>
          <a:p>
            <a:r>
              <a:rPr lang="en-US" dirty="0"/>
              <a:t>I am sure many other reasons </a:t>
            </a:r>
          </a:p>
        </p:txBody>
      </p:sp>
    </p:spTree>
    <p:extLst>
      <p:ext uri="{BB962C8B-B14F-4D97-AF65-F5344CB8AC3E}">
        <p14:creationId xmlns:p14="http://schemas.microsoft.com/office/powerpoint/2010/main" val="394364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DB9C-E4D3-4BC2-9C23-1285FCADC96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Example: Earth day only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7678F-E3BE-44A4-815E-CDCCEC7CF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Note annoying double ==</a:t>
            </a:r>
          </a:p>
          <a:p>
            <a:r>
              <a:rPr lang="en-US" sz="2400" dirty="0"/>
              <a:t>Sometimes R uses single and sometimes double, its annoying</a:t>
            </a:r>
          </a:p>
          <a:p>
            <a:r>
              <a:rPr lang="en-US" sz="2400" dirty="0"/>
              <a:t>Usually double == when describing conditions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2B556-05CD-4A05-B5B9-DE65F7433FA2}"/>
              </a:ext>
            </a:extLst>
          </p:cNvPr>
          <p:cNvSpPr txBox="1"/>
          <p:nvPr/>
        </p:nvSpPr>
        <p:spPr>
          <a:xfrm>
            <a:off x="916619" y="1882936"/>
            <a:ext cx="9283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earth_day</a:t>
            </a:r>
            <a:r>
              <a:rPr lang="en-US" sz="2400" dirty="0"/>
              <a:t>&lt;-subset(both_inner_2, </a:t>
            </a:r>
            <a:r>
              <a:rPr lang="en-US" sz="2400" dirty="0" err="1"/>
              <a:t>Favorite_holiday</a:t>
            </a:r>
            <a:r>
              <a:rPr lang="en-US" sz="2400" dirty="0"/>
              <a:t>=="earth day")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22E4279-136F-4F17-94CB-76DC4FC2D02F}"/>
              </a:ext>
            </a:extLst>
          </p:cNvPr>
          <p:cNvSpPr/>
          <p:nvPr/>
        </p:nvSpPr>
        <p:spPr>
          <a:xfrm>
            <a:off x="1058333" y="3581400"/>
            <a:ext cx="922867" cy="829733"/>
          </a:xfrm>
          <a:prstGeom prst="wedgeRectCallout">
            <a:avLst>
              <a:gd name="adj1" fmla="val 13112"/>
              <a:gd name="adj2" fmla="val -214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dataset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61D3FFE-2D49-4E15-88E8-2634754C7A04}"/>
              </a:ext>
            </a:extLst>
          </p:cNvPr>
          <p:cNvSpPr/>
          <p:nvPr/>
        </p:nvSpPr>
        <p:spPr>
          <a:xfrm>
            <a:off x="2272684" y="3581400"/>
            <a:ext cx="1317184" cy="829733"/>
          </a:xfrm>
          <a:prstGeom prst="wedgeRectCallout">
            <a:avLst>
              <a:gd name="adj1" fmla="val 13112"/>
              <a:gd name="adj2" fmla="val -214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Subset function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4709570-AD8F-4037-8974-95C53894BB8D}"/>
              </a:ext>
            </a:extLst>
          </p:cNvPr>
          <p:cNvSpPr/>
          <p:nvPr/>
        </p:nvSpPr>
        <p:spPr>
          <a:xfrm>
            <a:off x="3725333" y="3581399"/>
            <a:ext cx="1011767" cy="829733"/>
          </a:xfrm>
          <a:prstGeom prst="wedgeRectCallout">
            <a:avLst>
              <a:gd name="adj1" fmla="val -37780"/>
              <a:gd name="adj2" fmla="val -221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 dataset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3F1DB90C-F2E5-4FC0-B586-014FAAD891FB}"/>
              </a:ext>
            </a:extLst>
          </p:cNvPr>
          <p:cNvSpPr/>
          <p:nvPr/>
        </p:nvSpPr>
        <p:spPr>
          <a:xfrm>
            <a:off x="5688543" y="3470099"/>
            <a:ext cx="3532718" cy="829733"/>
          </a:xfrm>
          <a:prstGeom prst="wedgeRectCallout">
            <a:avLst>
              <a:gd name="adj1" fmla="val -6133"/>
              <a:gd name="adj2" fmla="val -1560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Condition 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B052F5AA-6228-4B36-AABC-C53DAE3E7354}"/>
              </a:ext>
            </a:extLst>
          </p:cNvPr>
          <p:cNvSpPr/>
          <p:nvPr/>
        </p:nvSpPr>
        <p:spPr>
          <a:xfrm rot="16200000">
            <a:off x="7010690" y="633795"/>
            <a:ext cx="389467" cy="384164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9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8761-7C5F-4EC8-9684-7CE7DA504C2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Questions?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02E3C-CCAE-4012-B7B4-7292826C2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Lets move to R</a:t>
            </a:r>
          </a:p>
        </p:txBody>
      </p:sp>
    </p:spTree>
    <p:extLst>
      <p:ext uri="{BB962C8B-B14F-4D97-AF65-F5344CB8AC3E}">
        <p14:creationId xmlns:p14="http://schemas.microsoft.com/office/powerpoint/2010/main" val="150948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791</Words>
  <Application>Microsoft Office PowerPoint</Application>
  <PresentationFormat>Widescreen</PresentationFormat>
  <Paragraphs>145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Workshop #3</vt:lpstr>
      <vt:lpstr>Presentation Contents  </vt:lpstr>
      <vt:lpstr>Updated workshop schedule </vt:lpstr>
      <vt:lpstr>You talk, I listen</vt:lpstr>
      <vt:lpstr>Error and troubleshooting listening time </vt:lpstr>
      <vt:lpstr>Review: Important Syntax </vt:lpstr>
      <vt:lpstr>Todays task</vt:lpstr>
      <vt:lpstr>Variables in the datasets </vt:lpstr>
      <vt:lpstr>Why should we match things across datasets?</vt:lpstr>
      <vt:lpstr>Merging two files together- the basics</vt:lpstr>
      <vt:lpstr>Ingredients needed</vt:lpstr>
      <vt:lpstr>Types of joins in statistical software</vt:lpstr>
      <vt:lpstr>The code</vt:lpstr>
      <vt:lpstr>Our data </vt:lpstr>
      <vt:lpstr>Merging the data </vt:lpstr>
      <vt:lpstr>Subsetting</vt:lpstr>
      <vt:lpstr>Why would you subset? </vt:lpstr>
      <vt:lpstr>Example: Earth day only </vt:lpstr>
      <vt:lpstr>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 Day 2</dc:title>
  <dc:creator>Samuel L Swift</dc:creator>
  <cp:lastModifiedBy>Samuel L Swift</cp:lastModifiedBy>
  <cp:revision>28</cp:revision>
  <dcterms:created xsi:type="dcterms:W3CDTF">2025-11-17T22:58:10Z</dcterms:created>
  <dcterms:modified xsi:type="dcterms:W3CDTF">2026-08-31T21:21:29Z</dcterms:modified>
</cp:coreProperties>
</file>