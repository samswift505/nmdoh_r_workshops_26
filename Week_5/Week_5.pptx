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76" r:id="rId4"/>
    <p:sldId id="265" r:id="rId5"/>
    <p:sldId id="267" r:id="rId6"/>
    <p:sldId id="272" r:id="rId7"/>
    <p:sldId id="271" r:id="rId8"/>
    <p:sldId id="268" r:id="rId9"/>
    <p:sldId id="269" r:id="rId10"/>
    <p:sldId id="270" r:id="rId11"/>
    <p:sldId id="273" r:id="rId12"/>
    <p:sldId id="274" r:id="rId13"/>
    <p:sldId id="263" r:id="rId14"/>
    <p:sldId id="260" r:id="rId15"/>
    <p:sldId id="275" r:id="rId16"/>
    <p:sldId id="261" r:id="rId17"/>
    <p:sldId id="257" r:id="rId18"/>
    <p:sldId id="258" r:id="rId19"/>
    <p:sldId id="277" r:id="rId20"/>
    <p:sldId id="278" r:id="rId21"/>
    <p:sldId id="279" r:id="rId22"/>
    <p:sldId id="281" r:id="rId23"/>
    <p:sldId id="264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893F-B2AD-4E85-8D2E-A19E34F0E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03169-3481-4397-9237-675109190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4B384-086D-45AB-8EEE-0FFF419D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B4ECA-AFBB-43D8-91C8-0DC0888B5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2BADD-BBBD-465B-8C9B-6D978C59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2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7ABA5-A401-4DC5-8AA8-D1486F05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8404E-9DED-4DD0-B857-D3D897290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077B8-F2D4-4411-B406-966585006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B6D42-46A2-4702-9919-D3FD50F0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9ACEF-046D-4711-8509-B6D0662F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8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1B48-7FE3-4349-8962-76C894EA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2CC15-1D25-4CCB-A8B7-D47EF9C01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117E2-8E64-4BCD-B1F1-CE7740DEA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CC153-B138-4713-9D1B-8DB04103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61860-A4B6-4786-8D13-76C3EB4E4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38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FF618-AF93-4BF6-92F4-F86E293D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3404F-DA9E-48FB-944B-0342687B1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6A50D-414E-40C5-9E0A-9AEE8B9A2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E7E47-39AE-4E14-9E64-3ADA1E454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49BDB-06C8-4DD7-95AB-0552D300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C0858-1D39-4AA2-B363-78418164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84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0407-0CBC-4E74-A745-EA41C0D73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88AA8-45A6-452B-A770-7EA35A729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A4D33-91B2-4DF0-911B-1028B1C61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5D9BB-7BEF-4C8E-BFD7-98B8296BF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6FE3A9-0CAD-4947-A04F-2C6C64C01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88901-CBE4-4E1A-82A4-F1B8F9B9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CF987-8119-46EB-82B5-1184AF286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FE9FC-D157-4BC0-B524-12C62403E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5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72E1-9B00-45E6-A408-1C26215B3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875D08-3595-4C7D-A782-64B8E812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6E5156-BA8E-4B1E-B6BE-9A6037149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BDB40-5A88-4937-A784-CBE57F93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14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EFC246-4B07-4E65-A172-72375C4C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74FFE-1F41-47C7-B972-FA0604F76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47206-4D6A-4594-A225-348ECBC48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4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DDA9-514C-4C3F-AE60-BDF019F8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AEE95-049E-459D-9A59-32FFE9289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3AF16-6C54-4EB4-8377-DF93D4FC1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7366D-F773-454F-BB64-B60B3779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574BA-9F69-4C0B-8D6D-57C49175E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32D3A-7574-41D7-BC7E-28E48856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1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7F44-F4A4-4699-80DD-5F187D764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A4E96-47B5-40BD-A9EB-8C41236B8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7A536-93DE-4429-BE66-01A43041A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EDDA2-8073-41B0-B610-18E4F23F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D0107-A82B-4FCA-A0F3-39DCED37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47CAE-ADFF-4B54-ADD1-04657183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21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B803-58BE-485C-A835-335D0F5F2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EE0BA-25F4-4764-A928-2A6F9C566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7385D-8640-487B-947E-2C8CED1A0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EE86B-1BD1-45F4-B7CB-81A5C995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34291-740A-4FB8-AF12-0027C7FE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6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7A1015-D1C7-44E7-9F9E-255C9BE97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7D219-7260-4214-9A3C-145411E35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CB770-E532-4C28-A03D-6F918EAE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59E4D-12C8-4440-A693-F90EACD57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976AE-590B-403A-A49F-3E3E4534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9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4104B6-D7FB-47B3-8ADC-9DC321AE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13EE8-F696-4DB4-8277-3057D6239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8DB69-849A-42AA-B654-1FE130439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4E9F2-BAF5-4C24-AA34-DA8EE5C24D12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D06CD-94B7-4E10-81C8-2B7945B36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13829-EB31-4DF4-BB4D-4C6564FF0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432E8-BA67-4C50-B200-010CCBCDA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4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geeksforgeeks.org/r-language/apply-lapply-sapply-and-tapply-in-r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data-fr.github.io/flextable-book/index.html" TargetMode="External"/><Relationship Id="rId2" Type="http://schemas.openxmlformats.org/officeDocument/2006/relationships/hyperlink" Target="https://quarto.org/docs/computations/r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mailto:samswift@salud.unm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E62A-3C19-45C7-A452-1593ADA7A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8800" dirty="0"/>
              <a:t>Workshop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4E0F-3319-4874-8FB8-02624351A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dirty="0"/>
              <a:t>Loops, Markdown and Quarto </a:t>
            </a:r>
          </a:p>
        </p:txBody>
      </p:sp>
    </p:spTree>
    <p:extLst>
      <p:ext uri="{BB962C8B-B14F-4D97-AF65-F5344CB8AC3E}">
        <p14:creationId xmlns:p14="http://schemas.microsoft.com/office/powerpoint/2010/main" val="1231358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361A2-DDF7-4362-B648-20BD726EFDF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Presentation 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53496-E4D5-4C79-BBE8-829BDAD47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Review time– I was asked to do a quick review of last week for Runnels </a:t>
            </a:r>
          </a:p>
          <a:p>
            <a:endParaRPr lang="en-US" dirty="0"/>
          </a:p>
          <a:p>
            <a:r>
              <a:rPr lang="en-US" dirty="0"/>
              <a:t>Loops- the very most basic concepts</a:t>
            </a:r>
          </a:p>
          <a:p>
            <a:r>
              <a:rPr lang="en-US" dirty="0"/>
              <a:t>Making a document with Quarto- the very most basic concepts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CDE351-D19A-4A1E-B585-29EBDC66D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338" y="2137307"/>
            <a:ext cx="5076518" cy="372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550AED-6BB5-4C62-A571-133C6B6EF87C}"/>
              </a:ext>
            </a:extLst>
          </p:cNvPr>
          <p:cNvSpPr/>
          <p:nvPr/>
        </p:nvSpPr>
        <p:spPr>
          <a:xfrm>
            <a:off x="6347534" y="6019060"/>
            <a:ext cx="5078027" cy="674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Blooms Taxonomy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C1FAF9-C7F0-47A7-A22B-ECDFB1BF8F3A}"/>
              </a:ext>
            </a:extLst>
          </p:cNvPr>
          <p:cNvSpPr/>
          <p:nvPr/>
        </p:nvSpPr>
        <p:spPr>
          <a:xfrm>
            <a:off x="6223247" y="4598633"/>
            <a:ext cx="5450889" cy="132556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2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11C0-07C2-4A30-81F8-2E86D31D20A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Review time?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E8899-5706-4C15-BC38-6D26B8756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21536" cy="4351338"/>
          </a:xfrm>
        </p:spPr>
        <p:txBody>
          <a:bodyPr/>
          <a:lstStyle/>
          <a:p>
            <a:r>
              <a:rPr lang="en-US" dirty="0"/>
              <a:t>I can jump back into the </a:t>
            </a:r>
            <a:r>
              <a:rPr lang="en-US" dirty="0" err="1"/>
              <a:t>ggplot</a:t>
            </a:r>
            <a:r>
              <a:rPr lang="en-US" dirty="0"/>
              <a:t> stuff from last week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A5938-A5F3-4D95-9B31-FBF669A118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2" t="22576" r="1745" b="9496"/>
          <a:stretch/>
        </p:blipFill>
        <p:spPr>
          <a:xfrm>
            <a:off x="2065537" y="2438183"/>
            <a:ext cx="8060925" cy="397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6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68A0-F890-4C39-9FE5-9BFF26AD254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Part 1: Loops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79B96-E167-440A-9690-7A8C2BD50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Specifically: for loops</a:t>
            </a:r>
          </a:p>
        </p:txBody>
      </p:sp>
    </p:spTree>
    <p:extLst>
      <p:ext uri="{BB962C8B-B14F-4D97-AF65-F5344CB8AC3E}">
        <p14:creationId xmlns:p14="http://schemas.microsoft.com/office/powerpoint/2010/main" val="695589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93701-3680-42E2-8769-BB61ED04CC0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Why do we need loops?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8A2A3-CB4C-40C3-B984-CAD9D08C4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93419" cy="4351338"/>
          </a:xfrm>
        </p:spPr>
        <p:txBody>
          <a:bodyPr/>
          <a:lstStyle/>
          <a:p>
            <a:r>
              <a:rPr lang="en-US" dirty="0"/>
              <a:t>Iterate over variables (columns)</a:t>
            </a:r>
          </a:p>
          <a:p>
            <a:r>
              <a:rPr lang="en-US" dirty="0"/>
              <a:t>Iterate over observations (rows)</a:t>
            </a:r>
          </a:p>
          <a:p>
            <a:r>
              <a:rPr lang="en-US" dirty="0"/>
              <a:t>Do a task many times –</a:t>
            </a:r>
          </a:p>
          <a:p>
            <a:pPr lvl="1"/>
            <a:r>
              <a:rPr lang="en-US" dirty="0"/>
              <a:t>Run a bunch of different regressions </a:t>
            </a:r>
          </a:p>
          <a:p>
            <a:pPr lvl="1"/>
            <a:r>
              <a:rPr lang="en-US" dirty="0"/>
              <a:t>Like bootstrapping if you are into this</a:t>
            </a:r>
          </a:p>
          <a:p>
            <a:r>
              <a:rPr lang="en-US" dirty="0"/>
              <a:t>Iterate over datasets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C885A-26BF-4A58-AAF8-FE26A69F3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728" y="1825625"/>
            <a:ext cx="4049072" cy="413623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8E9C6B6-B92C-4EF4-A60B-60C0AC9325A8}"/>
              </a:ext>
            </a:extLst>
          </p:cNvPr>
          <p:cNvSpPr/>
          <p:nvPr/>
        </p:nvSpPr>
        <p:spPr>
          <a:xfrm>
            <a:off x="1438182" y="4442904"/>
            <a:ext cx="5406501" cy="18689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Helpful picture of for loop</a:t>
            </a:r>
          </a:p>
          <a:p>
            <a:pPr algn="ctr"/>
            <a:r>
              <a:rPr lang="en-US" sz="2800" dirty="0"/>
              <a:t> (in my opinion) </a:t>
            </a:r>
          </a:p>
        </p:txBody>
      </p:sp>
    </p:spTree>
    <p:extLst>
      <p:ext uri="{BB962C8B-B14F-4D97-AF65-F5344CB8AC3E}">
        <p14:creationId xmlns:p14="http://schemas.microsoft.com/office/powerpoint/2010/main" val="400697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58D7B-BAEB-4524-8B3E-C73B2966670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The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9A5A-7C04-418D-9046-79839C168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for loop is used when we know the exact number of iterations required. It iterates over a sequence such as a vector, list or numeric range.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 dirty="0"/>
              <a:t>for (value in sequence)</a:t>
            </a:r>
          </a:p>
          <a:p>
            <a:pPr marL="0" indent="0" algn="ctr">
              <a:buNone/>
            </a:pPr>
            <a:r>
              <a:rPr lang="en-US" sz="4000" dirty="0"/>
              <a:t>{statement}</a:t>
            </a:r>
          </a:p>
        </p:txBody>
      </p:sp>
    </p:spTree>
    <p:extLst>
      <p:ext uri="{BB962C8B-B14F-4D97-AF65-F5344CB8AC3E}">
        <p14:creationId xmlns:p14="http://schemas.microsoft.com/office/powerpoint/2010/main" val="2447832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558A1-6A66-41BB-9EEC-1276526940E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Other types of loops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68DC8-6B4E-4567-BBD2-BD115ECFF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841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while loop </a:t>
            </a:r>
            <a:r>
              <a:rPr lang="en-US" dirty="0"/>
              <a:t>runs as long as a specified condition holds TRUE. It is useful when the number of iterations is unknown beforehand</a:t>
            </a:r>
          </a:p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repeat loop </a:t>
            </a:r>
            <a:r>
              <a:rPr lang="en-US" dirty="0"/>
              <a:t>executes indefinitely until explicitly stopped using the break statement. To terminate the repeat loop we use a jump statement that is the break keyword.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00128-28C9-4242-8935-C7173288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465" y="1749713"/>
            <a:ext cx="4691333" cy="22329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D8E325-306C-436B-9436-919F22914EDA}"/>
              </a:ext>
            </a:extLst>
          </p:cNvPr>
          <p:cNvSpPr txBox="1"/>
          <p:nvPr/>
        </p:nvSpPr>
        <p:spPr>
          <a:xfrm>
            <a:off x="838200" y="6308209"/>
            <a:ext cx="10241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https://www.geeksforgeeks.org/r-language/loops-in-r-for-while-repeat/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00067E-F294-48A9-A1A7-87CC672C5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465" y="3995086"/>
            <a:ext cx="4817053" cy="228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92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92F5-D1F9-471F-8F4D-05ABFBB9F6C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Basic for loop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620BA-BD8C-416B-AC6A-799B85B27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dirty="0"/>
              <a:t>for (i in 1:5)   </a:t>
            </a:r>
          </a:p>
          <a:p>
            <a:endParaRPr lang="nn-NO" dirty="0"/>
          </a:p>
          <a:p>
            <a:pPr marL="0" indent="0">
              <a:buNone/>
            </a:pPr>
            <a:r>
              <a:rPr lang="nn-NO" dirty="0"/>
              <a:t>{print(i)}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C32895-0BAE-466C-AF49-D8EC24A6C902}"/>
              </a:ext>
            </a:extLst>
          </p:cNvPr>
          <p:cNvCxnSpPr>
            <a:cxnSpLocks/>
          </p:cNvCxnSpPr>
          <p:nvPr/>
        </p:nvCxnSpPr>
        <p:spPr>
          <a:xfrm flipH="1" flipV="1">
            <a:off x="1331653" y="2335144"/>
            <a:ext cx="2175027" cy="128216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A03EA14-78E1-4C4E-BF17-FCDFAF5A047A}"/>
              </a:ext>
            </a:extLst>
          </p:cNvPr>
          <p:cNvSpPr/>
          <p:nvPr/>
        </p:nvSpPr>
        <p:spPr>
          <a:xfrm>
            <a:off x="3444536" y="3617306"/>
            <a:ext cx="2867487" cy="585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For- the type of loop we are using today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D1CAAD-A9FB-4A86-A5BB-8D414B7005F0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1606860" y="2200209"/>
            <a:ext cx="2103636" cy="85503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E5C3F03-9F22-4DED-A52E-43A094E0736A}"/>
              </a:ext>
            </a:extLst>
          </p:cNvPr>
          <p:cNvSpPr/>
          <p:nvPr/>
        </p:nvSpPr>
        <p:spPr>
          <a:xfrm>
            <a:off x="3710496" y="2762276"/>
            <a:ext cx="7128769" cy="585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“i” a placeholder variable, which will appear again in the function below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E02E42-859B-4BB0-A12A-3646869537E0}"/>
              </a:ext>
            </a:extLst>
          </p:cNvPr>
          <p:cNvCxnSpPr>
            <a:cxnSpLocks/>
          </p:cNvCxnSpPr>
          <p:nvPr/>
        </p:nvCxnSpPr>
        <p:spPr>
          <a:xfrm flipH="1">
            <a:off x="2632047" y="1980975"/>
            <a:ext cx="241047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0AF1370-EB5B-4EB1-9E11-3BCD354100E2}"/>
              </a:ext>
            </a:extLst>
          </p:cNvPr>
          <p:cNvSpPr/>
          <p:nvPr/>
        </p:nvSpPr>
        <p:spPr>
          <a:xfrm>
            <a:off x="4815951" y="1825625"/>
            <a:ext cx="3537936" cy="585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Sequence we are iterating through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739938-5017-4CDC-B342-F1EC5A1BAAB9}"/>
              </a:ext>
            </a:extLst>
          </p:cNvPr>
          <p:cNvCxnSpPr>
            <a:cxnSpLocks/>
          </p:cNvCxnSpPr>
          <p:nvPr/>
        </p:nvCxnSpPr>
        <p:spPr>
          <a:xfrm flipH="1" flipV="1">
            <a:off x="1003177" y="3385157"/>
            <a:ext cx="862984" cy="2791806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0CA0216-593D-46E2-81F4-3EEFA69659E6}"/>
              </a:ext>
            </a:extLst>
          </p:cNvPr>
          <p:cNvSpPr/>
          <p:nvPr/>
        </p:nvSpPr>
        <p:spPr>
          <a:xfrm>
            <a:off x="969795" y="5941762"/>
            <a:ext cx="2867487" cy="585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For- the type of loop we are using today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C911FF-CAAE-4DA7-8C9A-AA03F37F7030}"/>
              </a:ext>
            </a:extLst>
          </p:cNvPr>
          <p:cNvCxnSpPr>
            <a:cxnSpLocks/>
          </p:cNvCxnSpPr>
          <p:nvPr/>
        </p:nvCxnSpPr>
        <p:spPr>
          <a:xfrm flipH="1" flipV="1">
            <a:off x="1606860" y="3240694"/>
            <a:ext cx="3951762" cy="2791806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9C2A209-F336-4DE8-943B-D7B6763D6E10}"/>
              </a:ext>
            </a:extLst>
          </p:cNvPr>
          <p:cNvSpPr/>
          <p:nvPr/>
        </p:nvSpPr>
        <p:spPr>
          <a:xfrm>
            <a:off x="4635623" y="5797299"/>
            <a:ext cx="4632664" cy="585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Everything inside the loop says what to do </a:t>
            </a:r>
          </a:p>
        </p:txBody>
      </p:sp>
    </p:spTree>
    <p:extLst>
      <p:ext uri="{BB962C8B-B14F-4D97-AF65-F5344CB8AC3E}">
        <p14:creationId xmlns:p14="http://schemas.microsoft.com/office/powerpoint/2010/main" val="150697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7" grpId="0" animBg="1"/>
      <p:bldP spid="21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DDE7-F7E4-4939-B5EF-5FFD2AA7380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Iterating through columns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6FD9C-FA9C-4D5E-8CEE-02D5A2D20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(i in 1:</a:t>
            </a:r>
            <a:r>
              <a:rPr lang="en-US" dirty="0">
                <a:highlight>
                  <a:srgbClr val="FFFF00"/>
                </a:highlight>
              </a:rPr>
              <a:t>ncol</a:t>
            </a:r>
            <a:r>
              <a:rPr lang="en-US" dirty="0"/>
              <a:t>(</a:t>
            </a:r>
            <a:r>
              <a:rPr lang="en-US" dirty="0" err="1"/>
              <a:t>life_ex</a:t>
            </a:r>
            <a:r>
              <a:rPr lang="en-US" dirty="0"/>
              <a:t>))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says go from the first column to the end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(i in </a:t>
            </a:r>
            <a:r>
              <a:rPr lang="en-US" dirty="0">
                <a:highlight>
                  <a:srgbClr val="FFFF00"/>
                </a:highlight>
              </a:rPr>
              <a:t>2:ncol</a:t>
            </a:r>
            <a:r>
              <a:rPr lang="en-US" dirty="0"/>
              <a:t>(</a:t>
            </a:r>
            <a:r>
              <a:rPr lang="en-US" dirty="0" err="1"/>
              <a:t>life_ex</a:t>
            </a:r>
            <a:r>
              <a:rPr lang="en-US" dirty="0"/>
              <a:t>))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 from the second column to the end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652B3FC-09AA-439F-987B-7F6FD77D1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637264"/>
              </p:ext>
            </p:extLst>
          </p:nvPr>
        </p:nvGraphicFramePr>
        <p:xfrm>
          <a:off x="8016536" y="1945639"/>
          <a:ext cx="3337265" cy="4055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453">
                  <a:extLst>
                    <a:ext uri="{9D8B030D-6E8A-4147-A177-3AD203B41FA5}">
                      <a16:colId xmlns:a16="http://schemas.microsoft.com/office/drawing/2014/main" val="2185202511"/>
                    </a:ext>
                  </a:extLst>
                </a:gridCol>
                <a:gridCol w="667453">
                  <a:extLst>
                    <a:ext uri="{9D8B030D-6E8A-4147-A177-3AD203B41FA5}">
                      <a16:colId xmlns:a16="http://schemas.microsoft.com/office/drawing/2014/main" val="1370642731"/>
                    </a:ext>
                  </a:extLst>
                </a:gridCol>
                <a:gridCol w="667453">
                  <a:extLst>
                    <a:ext uri="{9D8B030D-6E8A-4147-A177-3AD203B41FA5}">
                      <a16:colId xmlns:a16="http://schemas.microsoft.com/office/drawing/2014/main" val="1836841564"/>
                    </a:ext>
                  </a:extLst>
                </a:gridCol>
                <a:gridCol w="447878">
                  <a:extLst>
                    <a:ext uri="{9D8B030D-6E8A-4147-A177-3AD203B41FA5}">
                      <a16:colId xmlns:a16="http://schemas.microsoft.com/office/drawing/2014/main" val="735271313"/>
                    </a:ext>
                  </a:extLst>
                </a:gridCol>
                <a:gridCol w="887028">
                  <a:extLst>
                    <a:ext uri="{9D8B030D-6E8A-4147-A177-3AD203B41FA5}">
                      <a16:colId xmlns:a16="http://schemas.microsoft.com/office/drawing/2014/main" val="272990238"/>
                    </a:ext>
                  </a:extLst>
                </a:gridCol>
              </a:tblGrid>
              <a:tr h="5069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r>
                        <a:rPr lang="en-US" dirty="0" err="1"/>
                        <a:t>ncol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388439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1204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941306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902885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353921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572777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786994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754206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430C9749-1BE4-4B10-BC8C-6543F46E908C}"/>
              </a:ext>
            </a:extLst>
          </p:cNvPr>
          <p:cNvSpPr/>
          <p:nvPr/>
        </p:nvSpPr>
        <p:spPr>
          <a:xfrm>
            <a:off x="8025414" y="3271202"/>
            <a:ext cx="3328386" cy="184233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29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03EF-7CEB-46E8-AF35-FF29740AA4E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Iterating through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333ED-82D4-42D5-931F-DFAE618DC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(s in 1:</a:t>
            </a:r>
            <a:r>
              <a:rPr lang="en-US" dirty="0">
                <a:highlight>
                  <a:srgbClr val="FFFF00"/>
                </a:highlight>
              </a:rPr>
              <a:t>nrow</a:t>
            </a:r>
            <a:r>
              <a:rPr lang="en-US" dirty="0"/>
              <a:t>(df))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C5B3D27-1FFC-4DA2-A326-16E3E33E1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694184"/>
              </p:ext>
            </p:extLst>
          </p:nvPr>
        </p:nvGraphicFramePr>
        <p:xfrm>
          <a:off x="5690586" y="2121299"/>
          <a:ext cx="3337265" cy="4055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453">
                  <a:extLst>
                    <a:ext uri="{9D8B030D-6E8A-4147-A177-3AD203B41FA5}">
                      <a16:colId xmlns:a16="http://schemas.microsoft.com/office/drawing/2014/main" val="2185202511"/>
                    </a:ext>
                  </a:extLst>
                </a:gridCol>
                <a:gridCol w="667453">
                  <a:extLst>
                    <a:ext uri="{9D8B030D-6E8A-4147-A177-3AD203B41FA5}">
                      <a16:colId xmlns:a16="http://schemas.microsoft.com/office/drawing/2014/main" val="1370642731"/>
                    </a:ext>
                  </a:extLst>
                </a:gridCol>
                <a:gridCol w="667453">
                  <a:extLst>
                    <a:ext uri="{9D8B030D-6E8A-4147-A177-3AD203B41FA5}">
                      <a16:colId xmlns:a16="http://schemas.microsoft.com/office/drawing/2014/main" val="1836841564"/>
                    </a:ext>
                  </a:extLst>
                </a:gridCol>
                <a:gridCol w="447878">
                  <a:extLst>
                    <a:ext uri="{9D8B030D-6E8A-4147-A177-3AD203B41FA5}">
                      <a16:colId xmlns:a16="http://schemas.microsoft.com/office/drawing/2014/main" val="735271313"/>
                    </a:ext>
                  </a:extLst>
                </a:gridCol>
                <a:gridCol w="887028">
                  <a:extLst>
                    <a:ext uri="{9D8B030D-6E8A-4147-A177-3AD203B41FA5}">
                      <a16:colId xmlns:a16="http://schemas.microsoft.com/office/drawing/2014/main" val="272990238"/>
                    </a:ext>
                  </a:extLst>
                </a:gridCol>
              </a:tblGrid>
              <a:tr h="5069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388439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1204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941306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902885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353921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572777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786994"/>
                  </a:ext>
                </a:extLst>
              </a:tr>
              <a:tr h="506958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754206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9E5DAD7C-5052-42CD-900C-2EB0EE2082EF}"/>
              </a:ext>
            </a:extLst>
          </p:cNvPr>
          <p:cNvSpPr/>
          <p:nvPr/>
        </p:nvSpPr>
        <p:spPr>
          <a:xfrm rot="5400000">
            <a:off x="5792679" y="3404367"/>
            <a:ext cx="3328386" cy="184233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04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97928-977E-4E69-8FA1-5DCE734A810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Addendum: apply() and </a:t>
            </a:r>
            <a:r>
              <a:rPr lang="en-US" dirty="0" err="1"/>
              <a:t>lapply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6E4A8-CCAC-496C-BE61-E70F2C8BA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apply() function lets us apply a function to the rows or columns of a matrix or data frame.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Basically it (and functions like this) can be used to do a really similar thing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Other versions of this are </a:t>
            </a:r>
            <a:r>
              <a:rPr lang="en-US" dirty="0" err="1"/>
              <a:t>lapply</a:t>
            </a:r>
            <a:r>
              <a:rPr lang="en-US" dirty="0"/>
              <a:t>(), </a:t>
            </a:r>
            <a:r>
              <a:rPr lang="en-US" dirty="0" err="1"/>
              <a:t>sapply</a:t>
            </a:r>
            <a:r>
              <a:rPr lang="en-US" dirty="0"/>
              <a:t>(), </a:t>
            </a:r>
            <a:r>
              <a:rPr lang="en-US" dirty="0" err="1"/>
              <a:t>tapply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https://www.geeksforgeeks.org/r-language/apply-lapply-sapply-and-tapply-in-r/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92830-E39E-4D11-9EA2-E469B2441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674" y="2912213"/>
            <a:ext cx="5848651" cy="217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19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86B8B-8946-4939-AB74-662460CA074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Other stuff about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C11BF-5FF6-45E3-BDDF-28C2BDF3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strategies may perform differently </a:t>
            </a:r>
          </a:p>
          <a:p>
            <a:r>
              <a:rPr lang="en-US" dirty="0"/>
              <a:t>For loops are generally recommended for columns, not rows due to computer slow down issues</a:t>
            </a:r>
          </a:p>
          <a:p>
            <a:r>
              <a:rPr lang="en-US" dirty="0"/>
              <a:t>One source I read says apply family is preferred </a:t>
            </a:r>
          </a:p>
          <a:p>
            <a:r>
              <a:rPr lang="en-US" dirty="0"/>
              <a:t>I had no real problems running a pretty complex for loop on a dataset of about 16,000 obs.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818646-6F2D-4B2A-BBE9-3FD73D068E71}"/>
              </a:ext>
            </a:extLst>
          </p:cNvPr>
          <p:cNvSpPr/>
          <p:nvPr/>
        </p:nvSpPr>
        <p:spPr>
          <a:xfrm>
            <a:off x="838200" y="4643021"/>
            <a:ext cx="10515600" cy="15358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Your experience may vary, let me know any insights for future workshops </a:t>
            </a:r>
          </a:p>
        </p:txBody>
      </p:sp>
    </p:spTree>
    <p:extLst>
      <p:ext uri="{BB962C8B-B14F-4D97-AF65-F5344CB8AC3E}">
        <p14:creationId xmlns:p14="http://schemas.microsoft.com/office/powerpoint/2010/main" val="1081316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8A2A-96E3-4C4D-9A38-171FC103540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Part Deux: Markdown and Quarto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E6CE3-E183-4750-B9A4-67B9B7E86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Also </a:t>
            </a:r>
            <a:r>
              <a:rPr lang="en-US" dirty="0" err="1"/>
              <a:t>flextable</a:t>
            </a:r>
            <a:r>
              <a:rPr lang="en-US" dirty="0"/>
              <a:t> is in the code: but I won’t go over it because I don’t have enough time </a:t>
            </a:r>
          </a:p>
        </p:txBody>
      </p:sp>
    </p:spTree>
    <p:extLst>
      <p:ext uri="{BB962C8B-B14F-4D97-AF65-F5344CB8AC3E}">
        <p14:creationId xmlns:p14="http://schemas.microsoft.com/office/powerpoint/2010/main" val="3284363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AB26-AE36-480A-9178-C4953C78AEE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What is Markdown/ Quarto?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D60CA-F7C4-49CC-BA3F-F84CEAEC2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Markdown is a file format for making dynamic documents with R.</a:t>
            </a:r>
          </a:p>
          <a:p>
            <a:r>
              <a:rPr lang="en-US" dirty="0"/>
              <a:t>An R Markdown document is written in markdown (an easy-to-write plain text format) </a:t>
            </a:r>
          </a:p>
          <a:p>
            <a:r>
              <a:rPr lang="en-US" dirty="0"/>
              <a:t>Quarto is the next generation tool to help make these types of files </a:t>
            </a:r>
          </a:p>
          <a:p>
            <a:endParaRPr lang="en-US" dirty="0"/>
          </a:p>
          <a:p>
            <a:r>
              <a:rPr lang="en-US" dirty="0"/>
              <a:t>Quarto is a posit product that helps write the markdown for you </a:t>
            </a:r>
          </a:p>
          <a:p>
            <a:pPr lvl="1"/>
            <a:r>
              <a:rPr lang="en-US" dirty="0"/>
              <a:t>Posit is what the software company that made RStudio changed its name to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84CEE-ABB3-4DC4-97CE-79AE472B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90" y="5120309"/>
            <a:ext cx="11094020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96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40CD-64A6-4F12-A892-7D260D340E4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These are file types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5862E-F028-4988-90E4-1F3CF365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Note the different options in creating a file, and the different extensions</a:t>
            </a:r>
          </a:p>
          <a:p>
            <a:r>
              <a:rPr lang="en-US" dirty="0"/>
              <a:t>Markdown was .</a:t>
            </a:r>
            <a:r>
              <a:rPr lang="en-US" dirty="0" err="1"/>
              <a:t>rmd</a:t>
            </a:r>
            <a:endParaRPr lang="en-US" dirty="0"/>
          </a:p>
          <a:p>
            <a:r>
              <a:rPr lang="en-US" dirty="0"/>
              <a:t>Quarto is .</a:t>
            </a:r>
            <a:r>
              <a:rPr lang="en-US" dirty="0" err="1"/>
              <a:t>qmd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FB41F1-1135-4759-BBCA-24298525A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086" y="2019131"/>
            <a:ext cx="5322269" cy="41578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B33A48-0731-466D-8D5F-87B8056BA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50" y="5019599"/>
            <a:ext cx="5835950" cy="14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24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876AE-FBC8-4C56-BF86-C9C88106C50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What is in the Header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D06AA-62D0-4598-BAE9-5FC324803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header of the Quarto document sets the global configurations</a:t>
            </a:r>
          </a:p>
          <a:p>
            <a:r>
              <a:rPr lang="en-US" dirty="0"/>
              <a:t>It is a block of YAML (a coding language) code</a:t>
            </a:r>
          </a:p>
          <a:p>
            <a:r>
              <a:rPr lang="en-US" dirty="0"/>
              <a:t>It is wrapped by three dashes ---</a:t>
            </a:r>
          </a:p>
          <a:p>
            <a:r>
              <a:rPr lang="en-US" dirty="0"/>
              <a:t>You can set some options and themes here, and you must have this block</a:t>
            </a:r>
          </a:p>
          <a:p>
            <a:r>
              <a:rPr lang="en-US" dirty="0"/>
              <a:t>Quarto writes it for you but you need to edit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A5FFF-661F-42DE-B240-F844B6A6A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324" y="4836725"/>
            <a:ext cx="8013087" cy="165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51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FE84-7EC0-4D76-86A8-F9C2978BC22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Creating the Quarto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C7F46-FAB4-4E43-80E8-17E02378E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File&gt;New File&gt;Quarto Document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A373E-E9A9-4C4E-BB54-0D4677CCDC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317"/>
          <a:stretch/>
        </p:blipFill>
        <p:spPr>
          <a:xfrm>
            <a:off x="6032227" y="1761489"/>
            <a:ext cx="5321573" cy="415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542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C2F1-AB2F-4347-AAC4-85DE11047A6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Some options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6BD72-D3C7-4ABC-9235-C6A703B1C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70598" cy="4351338"/>
          </a:xfrm>
        </p:spPr>
        <p:txBody>
          <a:bodyPr/>
          <a:lstStyle/>
          <a:p>
            <a:r>
              <a:rPr lang="en-US" dirty="0"/>
              <a:t>I chose word for this</a:t>
            </a:r>
          </a:p>
          <a:p>
            <a:r>
              <a:rPr lang="en-US" dirty="0" err="1"/>
              <a:t>Knitr</a:t>
            </a:r>
            <a:r>
              <a:rPr lang="en-US" dirty="0"/>
              <a:t> is the engine for R</a:t>
            </a:r>
          </a:p>
          <a:p>
            <a:r>
              <a:rPr lang="en-US" dirty="0" err="1"/>
              <a:t>Jupyter</a:t>
            </a:r>
            <a:r>
              <a:rPr lang="en-US" dirty="0"/>
              <a:t> is the engine for Python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C2392C-08B0-4366-8EA6-353692994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973" y="1690688"/>
            <a:ext cx="5492652" cy="493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44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733C3-6C05-402F-B764-679C48735A9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Coding in chunks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B45B-B4CB-4D26-965A-02016FB8B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Markdown and Quarto allow you to organize and run code in chunks</a:t>
            </a:r>
          </a:p>
          <a:p>
            <a:r>
              <a:rPr lang="en-US" dirty="0"/>
              <a:t>Many of my friends code this way even when they are not making a report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0B499-2795-427D-B28B-45C59B0D2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43" y="3520685"/>
            <a:ext cx="7802064" cy="27912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5BCCF0-5601-4E39-81EB-8717E055644B}"/>
              </a:ext>
            </a:extLst>
          </p:cNvPr>
          <p:cNvSpPr/>
          <p:nvPr/>
        </p:nvSpPr>
        <p:spPr>
          <a:xfrm>
            <a:off x="7244179" y="3364637"/>
            <a:ext cx="1704512" cy="9055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E4E899-4D86-46DE-AC2F-7C1A44015B58}"/>
              </a:ext>
            </a:extLst>
          </p:cNvPr>
          <p:cNvCxnSpPr/>
          <p:nvPr/>
        </p:nvCxnSpPr>
        <p:spPr>
          <a:xfrm flipH="1" flipV="1">
            <a:off x="8975324" y="3932808"/>
            <a:ext cx="1154097" cy="4793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3B202C1-7AE8-43AA-A318-6CD2DFED941E}"/>
              </a:ext>
            </a:extLst>
          </p:cNvPr>
          <p:cNvSpPr/>
          <p:nvPr/>
        </p:nvSpPr>
        <p:spPr>
          <a:xfrm>
            <a:off x="10031767" y="4092606"/>
            <a:ext cx="1464076" cy="905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 code button</a:t>
            </a:r>
          </a:p>
        </p:txBody>
      </p:sp>
    </p:spTree>
    <p:extLst>
      <p:ext uri="{BB962C8B-B14F-4D97-AF65-F5344CB8AC3E}">
        <p14:creationId xmlns:p14="http://schemas.microsoft.com/office/powerpoint/2010/main" val="1307467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866E-AF06-4845-ADDC-A88FFE62848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How it looks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764F51-FADB-4E13-9565-496EC0FC7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1135"/>
            <a:ext cx="4955379" cy="4351338"/>
          </a:xfrm>
        </p:spPr>
      </p:pic>
      <p:sp>
        <p:nvSpPr>
          <p:cNvPr id="6" name="Callout: Left Arrow 5">
            <a:extLst>
              <a:ext uri="{FF2B5EF4-FFF2-40B4-BE49-F238E27FC236}">
                <a16:creationId xmlns:a16="http://schemas.microsoft.com/office/drawing/2014/main" id="{34FFC846-8462-4A4C-9FF8-AA8C0BE24F06}"/>
              </a:ext>
            </a:extLst>
          </p:cNvPr>
          <p:cNvSpPr/>
          <p:nvPr/>
        </p:nvSpPr>
        <p:spPr>
          <a:xfrm>
            <a:off x="5793579" y="1861135"/>
            <a:ext cx="5560221" cy="1325563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85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Header that sets the global configurations </a:t>
            </a:r>
          </a:p>
        </p:txBody>
      </p:sp>
      <p:sp>
        <p:nvSpPr>
          <p:cNvPr id="7" name="Callout: Left Arrow 6">
            <a:extLst>
              <a:ext uri="{FF2B5EF4-FFF2-40B4-BE49-F238E27FC236}">
                <a16:creationId xmlns:a16="http://schemas.microsoft.com/office/drawing/2014/main" id="{029CC478-B775-4F10-A57C-B74ACB8C5622}"/>
              </a:ext>
            </a:extLst>
          </p:cNvPr>
          <p:cNvSpPr/>
          <p:nvPr/>
        </p:nvSpPr>
        <p:spPr>
          <a:xfrm>
            <a:off x="5793579" y="3478350"/>
            <a:ext cx="5560221" cy="1325563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85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Text outside of the code chunk will appear in the document</a:t>
            </a:r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B90C87E4-4BA0-4F09-9346-A81182225B44}"/>
              </a:ext>
            </a:extLst>
          </p:cNvPr>
          <p:cNvSpPr/>
          <p:nvPr/>
        </p:nvSpPr>
        <p:spPr>
          <a:xfrm>
            <a:off x="5793578" y="5178562"/>
            <a:ext cx="5560221" cy="1325563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85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 code that makes the actual graphs</a:t>
            </a:r>
          </a:p>
        </p:txBody>
      </p:sp>
    </p:spTree>
    <p:extLst>
      <p:ext uri="{BB962C8B-B14F-4D97-AF65-F5344CB8AC3E}">
        <p14:creationId xmlns:p14="http://schemas.microsoft.com/office/powerpoint/2010/main" val="1794605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03DE8-6513-4B2A-8EB2-B15231BD5AB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Finished document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F8968E-0A00-433F-8A92-557150C8A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7756" y="1825625"/>
            <a:ext cx="7476488" cy="4351338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AD6E6B9-72FF-4F74-805B-5E628175F5A8}"/>
              </a:ext>
            </a:extLst>
          </p:cNvPr>
          <p:cNvSpPr/>
          <p:nvPr/>
        </p:nvSpPr>
        <p:spPr>
          <a:xfrm>
            <a:off x="6596109" y="4465467"/>
            <a:ext cx="4757691" cy="20274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Quarto will render this document in the same file you saved the code in</a:t>
            </a:r>
          </a:p>
        </p:txBody>
      </p:sp>
    </p:spTree>
    <p:extLst>
      <p:ext uri="{BB962C8B-B14F-4D97-AF65-F5344CB8AC3E}">
        <p14:creationId xmlns:p14="http://schemas.microsoft.com/office/powerpoint/2010/main" val="1486621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D103-88A3-4ECC-8A08-83A7498DA78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R lab will not be what I showed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00D39-3EC3-43F9-B0F7-939008D9B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learning Quarto– I will have everyone create a document and play with it on your own. </a:t>
            </a:r>
          </a:p>
        </p:txBody>
      </p:sp>
    </p:spTree>
    <p:extLst>
      <p:ext uri="{BB962C8B-B14F-4D97-AF65-F5344CB8AC3E}">
        <p14:creationId xmlns:p14="http://schemas.microsoft.com/office/powerpoint/2010/main" val="856174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167A7-4C5E-49A2-97D0-E2A1EE68124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Resources: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D4AB6-695F-4A14-95DB-A6A378B4E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book on Quarto</a:t>
            </a:r>
          </a:p>
          <a:p>
            <a:r>
              <a:rPr lang="en-US" dirty="0"/>
              <a:t> </a:t>
            </a:r>
            <a:r>
              <a:rPr lang="en-US" dirty="0">
                <a:hlinkClick r:id="rId2"/>
              </a:rPr>
              <a:t>https://quarto.org/docs/computations/r.html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whole book on flex table (looks fun to read!): </a:t>
            </a:r>
          </a:p>
          <a:p>
            <a:r>
              <a:rPr lang="en-US" dirty="0">
                <a:hlinkClick r:id="rId3"/>
              </a:rPr>
              <a:t>https://ardata-fr.github.io/flextable-book/index.html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68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889C5-2102-488C-AD47-A9197565CCD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Questions?? Lets keep in touch!!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9705C-1E4F-4D95-96D3-6B4B3A634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samswift@salud.unm.edu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A20CC-AFEB-4DFB-863E-CF63E99FB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523" y="2501514"/>
            <a:ext cx="7568953" cy="392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46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878</Words>
  <Application>Microsoft Office PowerPoint</Application>
  <PresentationFormat>Widescreen</PresentationFormat>
  <Paragraphs>130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Workshop 5</vt:lpstr>
      <vt:lpstr>Presentation Contents </vt:lpstr>
      <vt:lpstr>Review time? </vt:lpstr>
      <vt:lpstr>Part 1: Loops</vt:lpstr>
      <vt:lpstr>Why do we need loops? </vt:lpstr>
      <vt:lpstr>The for loop</vt:lpstr>
      <vt:lpstr>Other types of loops in R</vt:lpstr>
      <vt:lpstr>Basic for loop syntax</vt:lpstr>
      <vt:lpstr>Iterating through columns </vt:lpstr>
      <vt:lpstr>Iterating through rows</vt:lpstr>
      <vt:lpstr>Addendum: apply() and lapply()</vt:lpstr>
      <vt:lpstr>Other stuff about loops</vt:lpstr>
      <vt:lpstr>Part Deux: Markdown and Quarto </vt:lpstr>
      <vt:lpstr>What is Markdown/ Quarto? </vt:lpstr>
      <vt:lpstr>These are file types in R</vt:lpstr>
      <vt:lpstr>What is in the Header </vt:lpstr>
      <vt:lpstr>Creating the Quarto file</vt:lpstr>
      <vt:lpstr>Some options </vt:lpstr>
      <vt:lpstr>Coding in chunks</vt:lpstr>
      <vt:lpstr>How it looks</vt:lpstr>
      <vt:lpstr>Finished document </vt:lpstr>
      <vt:lpstr>R lab will not be what I showed you</vt:lpstr>
      <vt:lpstr>Resources: </vt:lpstr>
      <vt:lpstr>Questions?? Lets keep in touch!!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Samuel L Swift</dc:creator>
  <cp:lastModifiedBy>Samuel L Swift</cp:lastModifiedBy>
  <cp:revision>40</cp:revision>
  <dcterms:created xsi:type="dcterms:W3CDTF">2026-09-11T16:53:47Z</dcterms:created>
  <dcterms:modified xsi:type="dcterms:W3CDTF">2026-09-16T04:41:28Z</dcterms:modified>
</cp:coreProperties>
</file>