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9" r:id="rId4"/>
    <p:sldId id="318" r:id="rId5"/>
    <p:sldId id="316" r:id="rId6"/>
    <p:sldId id="320" r:id="rId7"/>
    <p:sldId id="284" r:id="rId8"/>
    <p:sldId id="305" r:id="rId9"/>
    <p:sldId id="321" r:id="rId10"/>
    <p:sldId id="322" r:id="rId11"/>
    <p:sldId id="307" r:id="rId12"/>
    <p:sldId id="317" r:id="rId13"/>
    <p:sldId id="266" r:id="rId14"/>
    <p:sldId id="265" r:id="rId15"/>
    <p:sldId id="324" r:id="rId16"/>
    <p:sldId id="287" r:id="rId17"/>
    <p:sldId id="323" r:id="rId18"/>
    <p:sldId id="309" r:id="rId19"/>
    <p:sldId id="310" r:id="rId20"/>
    <p:sldId id="325" r:id="rId21"/>
    <p:sldId id="313" r:id="rId22"/>
    <p:sldId id="315" r:id="rId23"/>
    <p:sldId id="285" r:id="rId24"/>
    <p:sldId id="286" r:id="rId25"/>
    <p:sldId id="289" r:id="rId26"/>
    <p:sldId id="291" r:id="rId27"/>
    <p:sldId id="327" r:id="rId28"/>
    <p:sldId id="32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E953-7E84-42C6-A523-D2BF6AE78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1B9B6-98EE-4401-92FF-7DD1A8BDD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1DDE4-1B9A-4543-8A97-2BBADC80A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893F5-A9DC-4793-BBF9-93966B93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2686B-530C-4683-9119-A9C9DEB7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ADE4-3A12-4323-A4C5-AB47DD40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ED4B-D058-4CFF-9482-3DAEDDF01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E3BCF-9253-400B-A317-9C8CDB72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67A3C-7B73-4CDF-9345-9F88E6DE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F209-0E21-4F3E-A846-82987519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6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2125-8CC9-47BF-B5A8-04363D87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FAD2B-45B6-4656-8E44-779520BC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4AE32-53C3-40F2-851E-5748079A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78A2F-048A-417E-90EB-DC114E99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7492B-D554-4A4E-9571-5EE250FF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7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7539-D826-4912-A320-524F7549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3874-A133-40A1-855C-32F7C9FE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E4503-62DC-46C1-9C7A-1FEED980E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3BDE8-B1CF-4706-92CD-3D1F2FF0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5B832-3980-48C3-957D-E700CFE9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C7C43-0541-43D9-AB2C-F3FC55C0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4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78F9-A557-422A-A82B-AFFBFB9A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D7667-3A3B-44C3-A8D4-AC8CD539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EB5D3-8F8F-4B8E-9F69-0BD32FB4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4A9C-385F-43F5-B415-00E5CB340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C9E28-3B5D-46C7-A54C-0F9A719AB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94B0F-E136-4EB9-85FE-84DE0DA5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DAC55-4D0E-444B-921E-9DFB3C43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0FFB7-A9EE-4600-9B2F-7CD7B0C2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7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41ED-7592-4746-A815-7C934F3A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A1235-DC26-40AF-A2A9-7B5518F3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47357-BA93-4863-9999-EB0DF4D6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9303B-CACE-4A26-B6D2-3F11C610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1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B4069-468F-47E7-90E7-6AD5EC34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F9433-9B92-4EDA-98E7-80122260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7DFCA-B5B3-4550-890F-446E274D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8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C340-2D7A-42C2-9856-43116194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5596-D323-43D9-A6ED-62454D236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D4584-DE8F-4126-88E3-FA836BA8B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B4610-9110-4EEB-9A0C-0B50FFFD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F565D-4BDA-4D31-8CA5-49945DAC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E15E2-1B30-487E-BE02-709B74B8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0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C33F-B038-4702-A2A0-AC65C5F3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2EFB4-4644-4586-B70D-1CC03DAC3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95CCE-3296-442D-A55C-376A4E298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E2A44-8520-480A-85A5-84F210CB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318E6-AB72-426B-A428-6D305082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0AA6E-1CF6-4337-903A-E69060CF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47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45A7-C489-4ADF-971A-29A02997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F3BCC-E579-47AC-AB68-F183D04DB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22E6-5B32-4FEC-984F-12E58601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29BEA-C144-439D-9009-09746B3C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8D190-B38F-4D1A-9A9A-4516D246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4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3DF30-96DC-41A8-8FBA-EC754126B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1FBCB-AF9F-498A-99BE-FFE058AD6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EAC4C-A466-44C5-8B83-A43288A9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CB59-8DBE-4141-A434-9F164411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5126-51E7-4941-8789-1FADF4E4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7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DD6D9-B5AE-4499-9011-E89988A9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09C3C-7AE6-49AA-8DD2-BEFAD9491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0DFDE-3501-476C-AA1D-30E895825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B0457-1E80-4889-958D-3BC6B7D649C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76A83-8251-4BF7-A0C4-36CA558DD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2EAF-357C-4792-AC42-81650A6E6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B31BF-4D40-4F09-AD4C-1CBE4B9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5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4B64-699C-4C36-97A8-8397CC2EF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Workshop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39F05-CEC3-4F1D-B5E1-2CA02D169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R Basics, Summary Statistics, Data Manipulation, Data Cleaning</a:t>
            </a:r>
          </a:p>
        </p:txBody>
      </p:sp>
    </p:spTree>
    <p:extLst>
      <p:ext uri="{BB962C8B-B14F-4D97-AF65-F5344CB8AC3E}">
        <p14:creationId xmlns:p14="http://schemas.microsoft.com/office/powerpoint/2010/main" val="39160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D2E9-B64B-4FCE-9D79-ECB15916EC6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Presentation 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18317-6B57-46F1-93A9-6A92B8FC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9262" cy="4351338"/>
          </a:xfrm>
        </p:spPr>
        <p:txBody>
          <a:bodyPr/>
          <a:lstStyle/>
          <a:p>
            <a:r>
              <a:rPr lang="en-US" dirty="0"/>
              <a:t>Quick review of last week</a:t>
            </a:r>
          </a:p>
          <a:p>
            <a:r>
              <a:rPr lang="en-US" dirty="0"/>
              <a:t>Creating new datasets and sub setting</a:t>
            </a:r>
          </a:p>
          <a:p>
            <a:r>
              <a:rPr lang="en-US" dirty="0"/>
              <a:t>Variable creation and data cleaning</a:t>
            </a:r>
          </a:p>
          <a:p>
            <a:r>
              <a:rPr lang="en-US" dirty="0"/>
              <a:t>Summary statistics in R </a:t>
            </a:r>
          </a:p>
          <a:p>
            <a:r>
              <a:rPr lang="en-US" dirty="0"/>
              <a:t>Aggregating variables by other variables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9F9A9-E6F0-4B33-8978-A42D553F5F24}"/>
              </a:ext>
            </a:extLst>
          </p:cNvPr>
          <p:cNvSpPr/>
          <p:nvPr/>
        </p:nvSpPr>
        <p:spPr>
          <a:xfrm>
            <a:off x="7747462" y="1828801"/>
            <a:ext cx="3606338" cy="3934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Learning Objectives </a:t>
            </a:r>
          </a:p>
          <a:p>
            <a:r>
              <a:rPr lang="en-US" sz="2400" dirty="0"/>
              <a:t>Students will apply 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functions</a:t>
            </a:r>
            <a:r>
              <a:rPr lang="en-US" sz="2400" dirty="0"/>
              <a:t>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 setting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Variable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De-duplication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Basic 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Basic summary statistics</a:t>
            </a:r>
          </a:p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 *All functions today come from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tidyverse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 package 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4C7DD-229B-421A-936F-532FADB42BAF}"/>
              </a:ext>
            </a:extLst>
          </p:cNvPr>
          <p:cNvSpPr/>
          <p:nvPr/>
        </p:nvSpPr>
        <p:spPr>
          <a:xfrm>
            <a:off x="838200" y="4346369"/>
            <a:ext cx="6714506" cy="223256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Schedule:</a:t>
            </a:r>
          </a:p>
          <a:p>
            <a:pPr algn="ctr"/>
            <a:r>
              <a:rPr lang="en-US" sz="3200" dirty="0"/>
              <a:t> 8-8:30 slides</a:t>
            </a:r>
          </a:p>
          <a:p>
            <a:pPr algn="ctr"/>
            <a:r>
              <a:rPr lang="en-US" sz="3200" dirty="0"/>
              <a:t>8:30- 8:45 Sam demonstrates R</a:t>
            </a:r>
          </a:p>
          <a:p>
            <a:pPr algn="ctr"/>
            <a:r>
              <a:rPr lang="en-US" sz="3200" dirty="0"/>
              <a:t>8:45- close interactive R time </a:t>
            </a:r>
          </a:p>
        </p:txBody>
      </p:sp>
    </p:spTree>
    <p:extLst>
      <p:ext uri="{BB962C8B-B14F-4D97-AF65-F5344CB8AC3E}">
        <p14:creationId xmlns:p14="http://schemas.microsoft.com/office/powerpoint/2010/main" val="90530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954A-3727-4CB5-B409-D8017568AB3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Review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ECB2A-CAF9-4AD4-BC96-0A6CFCEE1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94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D05-AFDA-4C4A-8AB9-7365B7760D4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is an object? (in R!!)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28B5-43A3-4F51-829E-C8113589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The part of the sentence that the verb is acting on</a:t>
            </a:r>
          </a:p>
          <a:p>
            <a:pPr marL="514350" indent="-514350">
              <a:buAutoNum type="alphaUcPeriod"/>
            </a:pPr>
            <a:r>
              <a:rPr lang="en-US" sz="3200" dirty="0"/>
              <a:t>The thing you yell in the court room when the lawyers are out of order</a:t>
            </a:r>
          </a:p>
          <a:p>
            <a:pPr marL="514350" indent="-514350">
              <a:buAutoNum type="alphaUcPeriod"/>
            </a:pPr>
            <a:r>
              <a:rPr lang="en-US" sz="3200" dirty="0"/>
              <a:t>The part of R where you save programs you write</a:t>
            </a:r>
          </a:p>
          <a:p>
            <a:pPr marL="514350" indent="-514350">
              <a:buAutoNum type="alphaUcPeriod"/>
            </a:pPr>
            <a:r>
              <a:rPr lang="en-US" sz="3200" dirty="0"/>
              <a:t>Things that you make in R using the arrow operator &lt;- such as datasets and plots</a:t>
            </a:r>
          </a:p>
          <a:p>
            <a:pPr marL="514350" indent="-514350">
              <a:buAutoNum type="alphaUcPeriod"/>
            </a:pPr>
            <a:r>
              <a:rPr lang="en-US" sz="3200" dirty="0"/>
              <a:t>All of the above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9BEF7-F0CB-4F75-BFB7-2936022D87D6}"/>
              </a:ext>
            </a:extLst>
          </p:cNvPr>
          <p:cNvSpPr/>
          <p:nvPr/>
        </p:nvSpPr>
        <p:spPr>
          <a:xfrm>
            <a:off x="746620" y="3926048"/>
            <a:ext cx="10989578" cy="10486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6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D05-AFDA-4C4A-8AB9-7365B7760D4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is a function? (in R)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28B5-43A3-4F51-829E-C8113589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A nice party after work with appetizers and polite conversation </a:t>
            </a:r>
          </a:p>
          <a:p>
            <a:pPr marL="514350" indent="-514350">
              <a:buAutoNum type="alphaUcPeriod"/>
            </a:pPr>
            <a:r>
              <a:rPr lang="en-US" sz="3200" dirty="0"/>
              <a:t>A self contained block of code that can perform actions, like a square root, or more advanced data cleaning </a:t>
            </a:r>
          </a:p>
          <a:p>
            <a:pPr marL="514350" indent="-514350">
              <a:buAutoNum type="alphaUcPeriod"/>
            </a:pPr>
            <a:r>
              <a:rPr lang="en-US" sz="3200" dirty="0"/>
              <a:t>The part of R where you save programs you write</a:t>
            </a:r>
          </a:p>
          <a:p>
            <a:pPr marL="514350" indent="-514350">
              <a:buAutoNum type="alphaUcPeriod"/>
            </a:pPr>
            <a:r>
              <a:rPr lang="en-US" sz="3200" dirty="0"/>
              <a:t>Things that you make in R using the arrow operator &lt;- such as datasets and plots</a:t>
            </a:r>
          </a:p>
          <a:p>
            <a:pPr marL="514350" indent="-514350">
              <a:buAutoNum type="alphaUcPeriod"/>
            </a:pPr>
            <a:r>
              <a:rPr lang="en-US" sz="3200" dirty="0"/>
              <a:t>None of the above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9BEF7-F0CB-4F75-BFB7-2936022D87D6}"/>
              </a:ext>
            </a:extLst>
          </p:cNvPr>
          <p:cNvSpPr/>
          <p:nvPr/>
        </p:nvSpPr>
        <p:spPr>
          <a:xfrm>
            <a:off x="601211" y="2759978"/>
            <a:ext cx="10989578" cy="10486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9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D05-AFDA-4C4A-8AB9-7365B7760D4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is a Package? (in R)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28B5-43A3-4F51-829E-C8113589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A structured collection of compiled functions, code and documentation that you load into R to write certain types of code</a:t>
            </a:r>
          </a:p>
          <a:p>
            <a:pPr marL="514350" indent="-514350">
              <a:buAutoNum type="alphaUcPeriod"/>
            </a:pPr>
            <a:r>
              <a:rPr lang="en-US" sz="3200" dirty="0"/>
              <a:t>Something fun you get to unwrap on seasonal holidays </a:t>
            </a:r>
          </a:p>
          <a:p>
            <a:pPr marL="514350" indent="-514350">
              <a:buAutoNum type="alphaUcPeriod"/>
            </a:pPr>
            <a:r>
              <a:rPr lang="en-US" sz="3200" dirty="0"/>
              <a:t>A and C </a:t>
            </a:r>
          </a:p>
          <a:p>
            <a:pPr marL="514350" indent="-514350">
              <a:buAutoNum type="alphaUcPeriod"/>
            </a:pPr>
            <a:r>
              <a:rPr lang="en-US" sz="3200" dirty="0"/>
              <a:t>Things that you make in R using the arrow operator &lt;- such as datasets and plots</a:t>
            </a:r>
          </a:p>
          <a:p>
            <a:pPr marL="514350" indent="-514350">
              <a:buAutoNum type="alphaUcPeriod"/>
            </a:pPr>
            <a:r>
              <a:rPr lang="en-US" sz="3200" dirty="0"/>
              <a:t>None of the above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9BEF7-F0CB-4F75-BFB7-2936022D87D6}"/>
              </a:ext>
            </a:extLst>
          </p:cNvPr>
          <p:cNvSpPr/>
          <p:nvPr/>
        </p:nvSpPr>
        <p:spPr>
          <a:xfrm>
            <a:off x="601211" y="1850792"/>
            <a:ext cx="10989578" cy="142091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1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61B411-691B-4002-9294-CD2BED08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0" y="0"/>
            <a:ext cx="1141413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E9724A-595D-4B9A-B5B7-396DB80D2FDB}"/>
              </a:ext>
            </a:extLst>
          </p:cNvPr>
          <p:cNvSpPr/>
          <p:nvPr/>
        </p:nvSpPr>
        <p:spPr>
          <a:xfrm>
            <a:off x="1235623" y="1470006"/>
            <a:ext cx="3602766" cy="15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script panel is where permanent programs can be saved</a:t>
            </a:r>
          </a:p>
        </p:txBody>
      </p:sp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C4B1CC53-665F-4CFC-B6C5-24E14F2BB5DA}"/>
              </a:ext>
            </a:extLst>
          </p:cNvPr>
          <p:cNvSpPr/>
          <p:nvPr/>
        </p:nvSpPr>
        <p:spPr>
          <a:xfrm>
            <a:off x="6096001" y="1349406"/>
            <a:ext cx="3323208" cy="2476870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Objects you create will be saved here to the “global environment”</a:t>
            </a:r>
          </a:p>
        </p:txBody>
      </p:sp>
      <p:sp>
        <p:nvSpPr>
          <p:cNvPr id="7" name="Callout: Right Arrow 6">
            <a:extLst>
              <a:ext uri="{FF2B5EF4-FFF2-40B4-BE49-F238E27FC236}">
                <a16:creationId xmlns:a16="http://schemas.microsoft.com/office/drawing/2014/main" id="{B2C76F21-0D99-4E28-AEA7-3A9BCBE26928}"/>
              </a:ext>
            </a:extLst>
          </p:cNvPr>
          <p:cNvSpPr/>
          <p:nvPr/>
        </p:nvSpPr>
        <p:spPr>
          <a:xfrm>
            <a:off x="5974672" y="4962617"/>
            <a:ext cx="4039340" cy="1491449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Help/ packages/Plots will appear here, also you can access packages and the help window from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785407-2275-43C0-92BE-8DA6BF18346E}"/>
              </a:ext>
            </a:extLst>
          </p:cNvPr>
          <p:cNvSpPr/>
          <p:nvPr/>
        </p:nvSpPr>
        <p:spPr>
          <a:xfrm>
            <a:off x="1185991" y="4962617"/>
            <a:ext cx="3923930" cy="1260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can also freely code in the console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8CD58A-5F2F-4C33-B9A8-F96FD5BB42C6}"/>
              </a:ext>
            </a:extLst>
          </p:cNvPr>
          <p:cNvSpPr/>
          <p:nvPr/>
        </p:nvSpPr>
        <p:spPr>
          <a:xfrm>
            <a:off x="3330429" y="109057"/>
            <a:ext cx="4102217" cy="7261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Name that pane!?!?</a:t>
            </a:r>
          </a:p>
        </p:txBody>
      </p:sp>
    </p:spTree>
    <p:extLst>
      <p:ext uri="{BB962C8B-B14F-4D97-AF65-F5344CB8AC3E}">
        <p14:creationId xmlns:p14="http://schemas.microsoft.com/office/powerpoint/2010/main" val="83149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4A0C-30B1-4013-8BAF-E99D4CB809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Important Syntax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A62B8-128D-4AE5-97DC-222540C7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arrow operator </a:t>
            </a:r>
            <a:r>
              <a:rPr lang="en-US" sz="3200" dirty="0">
                <a:highlight>
                  <a:srgbClr val="FFFF00"/>
                </a:highlight>
              </a:rPr>
              <a:t>&lt;-</a:t>
            </a:r>
            <a:r>
              <a:rPr lang="en-US" sz="3200" dirty="0"/>
              <a:t> creates objects </a:t>
            </a:r>
          </a:p>
          <a:p>
            <a:pPr lvl="1"/>
            <a:r>
              <a:rPr lang="en-US" sz="2800" dirty="0"/>
              <a:t>Like this: </a:t>
            </a:r>
            <a:r>
              <a:rPr lang="en-US" sz="2800" dirty="0" err="1"/>
              <a:t>newdata</a:t>
            </a:r>
            <a:r>
              <a:rPr lang="en-US" sz="2800" dirty="0">
                <a:highlight>
                  <a:srgbClr val="FFFF00"/>
                </a:highlight>
              </a:rPr>
              <a:t>&lt;-</a:t>
            </a:r>
            <a:r>
              <a:rPr lang="en-US" sz="2800" dirty="0" err="1"/>
              <a:t>olddata</a:t>
            </a:r>
            <a:r>
              <a:rPr lang="en-US" sz="2800" dirty="0"/>
              <a:t> </a:t>
            </a:r>
          </a:p>
          <a:p>
            <a:r>
              <a:rPr lang="en-US" sz="3200" dirty="0"/>
              <a:t>Functions usually wrap other stuff in parenthesis ()</a:t>
            </a:r>
          </a:p>
          <a:p>
            <a:pPr lvl="1"/>
            <a:r>
              <a:rPr lang="en-US" sz="2800" dirty="0"/>
              <a:t>Like this: </a:t>
            </a:r>
            <a:r>
              <a:rPr lang="en-US" sz="2800" dirty="0">
                <a:highlight>
                  <a:srgbClr val="FFFF00"/>
                </a:highlight>
              </a:rPr>
              <a:t>function(</a:t>
            </a:r>
            <a:r>
              <a:rPr lang="en-US" sz="2800" dirty="0" err="1"/>
              <a:t>dataset$variable</a:t>
            </a:r>
            <a:r>
              <a:rPr lang="en-US" sz="2800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en-US" sz="2800" dirty="0"/>
              <a:t>Like this </a:t>
            </a:r>
            <a:r>
              <a:rPr lang="en-US" sz="2800" dirty="0">
                <a:highlight>
                  <a:srgbClr val="FFFF00"/>
                </a:highlight>
              </a:rPr>
              <a:t>sqrt(</a:t>
            </a:r>
            <a:r>
              <a:rPr lang="en-US" sz="2800" dirty="0"/>
              <a:t>4</a:t>
            </a:r>
            <a:r>
              <a:rPr lang="en-US" sz="2800" dirty="0">
                <a:highlight>
                  <a:srgbClr val="FFFF00"/>
                </a:highlight>
              </a:rPr>
              <a:t>) </a:t>
            </a:r>
          </a:p>
          <a:p>
            <a:r>
              <a:rPr lang="en-US" dirty="0" err="1"/>
              <a:t>Filepaths</a:t>
            </a:r>
            <a:r>
              <a:rPr lang="en-US" dirty="0"/>
              <a:t> tell R where our data are saved: </a:t>
            </a:r>
          </a:p>
          <a:p>
            <a:pPr lvl="1"/>
            <a:r>
              <a:rPr lang="en-US" dirty="0"/>
              <a:t>data&lt;-read.csv("</a:t>
            </a:r>
            <a:r>
              <a:rPr lang="en-US" dirty="0">
                <a:highlight>
                  <a:srgbClr val="FFFF00"/>
                </a:highlight>
              </a:rPr>
              <a:t>C:/YOUR_FOLDER/YOUR_SUB_FOLDER/</a:t>
            </a:r>
            <a:r>
              <a:rPr lang="en-US" dirty="0"/>
              <a:t>data.csv")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0188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8504-D265-4138-A50A-155D84BD9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New Content!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8B4E4-A0ED-40AD-92A1-2B6D8D832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6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4F63-F851-4AD1-8C54-AC9B9C5307F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Todays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8EA78-4ED5-4899-ADD1-63BBA8197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Made up and partially AI simulated data from some clinics in NM</a:t>
            </a:r>
          </a:p>
          <a:p>
            <a:r>
              <a:rPr lang="en-US" dirty="0"/>
              <a:t>Info on estimated glomerular filtration rate (a measure of kidney function) and GLP-1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83AD5-E6FF-473D-AF1F-09CA7E3C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010" y="3505554"/>
            <a:ext cx="6734790" cy="25512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96B3CF-C917-4479-ABCA-2F03387D4BA6}"/>
              </a:ext>
            </a:extLst>
          </p:cNvPr>
          <p:cNvSpPr/>
          <p:nvPr/>
        </p:nvSpPr>
        <p:spPr>
          <a:xfrm>
            <a:off x="771787" y="3505554"/>
            <a:ext cx="3699545" cy="3088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Take a minute to look at the data and let me know what you notice/ think about these data in the chat. </a:t>
            </a:r>
          </a:p>
        </p:txBody>
      </p:sp>
    </p:spTree>
    <p:extLst>
      <p:ext uri="{BB962C8B-B14F-4D97-AF65-F5344CB8AC3E}">
        <p14:creationId xmlns:p14="http://schemas.microsoft.com/office/powerpoint/2010/main" val="2228819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0EC3-651C-4FA5-97F6-793F1586CD9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Oh no, there are problems with our data!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B5021-4F97-4AE6-B18C-F2EDCD7F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65565" cy="4351338"/>
          </a:xfrm>
        </p:spPr>
        <p:txBody>
          <a:bodyPr/>
          <a:lstStyle/>
          <a:p>
            <a:r>
              <a:rPr lang="en-US" dirty="0"/>
              <a:t>Duplicates</a:t>
            </a:r>
          </a:p>
          <a:p>
            <a:r>
              <a:rPr lang="en-US" dirty="0"/>
              <a:t>Problems with the cases of the names</a:t>
            </a:r>
          </a:p>
          <a:p>
            <a:r>
              <a:rPr lang="en-US" dirty="0"/>
              <a:t>Two people with same name?</a:t>
            </a:r>
          </a:p>
          <a:p>
            <a:r>
              <a:rPr lang="en-US" dirty="0"/>
              <a:t>Different coding for missing</a:t>
            </a:r>
          </a:p>
          <a:p>
            <a:r>
              <a:rPr lang="en-US" dirty="0"/>
              <a:t>Impossible values  </a:t>
            </a:r>
          </a:p>
          <a:p>
            <a:endParaRPr lang="en-US" dirty="0"/>
          </a:p>
          <a:p>
            <a:r>
              <a:rPr lang="en-US" sz="4000" dirty="0">
                <a:highlight>
                  <a:srgbClr val="FFFF00"/>
                </a:highlight>
              </a:rPr>
              <a:t>WE CAN SOLVE THESE PROBLEMS!!!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1777C-A3A3-4CF2-B45A-52CAF41CD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980" y="2127108"/>
            <a:ext cx="3490881" cy="296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3601D7F4-5CBB-4774-BA01-C431B3C70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770" y="4813184"/>
            <a:ext cx="3635229" cy="204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F8D0C5-FF62-491F-87B2-CDB094B6602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Introducing.. The dollar 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A18E5-75CB-4C2E-B525-430AC9678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$</a:t>
            </a:r>
          </a:p>
          <a:p>
            <a:r>
              <a:rPr lang="en-US" sz="3600" dirty="0"/>
              <a:t>The dollar sign refers to variables within a dataset </a:t>
            </a:r>
          </a:p>
          <a:p>
            <a:r>
              <a:rPr lang="en-US" sz="3600" dirty="0"/>
              <a:t>Like this: </a:t>
            </a:r>
            <a:r>
              <a:rPr lang="en-US" sz="3600" dirty="0" err="1"/>
              <a:t>dataset</a:t>
            </a:r>
            <a:r>
              <a:rPr lang="en-US" sz="3600" dirty="0" err="1">
                <a:highlight>
                  <a:srgbClr val="FFFF00"/>
                </a:highlight>
              </a:rPr>
              <a:t>$</a:t>
            </a:r>
            <a:r>
              <a:rPr lang="en-US" sz="3600" dirty="0" err="1"/>
              <a:t>variable</a:t>
            </a:r>
            <a:r>
              <a:rPr lang="en-US" sz="3600" dirty="0"/>
              <a:t> </a:t>
            </a:r>
          </a:p>
          <a:p>
            <a:pPr lvl="1"/>
            <a:r>
              <a:rPr lang="en-US" sz="3200" dirty="0"/>
              <a:t>We can use this to examine and create variables</a:t>
            </a:r>
          </a:p>
          <a:p>
            <a:pPr lvl="1"/>
            <a:r>
              <a:rPr lang="en-US" sz="3200" dirty="0"/>
              <a:t>We can use this for data cleaning!! </a:t>
            </a:r>
          </a:p>
          <a:p>
            <a:pPr lvl="1"/>
            <a:r>
              <a:rPr lang="en-US" sz="3200" dirty="0"/>
              <a:t>We can use this for simple statistics on variables </a:t>
            </a:r>
          </a:p>
        </p:txBody>
      </p:sp>
    </p:spTree>
    <p:extLst>
      <p:ext uri="{BB962C8B-B14F-4D97-AF65-F5344CB8AC3E}">
        <p14:creationId xmlns:p14="http://schemas.microsoft.com/office/powerpoint/2010/main" val="2319591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E268-BEEC-4A4C-89C6-E179289293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Summary stats (lets look at the data)</a:t>
            </a:r>
          </a:p>
        </p:txBody>
      </p:sp>
    </p:spTree>
    <p:extLst>
      <p:ext uri="{BB962C8B-B14F-4D97-AF65-F5344CB8AC3E}">
        <p14:creationId xmlns:p14="http://schemas.microsoft.com/office/powerpoint/2010/main" val="683808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EC70-442F-4D17-92F8-6EF36867931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Introducing: </a:t>
            </a:r>
            <a:r>
              <a:rPr lang="en-US" dirty="0" err="1"/>
              <a:t>data.frames</a:t>
            </a:r>
            <a:r>
              <a:rPr lang="en-US" dirty="0"/>
              <a:t> and dollar signs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3268-AF58-461A-9CFC-91B745CC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read your csv in it creates a “</a:t>
            </a:r>
            <a:r>
              <a:rPr lang="en-US" dirty="0" err="1"/>
              <a:t>data.frame</a:t>
            </a:r>
            <a:r>
              <a:rPr lang="en-US" dirty="0"/>
              <a:t>” object by default</a:t>
            </a:r>
          </a:p>
          <a:p>
            <a:r>
              <a:rPr lang="en-US" dirty="0" err="1"/>
              <a:t>Dataframes</a:t>
            </a:r>
            <a:r>
              <a:rPr lang="en-US" dirty="0"/>
              <a:t> are easy to work with data formats in R </a:t>
            </a:r>
          </a:p>
          <a:p>
            <a:pPr lvl="1"/>
            <a:r>
              <a:rPr lang="en-US" dirty="0"/>
              <a:t>You can also turn some objects into </a:t>
            </a:r>
            <a:r>
              <a:rPr lang="en-US" dirty="0" err="1"/>
              <a:t>dataframes</a:t>
            </a:r>
            <a:r>
              <a:rPr lang="en-US" dirty="0"/>
              <a:t> </a:t>
            </a:r>
          </a:p>
          <a:p>
            <a:r>
              <a:rPr lang="en-US" dirty="0"/>
              <a:t>The dollar sign ($) says “the thing after this is a variable within this </a:t>
            </a:r>
            <a:r>
              <a:rPr lang="en-US" dirty="0" err="1"/>
              <a:t>dataframe</a:t>
            </a:r>
            <a:r>
              <a:rPr lang="en-US" dirty="0"/>
              <a:t>” 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A37B93-94AD-4B9B-8AC8-573B7148F7DF}"/>
              </a:ext>
            </a:extLst>
          </p:cNvPr>
          <p:cNvCxnSpPr>
            <a:cxnSpLocks/>
          </p:cNvCxnSpPr>
          <p:nvPr/>
        </p:nvCxnSpPr>
        <p:spPr>
          <a:xfrm flipV="1">
            <a:off x="5176007" y="5385733"/>
            <a:ext cx="0" cy="8305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90EAF-FC93-4A93-95B0-AB561F864C90}"/>
              </a:ext>
            </a:extLst>
          </p:cNvPr>
          <p:cNvSpPr/>
          <p:nvPr/>
        </p:nvSpPr>
        <p:spPr>
          <a:xfrm>
            <a:off x="3700943" y="6216243"/>
            <a:ext cx="4790113" cy="528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 tells us a variable from the </a:t>
            </a:r>
            <a:r>
              <a:rPr lang="en-US" dirty="0" err="1"/>
              <a:t>data.frame</a:t>
            </a:r>
            <a:r>
              <a:rPr lang="en-US" dirty="0"/>
              <a:t> is coming next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46856E-909F-4440-B492-957C2C013D39}"/>
              </a:ext>
            </a:extLst>
          </p:cNvPr>
          <p:cNvCxnSpPr>
            <a:cxnSpLocks/>
          </p:cNvCxnSpPr>
          <p:nvPr/>
        </p:nvCxnSpPr>
        <p:spPr>
          <a:xfrm flipH="1">
            <a:off x="4924338" y="3899526"/>
            <a:ext cx="5226341" cy="117029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B387E-11B9-4384-BB03-ACC7B8E427F6}"/>
              </a:ext>
            </a:extLst>
          </p:cNvPr>
          <p:cNvSpPr/>
          <p:nvPr/>
        </p:nvSpPr>
        <p:spPr>
          <a:xfrm>
            <a:off x="10150679" y="3699545"/>
            <a:ext cx="1694576" cy="10989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dirty="0" err="1"/>
              <a:t>dataframe</a:t>
            </a:r>
            <a:r>
              <a:rPr lang="en-US" dirty="0"/>
              <a:t> which is this weeks dataset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2A2D60-6B56-4B82-B1B6-DE252143B2CC}"/>
              </a:ext>
            </a:extLst>
          </p:cNvPr>
          <p:cNvCxnSpPr>
            <a:cxnSpLocks/>
          </p:cNvCxnSpPr>
          <p:nvPr/>
        </p:nvCxnSpPr>
        <p:spPr>
          <a:xfrm flipV="1">
            <a:off x="2416029" y="5385732"/>
            <a:ext cx="1215529" cy="469784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D894F72-17F5-4FED-8BAF-8E6FCED46AEB}"/>
              </a:ext>
            </a:extLst>
          </p:cNvPr>
          <p:cNvSpPr/>
          <p:nvPr/>
        </p:nvSpPr>
        <p:spPr>
          <a:xfrm>
            <a:off x="461394" y="5746458"/>
            <a:ext cx="2088857" cy="92278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summary() function</a:t>
            </a:r>
          </a:p>
          <a:p>
            <a:pPr algn="ctr"/>
            <a:r>
              <a:rPr lang="en-US" dirty="0"/>
              <a:t>Note the parenthesis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7CC312-012B-4266-BF2C-E711ED087FD6}"/>
              </a:ext>
            </a:extLst>
          </p:cNvPr>
          <p:cNvCxnSpPr>
            <a:cxnSpLocks/>
          </p:cNvCxnSpPr>
          <p:nvPr/>
        </p:nvCxnSpPr>
        <p:spPr>
          <a:xfrm flipH="1" flipV="1">
            <a:off x="6014906" y="5215287"/>
            <a:ext cx="3808603" cy="77445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4CEDB88-D066-410A-9110-5263D52B12F5}"/>
              </a:ext>
            </a:extLst>
          </p:cNvPr>
          <p:cNvSpPr/>
          <p:nvPr/>
        </p:nvSpPr>
        <p:spPr>
          <a:xfrm>
            <a:off x="9580228" y="5585713"/>
            <a:ext cx="2265027" cy="9071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variable we are summarizing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01354-E465-4831-9134-61D1E4A39665}"/>
              </a:ext>
            </a:extLst>
          </p:cNvPr>
          <p:cNvSpPr txBox="1"/>
          <p:nvPr/>
        </p:nvSpPr>
        <p:spPr>
          <a:xfrm>
            <a:off x="2898399" y="4953677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summary(</a:t>
            </a:r>
            <a:r>
              <a:rPr lang="en-US" sz="2800" dirty="0" err="1"/>
              <a:t>data$egfr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776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6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88B7-1F1C-42D2-8863-F81868CF968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Summary function for continuous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DAA65-A8C5-46A6-8737-433E0A09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64" y="2330393"/>
            <a:ext cx="8047654" cy="31895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2B6AB4-355A-4D5B-92AA-15648B2EBD4B}"/>
              </a:ext>
            </a:extLst>
          </p:cNvPr>
          <p:cNvSpPr/>
          <p:nvPr/>
        </p:nvSpPr>
        <p:spPr>
          <a:xfrm>
            <a:off x="1537406" y="2734556"/>
            <a:ext cx="4368444" cy="490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292AAC-2B17-4477-AA0E-34CA2F42C2AD}"/>
              </a:ext>
            </a:extLst>
          </p:cNvPr>
          <p:cNvCxnSpPr>
            <a:cxnSpLocks/>
          </p:cNvCxnSpPr>
          <p:nvPr/>
        </p:nvCxnSpPr>
        <p:spPr>
          <a:xfrm flipH="1">
            <a:off x="2483141" y="3224580"/>
            <a:ext cx="192784" cy="15235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171531C-8C24-4884-A631-8D3C82F9DBBD}"/>
              </a:ext>
            </a:extLst>
          </p:cNvPr>
          <p:cNvSpPr/>
          <p:nvPr/>
        </p:nvSpPr>
        <p:spPr>
          <a:xfrm>
            <a:off x="9303391" y="2330393"/>
            <a:ext cx="2068345" cy="4162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 you see anything possibly wrong here? </a:t>
            </a:r>
          </a:p>
        </p:txBody>
      </p:sp>
    </p:spTree>
    <p:extLst>
      <p:ext uri="{BB962C8B-B14F-4D97-AF65-F5344CB8AC3E}">
        <p14:creationId xmlns:p14="http://schemas.microsoft.com/office/powerpoint/2010/main" val="143446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732D893-0DE9-4E68-95A5-967AE6C4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86" y="3997834"/>
            <a:ext cx="6638839" cy="27247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39BDF9-0546-4426-B5C4-455403940B3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table() function for categorical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384B-5F8D-4843-9A9D-B60CD6C8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table(data$took_GLP1, </a:t>
            </a:r>
            <a:r>
              <a:rPr lang="en-US" dirty="0" err="1"/>
              <a:t>useNA</a:t>
            </a:r>
            <a:r>
              <a:rPr lang="en-US" dirty="0"/>
              <a:t>="always")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8B73C-6764-4285-82C6-C5653B6C2E15}"/>
              </a:ext>
            </a:extLst>
          </p:cNvPr>
          <p:cNvSpPr/>
          <p:nvPr/>
        </p:nvSpPr>
        <p:spPr>
          <a:xfrm>
            <a:off x="195962" y="2649070"/>
            <a:ext cx="1378746" cy="9493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function (make a table)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B61A9B-9CB1-490E-AB8E-7C4B429D7A1C}"/>
              </a:ext>
            </a:extLst>
          </p:cNvPr>
          <p:cNvCxnSpPr>
            <a:cxnSpLocks/>
          </p:cNvCxnSpPr>
          <p:nvPr/>
        </p:nvCxnSpPr>
        <p:spPr>
          <a:xfrm flipV="1">
            <a:off x="709880" y="2177938"/>
            <a:ext cx="500973" cy="4747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3C3F3C5-FBF6-4272-82DE-09770F2C87B4}"/>
              </a:ext>
            </a:extLst>
          </p:cNvPr>
          <p:cNvSpPr/>
          <p:nvPr/>
        </p:nvSpPr>
        <p:spPr>
          <a:xfrm>
            <a:off x="1696818" y="3291028"/>
            <a:ext cx="1536048" cy="475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dataset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A21C8-9EBD-4BFC-A84C-F929546DC8C0}"/>
              </a:ext>
            </a:extLst>
          </p:cNvPr>
          <p:cNvCxnSpPr>
            <a:cxnSpLocks/>
          </p:cNvCxnSpPr>
          <p:nvPr/>
        </p:nvCxnSpPr>
        <p:spPr>
          <a:xfrm flipV="1">
            <a:off x="2293812" y="2221988"/>
            <a:ext cx="0" cy="12070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44B8840-300E-465B-902D-5E1B97920D8A}"/>
              </a:ext>
            </a:extLst>
          </p:cNvPr>
          <p:cNvSpPr/>
          <p:nvPr/>
        </p:nvSpPr>
        <p:spPr>
          <a:xfrm>
            <a:off x="4888706" y="3064046"/>
            <a:ext cx="2414588" cy="475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variable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5720B5-5CBA-4008-BC90-F6A6C544CB15}"/>
              </a:ext>
            </a:extLst>
          </p:cNvPr>
          <p:cNvCxnSpPr>
            <a:cxnSpLocks/>
          </p:cNvCxnSpPr>
          <p:nvPr/>
        </p:nvCxnSpPr>
        <p:spPr>
          <a:xfrm flipH="1" flipV="1">
            <a:off x="3962396" y="2284443"/>
            <a:ext cx="1190069" cy="8479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2F96DF-F2E7-476A-88BB-B15E965C30C7}"/>
              </a:ext>
            </a:extLst>
          </p:cNvPr>
          <p:cNvCxnSpPr>
            <a:cxnSpLocks/>
          </p:cNvCxnSpPr>
          <p:nvPr/>
        </p:nvCxnSpPr>
        <p:spPr>
          <a:xfrm flipH="1" flipV="1">
            <a:off x="2751116" y="2187630"/>
            <a:ext cx="1082960" cy="7684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FFF20D3-BF74-4837-9CCB-08C051855395}"/>
              </a:ext>
            </a:extLst>
          </p:cNvPr>
          <p:cNvSpPr/>
          <p:nvPr/>
        </p:nvSpPr>
        <p:spPr>
          <a:xfrm>
            <a:off x="3604902" y="2873680"/>
            <a:ext cx="560293" cy="475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C460F4-CF77-45E1-B321-D2058269A9ED}"/>
              </a:ext>
            </a:extLst>
          </p:cNvPr>
          <p:cNvSpPr/>
          <p:nvPr/>
        </p:nvSpPr>
        <p:spPr>
          <a:xfrm>
            <a:off x="2124635" y="4001294"/>
            <a:ext cx="4368444" cy="490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93A539-BE3A-45DF-B681-F7F31A3C465E}"/>
              </a:ext>
            </a:extLst>
          </p:cNvPr>
          <p:cNvCxnSpPr/>
          <p:nvPr/>
        </p:nvCxnSpPr>
        <p:spPr>
          <a:xfrm flipH="1">
            <a:off x="2641506" y="4491318"/>
            <a:ext cx="621647" cy="18205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F36D388-D768-4BB0-91D6-BDEB27D5EBF5}"/>
              </a:ext>
            </a:extLst>
          </p:cNvPr>
          <p:cNvSpPr/>
          <p:nvPr/>
        </p:nvSpPr>
        <p:spPr>
          <a:xfrm>
            <a:off x="7383181" y="2571870"/>
            <a:ext cx="2884944" cy="475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Include NAs in the table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BA2BAF-13E5-4604-AF30-C176C3698B29}"/>
              </a:ext>
            </a:extLst>
          </p:cNvPr>
          <p:cNvCxnSpPr>
            <a:cxnSpLocks/>
          </p:cNvCxnSpPr>
          <p:nvPr/>
        </p:nvCxnSpPr>
        <p:spPr>
          <a:xfrm flipH="1" flipV="1">
            <a:off x="5827698" y="2284444"/>
            <a:ext cx="1739172" cy="4168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15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  <p:bldP spid="16" grpId="0" animBg="1"/>
      <p:bldP spid="21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56E8-0321-43B4-8CF1-C4F5CADF7B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Lets clean these data</a:t>
            </a:r>
            <a:r>
              <a:rPr lang="en-US" sz="19900" dirty="0"/>
              <a:t>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3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8EAE-7A72-4224-A56B-44259385EA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Removing duplicates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C3C0-DD32-4765-91FC-A2AF083E4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unique() function will keep only unique</a:t>
            </a:r>
          </a:p>
          <a:p>
            <a:r>
              <a:rPr lang="en-US" dirty="0"/>
              <a:t>Here I make a new dataset with only unique</a:t>
            </a:r>
          </a:p>
          <a:p>
            <a:r>
              <a:rPr lang="en-US" dirty="0"/>
              <a:t>data2&lt;-unique(data)</a:t>
            </a: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1E0CE2E3-B3EB-4C63-9B2E-FF19F92FCE7E}"/>
              </a:ext>
            </a:extLst>
          </p:cNvPr>
          <p:cNvSpPr/>
          <p:nvPr/>
        </p:nvSpPr>
        <p:spPr>
          <a:xfrm>
            <a:off x="7112000" y="4662488"/>
            <a:ext cx="4563533" cy="18303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means it removed two duplicates 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27E3E85-C4BF-4FB5-82C0-B0DF7CFAC4E5}"/>
              </a:ext>
            </a:extLst>
          </p:cNvPr>
          <p:cNvSpPr/>
          <p:nvPr/>
        </p:nvSpPr>
        <p:spPr>
          <a:xfrm>
            <a:off x="1151466" y="5163494"/>
            <a:ext cx="1210733" cy="729305"/>
          </a:xfrm>
          <a:prstGeom prst="wedgeRectCallout">
            <a:avLst>
              <a:gd name="adj1" fmla="val -10033"/>
              <a:gd name="adj2" fmla="val -303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dataset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0719526-E658-42C0-8C55-7B8F8B228828}"/>
              </a:ext>
            </a:extLst>
          </p:cNvPr>
          <p:cNvSpPr/>
          <p:nvPr/>
        </p:nvSpPr>
        <p:spPr>
          <a:xfrm>
            <a:off x="2635884" y="5671494"/>
            <a:ext cx="1210733" cy="729305"/>
          </a:xfrm>
          <a:prstGeom prst="wedgeRectCallout">
            <a:avLst>
              <a:gd name="adj1" fmla="val -31365"/>
              <a:gd name="adj2" fmla="val -3686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unique() function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D007F417-5B6E-4BAB-A33F-75CF8DE0523D}"/>
              </a:ext>
            </a:extLst>
          </p:cNvPr>
          <p:cNvSpPr/>
          <p:nvPr/>
        </p:nvSpPr>
        <p:spPr>
          <a:xfrm>
            <a:off x="3953933" y="5239789"/>
            <a:ext cx="1210733" cy="729305"/>
          </a:xfrm>
          <a:prstGeom prst="wedgeRectCallout">
            <a:avLst>
              <a:gd name="adj1" fmla="val -64078"/>
              <a:gd name="adj2" fmla="val -2942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dataset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83CF439-CA4C-46CB-BDF8-B9C4F5B280AF}"/>
              </a:ext>
            </a:extLst>
          </p:cNvPr>
          <p:cNvSpPr/>
          <p:nvPr/>
        </p:nvSpPr>
        <p:spPr>
          <a:xfrm>
            <a:off x="1845731" y="4309533"/>
            <a:ext cx="516468" cy="464308"/>
          </a:xfrm>
          <a:prstGeom prst="wedgeRectCallout">
            <a:avLst>
              <a:gd name="adj1" fmla="val -1615"/>
              <a:gd name="adj2" fmla="val -2762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&lt;-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E89D2-E96F-41F3-9212-AC5377ED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94" y="2911448"/>
            <a:ext cx="6058814" cy="17510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17D82F-D62E-4B0A-B241-BE44C5508568}"/>
              </a:ext>
            </a:extLst>
          </p:cNvPr>
          <p:cNvSpPr/>
          <p:nvPr/>
        </p:nvSpPr>
        <p:spPr>
          <a:xfrm>
            <a:off x="8279935" y="3707935"/>
            <a:ext cx="516468" cy="7298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9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3B55-87AD-4271-ADF7-D10DDB1C8F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Changing capitalization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55C45-E56F-4117-94AE-2D18AD40E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toupper</a:t>
            </a:r>
            <a:r>
              <a:rPr lang="en-US" dirty="0"/>
              <a:t>() function capitalizes the whole variable </a:t>
            </a:r>
          </a:p>
          <a:p>
            <a:r>
              <a:rPr lang="en-US" dirty="0" err="1"/>
              <a:t>data$name</a:t>
            </a:r>
            <a:r>
              <a:rPr lang="en-US" dirty="0"/>
              <a:t>&lt;-</a:t>
            </a:r>
            <a:r>
              <a:rPr lang="en-US" dirty="0" err="1"/>
              <a:t>toupper</a:t>
            </a:r>
            <a:r>
              <a:rPr lang="en-US" dirty="0"/>
              <a:t>(</a:t>
            </a:r>
            <a:r>
              <a:rPr lang="en-US" dirty="0" err="1"/>
              <a:t>data$name</a:t>
            </a:r>
            <a:r>
              <a:rPr lang="en-US" dirty="0"/>
              <a:t>)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DE37B3D8-8E57-4E05-8996-471446BB93C6}"/>
              </a:ext>
            </a:extLst>
          </p:cNvPr>
          <p:cNvSpPr/>
          <p:nvPr/>
        </p:nvSpPr>
        <p:spPr>
          <a:xfrm>
            <a:off x="1032933" y="4621627"/>
            <a:ext cx="2040467" cy="729305"/>
          </a:xfrm>
          <a:prstGeom prst="wedgeRectCallout">
            <a:avLst>
              <a:gd name="adj1" fmla="val -3947"/>
              <a:gd name="adj2" fmla="val -290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Dataset$variable</a:t>
            </a:r>
            <a:endParaRPr lang="en-US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73A7F6F-9D45-445C-AFE2-04FA34CC397A}"/>
              </a:ext>
            </a:extLst>
          </p:cNvPr>
          <p:cNvSpPr/>
          <p:nvPr/>
        </p:nvSpPr>
        <p:spPr>
          <a:xfrm>
            <a:off x="5842000" y="4621627"/>
            <a:ext cx="2040467" cy="729305"/>
          </a:xfrm>
          <a:prstGeom prst="wedgeRectCallout">
            <a:avLst>
              <a:gd name="adj1" fmla="val -68083"/>
              <a:gd name="adj2" fmla="val -2781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Dataset$variable</a:t>
            </a:r>
            <a:endParaRPr lang="en-US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AC5A9D13-9CD1-4E2E-B3C9-996B7101A861}"/>
              </a:ext>
            </a:extLst>
          </p:cNvPr>
          <p:cNvSpPr/>
          <p:nvPr/>
        </p:nvSpPr>
        <p:spPr>
          <a:xfrm>
            <a:off x="3352800" y="4621626"/>
            <a:ext cx="2040467" cy="729305"/>
          </a:xfrm>
          <a:prstGeom prst="wedgeRectCallout">
            <a:avLst>
              <a:gd name="adj1" fmla="val -37248"/>
              <a:gd name="adj2" fmla="val -2942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A18636-D7BF-4B1E-8878-21B7FD44B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28" y="2176383"/>
            <a:ext cx="2162477" cy="1133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743288-A137-45A7-AFCB-B02E2905C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80" y="4803167"/>
            <a:ext cx="2305372" cy="1095528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5D683356-8034-4343-9549-3C4C80311843}"/>
              </a:ext>
            </a:extLst>
          </p:cNvPr>
          <p:cNvSpPr/>
          <p:nvPr/>
        </p:nvSpPr>
        <p:spPr>
          <a:xfrm>
            <a:off x="9440333" y="3429000"/>
            <a:ext cx="1524000" cy="1192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A4C69-EE43-4FBA-B7BF-3B03C91503BC}"/>
              </a:ext>
            </a:extLst>
          </p:cNvPr>
          <p:cNvSpPr/>
          <p:nvPr/>
        </p:nvSpPr>
        <p:spPr>
          <a:xfrm>
            <a:off x="419450" y="5687736"/>
            <a:ext cx="7961152" cy="9731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Here I am writing over the original variable, you can also create a new variable</a:t>
            </a:r>
          </a:p>
        </p:txBody>
      </p:sp>
    </p:spTree>
    <p:extLst>
      <p:ext uri="{BB962C8B-B14F-4D97-AF65-F5344CB8AC3E}">
        <p14:creationId xmlns:p14="http://schemas.microsoft.com/office/powerpoint/2010/main" val="41516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7338-F1EE-401B-BF4D-B6F190E42A3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One way to write over 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13EC2-0801-4E79-A1B9-024DA3615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8184"/>
          </a:xfrm>
        </p:spPr>
        <p:txBody>
          <a:bodyPr/>
          <a:lstStyle/>
          <a:p>
            <a:r>
              <a:rPr lang="en-US" dirty="0"/>
              <a:t>These brackets just say “when this variable is this value, do this”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A3919-8125-49DF-8F2A-C4278ED672C5}"/>
              </a:ext>
            </a:extLst>
          </p:cNvPr>
          <p:cNvSpPr txBox="1"/>
          <p:nvPr/>
        </p:nvSpPr>
        <p:spPr>
          <a:xfrm>
            <a:off x="1095447" y="2405177"/>
            <a:ext cx="93872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data2$egfr[data2$egfr == 9999] &lt;- 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F82F5-DCEB-410F-8E62-E440F0FF5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05177"/>
            <a:ext cx="5378726" cy="44261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06A223-E6AC-4085-B56F-84BEB91DDB59}"/>
              </a:ext>
            </a:extLst>
          </p:cNvPr>
          <p:cNvSpPr/>
          <p:nvPr/>
        </p:nvSpPr>
        <p:spPr>
          <a:xfrm>
            <a:off x="9202724" y="5058562"/>
            <a:ext cx="780176" cy="16526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A40157-55A3-4C78-B126-C2A8E9616F55}"/>
              </a:ext>
            </a:extLst>
          </p:cNvPr>
          <p:cNvSpPr/>
          <p:nvPr/>
        </p:nvSpPr>
        <p:spPr>
          <a:xfrm>
            <a:off x="763398" y="3867325"/>
            <a:ext cx="4874004" cy="2625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There are many other ways to do this– maybe you can try some later today!! </a:t>
            </a:r>
          </a:p>
        </p:txBody>
      </p:sp>
    </p:spTree>
    <p:extLst>
      <p:ext uri="{BB962C8B-B14F-4D97-AF65-F5344CB8AC3E}">
        <p14:creationId xmlns:p14="http://schemas.microsoft.com/office/powerpoint/2010/main" val="428014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C9FF-195B-4756-85E1-539BFFD17B0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Lets make a categorical cutoff for EGFR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A0B6A-279D-4FE9-8D71-A792FF8A10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83"/>
          <a:stretch/>
        </p:blipFill>
        <p:spPr>
          <a:xfrm>
            <a:off x="6091372" y="2500158"/>
            <a:ext cx="5681778" cy="2667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A801FC-7867-4ADA-818E-8D8514292E92}"/>
              </a:ext>
            </a:extLst>
          </p:cNvPr>
          <p:cNvSpPr txBox="1"/>
          <p:nvPr/>
        </p:nvSpPr>
        <p:spPr>
          <a:xfrm>
            <a:off x="838200" y="1690688"/>
            <a:ext cx="52578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eGFR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Recommended cutoffs at 90 for reduced function, 60 for kidney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Continuous in our dataset, lets make it categorical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0696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0A1F-C5B8-45C4-BA76-C6B71291E0F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If else logic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32367-8A8A-4595-AB56-9A392AA7D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23467" cy="4351338"/>
          </a:xfrm>
        </p:spPr>
        <p:txBody>
          <a:bodyPr/>
          <a:lstStyle/>
          <a:p>
            <a:r>
              <a:rPr lang="en-US" dirty="0"/>
              <a:t>Classic coding logic</a:t>
            </a:r>
          </a:p>
          <a:p>
            <a:r>
              <a:rPr lang="en-US" dirty="0"/>
              <a:t>I prefer </a:t>
            </a:r>
            <a:r>
              <a:rPr lang="en-US" dirty="0" err="1"/>
              <a:t>case_when</a:t>
            </a:r>
            <a:r>
              <a:rPr lang="en-US" dirty="0"/>
              <a:t> in r or select when in SQL </a:t>
            </a:r>
          </a:p>
          <a:p>
            <a:r>
              <a:rPr lang="en-US" dirty="0"/>
              <a:t>If else says “if this” do this, “else” do that</a:t>
            </a:r>
          </a:p>
          <a:p>
            <a:r>
              <a:rPr lang="en-US" dirty="0"/>
              <a:t>This can cause problems when “else” is multiple different things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64BF-4937-4956-906E-AE5F5833F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732" y="5198533"/>
            <a:ext cx="3653925" cy="1412025"/>
          </a:xfrm>
          <a:prstGeom prst="rect">
            <a:avLst/>
          </a:prstGeom>
        </p:spPr>
      </p:pic>
      <p:pic>
        <p:nvPicPr>
          <p:cNvPr id="1026" name="Picture 2" descr="If-Else Statements - Tutorial">
            <a:extLst>
              <a:ext uri="{FF2B5EF4-FFF2-40B4-BE49-F238E27FC236}">
                <a16:creationId xmlns:a16="http://schemas.microsoft.com/office/drawing/2014/main" id="{64EBE757-EB74-46C9-AD7D-E3708DD7A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59" y="1960453"/>
            <a:ext cx="5846897" cy="323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53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3058-E4AF-4D3D-A167-E2612CB3326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Making a new variable: option 1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46C15-89EB-40D6-A89B-9CC24D8C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1"/>
            <a:ext cx="10515600" cy="3160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data2$kidney_function &lt;- </a:t>
            </a:r>
            <a:r>
              <a:rPr lang="en-US" sz="2000" dirty="0" err="1"/>
              <a:t>ifelse</a:t>
            </a:r>
            <a:r>
              <a:rPr lang="en-US" sz="2000" dirty="0"/>
              <a:t>(data2$eGFR &gt; 90,c("normal"), c("reduced"))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68597-A47E-403D-88FC-C1517769C160}"/>
              </a:ext>
            </a:extLst>
          </p:cNvPr>
          <p:cNvSpPr/>
          <p:nvPr/>
        </p:nvSpPr>
        <p:spPr>
          <a:xfrm>
            <a:off x="838200" y="1690688"/>
            <a:ext cx="746063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Syntax breakdown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204E6-2C56-4F3B-BAB8-2138A31C3523}"/>
              </a:ext>
            </a:extLst>
          </p:cNvPr>
          <p:cNvSpPr/>
          <p:nvPr/>
        </p:nvSpPr>
        <p:spPr>
          <a:xfrm>
            <a:off x="407893" y="5679467"/>
            <a:ext cx="3388659" cy="826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yourdata$yourNEWvariable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985D76-95BC-4052-BB96-3FDD8E57BE8E}"/>
              </a:ext>
            </a:extLst>
          </p:cNvPr>
          <p:cNvCxnSpPr>
            <a:cxnSpLocks/>
          </p:cNvCxnSpPr>
          <p:nvPr/>
        </p:nvCxnSpPr>
        <p:spPr>
          <a:xfrm flipV="1">
            <a:off x="654341" y="3429000"/>
            <a:ext cx="654507" cy="22504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098FC79-8F8D-4D27-963D-CD561E2B9EF9}"/>
              </a:ext>
            </a:extLst>
          </p:cNvPr>
          <p:cNvSpPr/>
          <p:nvPr/>
        </p:nvSpPr>
        <p:spPr>
          <a:xfrm>
            <a:off x="3294532" y="3030079"/>
            <a:ext cx="434790" cy="3989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7E3FF7-9A98-4B4B-A879-AFC585AEC22A}"/>
              </a:ext>
            </a:extLst>
          </p:cNvPr>
          <p:cNvCxnSpPr>
            <a:cxnSpLocks/>
          </p:cNvCxnSpPr>
          <p:nvPr/>
        </p:nvCxnSpPr>
        <p:spPr>
          <a:xfrm flipV="1">
            <a:off x="3395897" y="3466910"/>
            <a:ext cx="0" cy="6902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DECCB67-8309-4FC9-A435-A03F74ABB423}"/>
              </a:ext>
            </a:extLst>
          </p:cNvPr>
          <p:cNvSpPr/>
          <p:nvPr/>
        </p:nvSpPr>
        <p:spPr>
          <a:xfrm>
            <a:off x="1441035" y="3812051"/>
            <a:ext cx="2169459" cy="146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arrow operator (make an object that is a new variable in this dataset)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C0F010-9C9B-4510-837D-5824773AACE0}"/>
              </a:ext>
            </a:extLst>
          </p:cNvPr>
          <p:cNvCxnSpPr>
            <a:cxnSpLocks/>
          </p:cNvCxnSpPr>
          <p:nvPr/>
        </p:nvCxnSpPr>
        <p:spPr>
          <a:xfrm flipH="1" flipV="1">
            <a:off x="4026716" y="3429000"/>
            <a:ext cx="760437" cy="22504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1D8D314-F140-4BF5-85BA-E5729C8C3EC9}"/>
              </a:ext>
            </a:extLst>
          </p:cNvPr>
          <p:cNvSpPr/>
          <p:nvPr/>
        </p:nvSpPr>
        <p:spPr>
          <a:xfrm>
            <a:off x="4204446" y="5679467"/>
            <a:ext cx="3415553" cy="825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ifelse</a:t>
            </a:r>
            <a:r>
              <a:rPr lang="en-US" dirty="0"/>
              <a:t> function which says “if this do this, if not do that”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FB0E38-B1A8-40DF-BE94-0A67D46119DD}"/>
              </a:ext>
            </a:extLst>
          </p:cNvPr>
          <p:cNvCxnSpPr>
            <a:cxnSpLocks/>
          </p:cNvCxnSpPr>
          <p:nvPr/>
        </p:nvCxnSpPr>
        <p:spPr>
          <a:xfrm flipH="1" flipV="1">
            <a:off x="4948519" y="3343836"/>
            <a:ext cx="133833" cy="10100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DABE699-CDDE-46FD-A56F-534ED5856C64}"/>
              </a:ext>
            </a:extLst>
          </p:cNvPr>
          <p:cNvSpPr/>
          <p:nvPr/>
        </p:nvSpPr>
        <p:spPr>
          <a:xfrm>
            <a:off x="4509245" y="4215765"/>
            <a:ext cx="2805953" cy="466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yourdata$yourOLDvariable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C7C080-DCD9-449A-BC7F-9793CDF092E0}"/>
              </a:ext>
            </a:extLst>
          </p:cNvPr>
          <p:cNvCxnSpPr>
            <a:cxnSpLocks/>
          </p:cNvCxnSpPr>
          <p:nvPr/>
        </p:nvCxnSpPr>
        <p:spPr>
          <a:xfrm flipH="1" flipV="1">
            <a:off x="5662045" y="3343836"/>
            <a:ext cx="3553673" cy="22103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76A9CCD-8BD2-42C1-ABE5-D2E228F28FCD}"/>
              </a:ext>
            </a:extLst>
          </p:cNvPr>
          <p:cNvSpPr/>
          <p:nvPr/>
        </p:nvSpPr>
        <p:spPr>
          <a:xfrm>
            <a:off x="7879975" y="5235556"/>
            <a:ext cx="2662516" cy="825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cutoff, note “&gt;” greater than sign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39733B-8839-492D-892F-DCC5F04BC458}"/>
              </a:ext>
            </a:extLst>
          </p:cNvPr>
          <p:cNvCxnSpPr>
            <a:cxnSpLocks/>
          </p:cNvCxnSpPr>
          <p:nvPr/>
        </p:nvCxnSpPr>
        <p:spPr>
          <a:xfrm flipH="1" flipV="1">
            <a:off x="6769916" y="3429000"/>
            <a:ext cx="2445802" cy="8250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78BC165-627B-4766-A5D7-889503A60C11}"/>
              </a:ext>
            </a:extLst>
          </p:cNvPr>
          <p:cNvSpPr/>
          <p:nvPr/>
        </p:nvSpPr>
        <p:spPr>
          <a:xfrm>
            <a:off x="8412032" y="4094742"/>
            <a:ext cx="2026022" cy="825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of new variable if above cutoff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C955C78-11C9-4518-9C28-F795CDE1B551}"/>
              </a:ext>
            </a:extLst>
          </p:cNvPr>
          <p:cNvCxnSpPr>
            <a:cxnSpLocks/>
          </p:cNvCxnSpPr>
          <p:nvPr/>
        </p:nvCxnSpPr>
        <p:spPr>
          <a:xfrm flipH="1">
            <a:off x="8298832" y="1986388"/>
            <a:ext cx="1819837" cy="10905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E965AB1-B077-4A37-BB28-8A852FFA04F8}"/>
              </a:ext>
            </a:extLst>
          </p:cNvPr>
          <p:cNvSpPr/>
          <p:nvPr/>
        </p:nvSpPr>
        <p:spPr>
          <a:xfrm>
            <a:off x="9723223" y="1828163"/>
            <a:ext cx="2026022" cy="825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of new variable if below cutoff</a:t>
            </a:r>
          </a:p>
        </p:txBody>
      </p:sp>
    </p:spTree>
    <p:extLst>
      <p:ext uri="{BB962C8B-B14F-4D97-AF65-F5344CB8AC3E}">
        <p14:creationId xmlns:p14="http://schemas.microsoft.com/office/powerpoint/2010/main" val="236459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91667E-6 -1.85185E-6 L -2.91667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2" grpId="0" animBg="1"/>
      <p:bldP spid="18" grpId="0" animBg="1"/>
      <p:bldP spid="24" grpId="0" animBg="1"/>
      <p:bldP spid="30" grpId="0" animBg="1"/>
      <p:bldP spid="34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8295-15CB-4F92-962F-784765E2EAC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Making a new variable: Option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F59F8-2BEF-4661-86D2-2BCF9943A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must be run in the session to do this </a:t>
            </a:r>
          </a:p>
          <a:p>
            <a:r>
              <a:rPr lang="en-US" dirty="0"/>
              <a:t>Library(</a:t>
            </a:r>
            <a:r>
              <a:rPr lang="en-US" dirty="0" err="1"/>
              <a:t>tidyverse</a:t>
            </a:r>
            <a:r>
              <a:rPr lang="en-US" dirty="0"/>
              <a:t>) must run first</a:t>
            </a:r>
          </a:p>
          <a:p>
            <a:r>
              <a:rPr lang="en-US" dirty="0"/>
              <a:t>Then</a:t>
            </a:r>
          </a:p>
          <a:p>
            <a:pPr marL="0" indent="0">
              <a:buNone/>
            </a:pPr>
            <a:r>
              <a:rPr lang="en-US" sz="2000" dirty="0"/>
              <a:t>data2 &lt;- data2 %&gt;%  </a:t>
            </a:r>
          </a:p>
          <a:p>
            <a:pPr marL="0" indent="0">
              <a:buNone/>
            </a:pPr>
            <a:r>
              <a:rPr lang="en-US" sz="2000" dirty="0"/>
              <a:t>mutate(kidney_3cat=</a:t>
            </a:r>
            <a:r>
              <a:rPr lang="en-US" sz="2000" dirty="0" err="1"/>
              <a:t>case_when</a:t>
            </a:r>
            <a:r>
              <a:rPr lang="en-US" sz="2000" dirty="0"/>
              <a:t>(</a:t>
            </a:r>
            <a:r>
              <a:rPr lang="en-US" sz="2000" dirty="0" err="1"/>
              <a:t>egfr</a:t>
            </a:r>
            <a:r>
              <a:rPr lang="en-US" sz="2000" dirty="0"/>
              <a:t>&lt;=60~"kidney disease",                               						            </a:t>
            </a:r>
            <a:r>
              <a:rPr lang="en-US" sz="2000" dirty="0" err="1"/>
              <a:t>egfr</a:t>
            </a:r>
            <a:r>
              <a:rPr lang="en-US" sz="2000" dirty="0"/>
              <a:t>&lt;=90 &amp; </a:t>
            </a:r>
            <a:r>
              <a:rPr lang="en-US" sz="2000" dirty="0" err="1"/>
              <a:t>egfr</a:t>
            </a:r>
            <a:r>
              <a:rPr lang="en-US" sz="2000" dirty="0"/>
              <a:t> &gt;60~ "early stage kidney disease",                               			            </a:t>
            </a:r>
            <a:r>
              <a:rPr lang="en-US" sz="2000" dirty="0" err="1"/>
              <a:t>egfr</a:t>
            </a:r>
            <a:r>
              <a:rPr lang="en-US" sz="2000" dirty="0"/>
              <a:t>&gt;90~"normal",                              </a:t>
            </a:r>
          </a:p>
          <a:p>
            <a:pPr marL="0" indent="0">
              <a:buNone/>
            </a:pPr>
            <a:r>
              <a:rPr lang="en-US" sz="2000" dirty="0"/>
              <a:t>			            TRUE~NA))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2DA517-CECF-404E-9952-1193BF27E4BE}"/>
              </a:ext>
            </a:extLst>
          </p:cNvPr>
          <p:cNvSpPr/>
          <p:nvPr/>
        </p:nvSpPr>
        <p:spPr>
          <a:xfrm>
            <a:off x="838200" y="3204755"/>
            <a:ext cx="2189672" cy="5737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534A9E-81B5-405D-AD1A-D53C9864EBEC}"/>
              </a:ext>
            </a:extLst>
          </p:cNvPr>
          <p:cNvCxnSpPr>
            <a:cxnSpLocks/>
          </p:cNvCxnSpPr>
          <p:nvPr/>
        </p:nvCxnSpPr>
        <p:spPr>
          <a:xfrm flipH="1">
            <a:off x="3027872" y="2761129"/>
            <a:ext cx="4439730" cy="57374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A63537B-2D24-455B-93BD-7C0105A4322B}"/>
              </a:ext>
            </a:extLst>
          </p:cNvPr>
          <p:cNvSpPr/>
          <p:nvPr/>
        </p:nvSpPr>
        <p:spPr>
          <a:xfrm>
            <a:off x="7360023" y="2299214"/>
            <a:ext cx="3957918" cy="7888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 your dataset and write over it with a new dataset (NOTE THE ARROW)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1D6697-9EFE-448D-B72F-0F7777FCD56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027874" y="3393399"/>
            <a:ext cx="2371418" cy="2007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52C12-09CA-43D2-8937-29C815708690}"/>
              </a:ext>
            </a:extLst>
          </p:cNvPr>
          <p:cNvSpPr/>
          <p:nvPr/>
        </p:nvSpPr>
        <p:spPr>
          <a:xfrm>
            <a:off x="5399292" y="3143157"/>
            <a:ext cx="3119716" cy="500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thing just means “do this next” in tidy verse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08E157-C820-4693-95E9-3F660F0FDA2E}"/>
              </a:ext>
            </a:extLst>
          </p:cNvPr>
          <p:cNvCxnSpPr>
            <a:cxnSpLocks/>
          </p:cNvCxnSpPr>
          <p:nvPr/>
        </p:nvCxnSpPr>
        <p:spPr>
          <a:xfrm flipV="1">
            <a:off x="2018582" y="4050722"/>
            <a:ext cx="1" cy="12675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7D3B69E-2BDC-4AA0-AD9C-F50EEB4CCC37}"/>
              </a:ext>
            </a:extLst>
          </p:cNvPr>
          <p:cNvSpPr/>
          <p:nvPr/>
        </p:nvSpPr>
        <p:spPr>
          <a:xfrm>
            <a:off x="178280" y="4874629"/>
            <a:ext cx="3245224" cy="6544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 name of the new variable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2186D4-524F-49DB-94AC-B192192E6DE1}"/>
              </a:ext>
            </a:extLst>
          </p:cNvPr>
          <p:cNvCxnSpPr>
            <a:cxnSpLocks/>
          </p:cNvCxnSpPr>
          <p:nvPr/>
        </p:nvCxnSpPr>
        <p:spPr>
          <a:xfrm flipH="1" flipV="1">
            <a:off x="5550972" y="5113369"/>
            <a:ext cx="910466" cy="5886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5C8803C-FD74-4A0F-A8A4-E6C115838408}"/>
              </a:ext>
            </a:extLst>
          </p:cNvPr>
          <p:cNvSpPr/>
          <p:nvPr/>
        </p:nvSpPr>
        <p:spPr>
          <a:xfrm>
            <a:off x="10215409" y="3484031"/>
            <a:ext cx="1840852" cy="1896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 name of the old variable, the cutoff and the new value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117141-B1C8-4212-B8E5-8F21E7D3D417}"/>
              </a:ext>
            </a:extLst>
          </p:cNvPr>
          <p:cNvCxnSpPr>
            <a:cxnSpLocks/>
          </p:cNvCxnSpPr>
          <p:nvPr/>
        </p:nvCxnSpPr>
        <p:spPr>
          <a:xfrm flipH="1" flipV="1">
            <a:off x="3597215" y="4050723"/>
            <a:ext cx="118237" cy="18968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C0EF5EE-9225-4989-8440-36B5F0C03521}"/>
              </a:ext>
            </a:extLst>
          </p:cNvPr>
          <p:cNvSpPr/>
          <p:nvPr/>
        </p:nvSpPr>
        <p:spPr>
          <a:xfrm>
            <a:off x="2535069" y="5818841"/>
            <a:ext cx="2864223" cy="9861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case_when</a:t>
            </a:r>
            <a:r>
              <a:rPr lang="en-US" sz="2000" dirty="0"/>
              <a:t> is similar to</a:t>
            </a:r>
          </a:p>
          <a:p>
            <a:pPr algn="ctr"/>
            <a:r>
              <a:rPr lang="en-US" sz="2000" dirty="0" err="1"/>
              <a:t>Ifelse</a:t>
            </a:r>
            <a:r>
              <a:rPr lang="en-US" sz="2000" dirty="0"/>
              <a:t>, it means when this do this, when this do this 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6501AC-2985-4E04-891D-1F964BF479BA}"/>
              </a:ext>
            </a:extLst>
          </p:cNvPr>
          <p:cNvSpPr/>
          <p:nvPr/>
        </p:nvSpPr>
        <p:spPr>
          <a:xfrm>
            <a:off x="5737411" y="5648850"/>
            <a:ext cx="3245224" cy="6544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If conditions are not met, make it NA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EB0EB93F-15AB-40BB-B604-55B554B216D0}"/>
              </a:ext>
            </a:extLst>
          </p:cNvPr>
          <p:cNvSpPr/>
          <p:nvPr/>
        </p:nvSpPr>
        <p:spPr>
          <a:xfrm>
            <a:off x="9387273" y="3475063"/>
            <a:ext cx="828136" cy="2030774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5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5" grpId="0" animBg="1"/>
      <p:bldP spid="17" grpId="0" animBg="1"/>
      <p:bldP spid="22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C650C3-1876-4C04-8D51-6A4D8B77AA4A}"/>
              </a:ext>
            </a:extLst>
          </p:cNvPr>
          <p:cNvCxnSpPr>
            <a:cxnSpLocks/>
          </p:cNvCxnSpPr>
          <p:nvPr/>
        </p:nvCxnSpPr>
        <p:spPr>
          <a:xfrm flipH="1" flipV="1">
            <a:off x="4169705" y="4233467"/>
            <a:ext cx="285754" cy="5847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4C26DD-EE41-437B-ACF2-1CABE3FF9724}"/>
              </a:ext>
            </a:extLst>
          </p:cNvPr>
          <p:cNvCxnSpPr>
            <a:cxnSpLocks/>
          </p:cNvCxnSpPr>
          <p:nvPr/>
        </p:nvCxnSpPr>
        <p:spPr>
          <a:xfrm flipV="1">
            <a:off x="1396250" y="4271356"/>
            <a:ext cx="192741" cy="10936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C296D9F-A90D-4820-9E18-C55495F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Aggregating a continuous variable by a categorical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D6918-02FD-4CE3-B656-7AE59AC64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I want the mean eGFR in each category of sodium intake</a:t>
            </a:r>
          </a:p>
          <a:p>
            <a:pPr lvl="1"/>
            <a:r>
              <a:rPr lang="en-US" dirty="0"/>
              <a:t>(or means for the topics you are working on in your data)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Enter, the aggregate function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aggregate(eGFR~took_GLP1, data2,mean)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E1491-0C6D-4B31-8572-CAB30E121F24}"/>
              </a:ext>
            </a:extLst>
          </p:cNvPr>
          <p:cNvSpPr/>
          <p:nvPr/>
        </p:nvSpPr>
        <p:spPr>
          <a:xfrm>
            <a:off x="304796" y="4722089"/>
            <a:ext cx="2375647" cy="744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function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BC274C-0428-404E-90AD-2CF814C5111B}"/>
              </a:ext>
            </a:extLst>
          </p:cNvPr>
          <p:cNvCxnSpPr>
            <a:cxnSpLocks/>
          </p:cNvCxnSpPr>
          <p:nvPr/>
        </p:nvCxnSpPr>
        <p:spPr>
          <a:xfrm flipV="1">
            <a:off x="2938174" y="4233467"/>
            <a:ext cx="1" cy="164987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6877F00-3B6E-4B40-824A-EF6222601C16}"/>
              </a:ext>
            </a:extLst>
          </p:cNvPr>
          <p:cNvSpPr/>
          <p:nvPr/>
        </p:nvSpPr>
        <p:spPr>
          <a:xfrm>
            <a:off x="1080243" y="5748524"/>
            <a:ext cx="2720792" cy="744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continuous variable you want aggregated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B2455-E4F2-4173-9CFD-4640DDB6F7B6}"/>
              </a:ext>
            </a:extLst>
          </p:cNvPr>
          <p:cNvSpPr/>
          <p:nvPr/>
        </p:nvSpPr>
        <p:spPr>
          <a:xfrm>
            <a:off x="3471579" y="4622846"/>
            <a:ext cx="2398744" cy="1132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categorical variable you want the continuous variable grouped by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8A2F64-F96D-42C7-8EC0-71B9035A8A03}"/>
              </a:ext>
            </a:extLst>
          </p:cNvPr>
          <p:cNvCxnSpPr>
            <a:cxnSpLocks/>
          </p:cNvCxnSpPr>
          <p:nvPr/>
        </p:nvCxnSpPr>
        <p:spPr>
          <a:xfrm flipH="1" flipV="1">
            <a:off x="5553513" y="4233467"/>
            <a:ext cx="1476461" cy="16566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84BDF8F-2838-4048-82C4-46DFB66FC963}"/>
              </a:ext>
            </a:extLst>
          </p:cNvPr>
          <p:cNvSpPr/>
          <p:nvPr/>
        </p:nvSpPr>
        <p:spPr>
          <a:xfrm>
            <a:off x="5658966" y="5840720"/>
            <a:ext cx="2275906" cy="6856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data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516509-33F8-49FF-B1B9-F857BD2D76F6}"/>
              </a:ext>
            </a:extLst>
          </p:cNvPr>
          <p:cNvCxnSpPr>
            <a:cxnSpLocks/>
          </p:cNvCxnSpPr>
          <p:nvPr/>
        </p:nvCxnSpPr>
        <p:spPr>
          <a:xfrm flipH="1">
            <a:off x="6350466" y="2859941"/>
            <a:ext cx="2612558" cy="10241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A44054-564A-4C8B-B68A-10FBBD670C74}"/>
              </a:ext>
            </a:extLst>
          </p:cNvPr>
          <p:cNvSpPr/>
          <p:nvPr/>
        </p:nvSpPr>
        <p:spPr>
          <a:xfrm>
            <a:off x="8910003" y="2639844"/>
            <a:ext cx="2275906" cy="1508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statistic you want</a:t>
            </a:r>
          </a:p>
          <a:p>
            <a:pPr algn="ctr"/>
            <a:r>
              <a:rPr lang="en-US" dirty="0"/>
              <a:t>Can be means, sums, medians, </a:t>
            </a:r>
            <a:r>
              <a:rPr lang="en-US" dirty="0" err="1"/>
              <a:t>etc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Here is a mean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373DC5-F6D2-47CA-9601-1E24A7176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913" y="4448910"/>
            <a:ext cx="3946024" cy="177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8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  <p:bldP spid="17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C59E-2417-4E87-8ABA-C2DA6762F66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 table with two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69E39-F7ED-436D-A6EF-411258CFE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Pretty similar to one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63831-9FCD-46FA-8588-44FB45BC021B}"/>
              </a:ext>
            </a:extLst>
          </p:cNvPr>
          <p:cNvSpPr/>
          <p:nvPr/>
        </p:nvSpPr>
        <p:spPr>
          <a:xfrm>
            <a:off x="7561729" y="4295029"/>
            <a:ext cx="3316941" cy="1860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code at the end adds some nice labels, (optional) which appear in same order as the variables did earlier in this code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E64F73-361C-43A9-BEF7-E8B7453CC728}"/>
              </a:ext>
            </a:extLst>
          </p:cNvPr>
          <p:cNvSpPr/>
          <p:nvPr/>
        </p:nvSpPr>
        <p:spPr>
          <a:xfrm>
            <a:off x="1604682" y="3119718"/>
            <a:ext cx="1783979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variable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3754B65-F25C-4F8A-A816-ECC97B057237}"/>
              </a:ext>
            </a:extLst>
          </p:cNvPr>
          <p:cNvSpPr/>
          <p:nvPr/>
        </p:nvSpPr>
        <p:spPr>
          <a:xfrm rot="5400000">
            <a:off x="2355360" y="1996772"/>
            <a:ext cx="372267" cy="1873624"/>
          </a:xfrm>
          <a:prstGeom prst="rightBrace">
            <a:avLst>
              <a:gd name="adj1" fmla="val 8333"/>
              <a:gd name="adj2" fmla="val 51435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7730D-86BC-4BCF-88C7-F7C0CB454791}"/>
              </a:ext>
            </a:extLst>
          </p:cNvPr>
          <p:cNvSpPr/>
          <p:nvPr/>
        </p:nvSpPr>
        <p:spPr>
          <a:xfrm>
            <a:off x="3657601" y="3191435"/>
            <a:ext cx="2705842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Second variable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84A7029-97CD-4547-80AF-488A3C216D4D}"/>
              </a:ext>
            </a:extLst>
          </p:cNvPr>
          <p:cNvSpPr/>
          <p:nvPr/>
        </p:nvSpPr>
        <p:spPr>
          <a:xfrm rot="5400000">
            <a:off x="4657530" y="1819238"/>
            <a:ext cx="332278" cy="2332139"/>
          </a:xfrm>
          <a:prstGeom prst="rightBrace">
            <a:avLst>
              <a:gd name="adj1" fmla="val 8333"/>
              <a:gd name="adj2" fmla="val 51435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2EEB5CB8-7B39-4F55-8F3B-E2854730C2E3}"/>
              </a:ext>
            </a:extLst>
          </p:cNvPr>
          <p:cNvSpPr/>
          <p:nvPr/>
        </p:nvSpPr>
        <p:spPr>
          <a:xfrm rot="5400000">
            <a:off x="8301683" y="762367"/>
            <a:ext cx="314345" cy="4400357"/>
          </a:xfrm>
          <a:prstGeom prst="rightBrace">
            <a:avLst>
              <a:gd name="adj1" fmla="val 8333"/>
              <a:gd name="adj2" fmla="val 51435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A3EF16-C0E3-4AD6-AFF1-AAE004EB2F51}"/>
              </a:ext>
            </a:extLst>
          </p:cNvPr>
          <p:cNvCxnSpPr>
            <a:cxnSpLocks/>
          </p:cNvCxnSpPr>
          <p:nvPr/>
        </p:nvCxnSpPr>
        <p:spPr>
          <a:xfrm>
            <a:off x="8422547" y="3389922"/>
            <a:ext cx="685594" cy="109243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89189F-106F-4D99-A317-C4B2781A8B38}"/>
              </a:ext>
            </a:extLst>
          </p:cNvPr>
          <p:cNvCxnSpPr/>
          <p:nvPr/>
        </p:nvCxnSpPr>
        <p:spPr>
          <a:xfrm flipV="1">
            <a:off x="1093694" y="2747450"/>
            <a:ext cx="0" cy="20486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5988121-2D64-4473-B6D3-D4D17307B656}"/>
              </a:ext>
            </a:extLst>
          </p:cNvPr>
          <p:cNvSpPr/>
          <p:nvPr/>
        </p:nvSpPr>
        <p:spPr>
          <a:xfrm>
            <a:off x="726141" y="4482353"/>
            <a:ext cx="1138518" cy="1021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table() function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F56799-A3CE-47D3-BC84-1ECD25150238}"/>
              </a:ext>
            </a:extLst>
          </p:cNvPr>
          <p:cNvSpPr txBox="1"/>
          <p:nvPr/>
        </p:nvSpPr>
        <p:spPr>
          <a:xfrm>
            <a:off x="838200" y="2195685"/>
            <a:ext cx="10040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table(data2$has_diabetes, data2$kidney_function, </a:t>
            </a:r>
            <a:r>
              <a:rPr lang="en-US" sz="2000" dirty="0" err="1"/>
              <a:t>dnn</a:t>
            </a:r>
            <a:r>
              <a:rPr lang="en-US" sz="2000" dirty="0"/>
              <a:t>=c("</a:t>
            </a:r>
            <a:r>
              <a:rPr lang="en-US" sz="2000" dirty="0" err="1"/>
              <a:t>has_diabetes</a:t>
            </a:r>
            <a:r>
              <a:rPr lang="en-US" sz="2000" dirty="0"/>
              <a:t>", "Kidney function") )</a:t>
            </a:r>
          </a:p>
        </p:txBody>
      </p:sp>
    </p:spTree>
    <p:extLst>
      <p:ext uri="{BB962C8B-B14F-4D97-AF65-F5344CB8AC3E}">
        <p14:creationId xmlns:p14="http://schemas.microsoft.com/office/powerpoint/2010/main" val="417522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D5A5-3AAE-4FFA-8EC9-0F2D4F9BEF4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Next week: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0641-A7AA-4BC7-8FA6-258660379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Next week I will do a little more data cleaning before transitioning into joins/ merges</a:t>
            </a:r>
          </a:p>
          <a:p>
            <a:r>
              <a:rPr lang="en-US" sz="4000" dirty="0"/>
              <a:t>Bing your own data and we can do some live collaboration! </a:t>
            </a:r>
          </a:p>
        </p:txBody>
      </p:sp>
    </p:spTree>
    <p:extLst>
      <p:ext uri="{BB962C8B-B14F-4D97-AF65-F5344CB8AC3E}">
        <p14:creationId xmlns:p14="http://schemas.microsoft.com/office/powerpoint/2010/main" val="753284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D5DA-D5B2-43DD-A89C-E4D79A68C0E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LETS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45A0-5106-4731-9B32-2262318C5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Email me with questions: </a:t>
            </a:r>
          </a:p>
          <a:p>
            <a:r>
              <a:rPr lang="en-US" sz="4000" dirty="0"/>
              <a:t>samswift@salud.unm.edu</a:t>
            </a:r>
          </a:p>
        </p:txBody>
      </p:sp>
    </p:spTree>
    <p:extLst>
      <p:ext uri="{BB962C8B-B14F-4D97-AF65-F5344CB8AC3E}">
        <p14:creationId xmlns:p14="http://schemas.microsoft.com/office/powerpoint/2010/main" val="88403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6082</TotalTime>
  <Words>1365</Words>
  <Application>Microsoft Office PowerPoint</Application>
  <PresentationFormat>Widescreen</PresentationFormat>
  <Paragraphs>177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Workshop #2</vt:lpstr>
      <vt:lpstr>Presentation Contents </vt:lpstr>
      <vt:lpstr>Review Content</vt:lpstr>
      <vt:lpstr>What is an object? (in R!!)</vt:lpstr>
      <vt:lpstr>What is a function? (in R) </vt:lpstr>
      <vt:lpstr>What is a Package? (in R) </vt:lpstr>
      <vt:lpstr>PowerPoint Presentation</vt:lpstr>
      <vt:lpstr>Important Syntax </vt:lpstr>
      <vt:lpstr>New Content! </vt:lpstr>
      <vt:lpstr>Todays data</vt:lpstr>
      <vt:lpstr>Oh no, there are problems with our data! </vt:lpstr>
      <vt:lpstr>Introducing.. The dollar sign</vt:lpstr>
      <vt:lpstr>Summary stats (lets look at the data)</vt:lpstr>
      <vt:lpstr>Introducing: data.frames and dollar signs </vt:lpstr>
      <vt:lpstr>Summary function for continuous variables</vt:lpstr>
      <vt:lpstr>table() function for categorical variables </vt:lpstr>
      <vt:lpstr>Lets clean these data🧹</vt:lpstr>
      <vt:lpstr>Removing duplicates </vt:lpstr>
      <vt:lpstr>Changing capitalization </vt:lpstr>
      <vt:lpstr>One way to write over NAs</vt:lpstr>
      <vt:lpstr>Lets make a categorical cutoff for EGFR</vt:lpstr>
      <vt:lpstr>If else logic </vt:lpstr>
      <vt:lpstr>Making a new variable: option 1  </vt:lpstr>
      <vt:lpstr>Making a new variable: Option 2</vt:lpstr>
      <vt:lpstr>Aggregating a continuous variable by a categorical one</vt:lpstr>
      <vt:lpstr>A table with two variables </vt:lpstr>
      <vt:lpstr>Next week: </vt:lpstr>
      <vt:lpstr>LETS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Data Week 3</dc:title>
  <dc:creator>Samuel L Swift</dc:creator>
  <cp:lastModifiedBy>Samuel L Swift</cp:lastModifiedBy>
  <cp:revision>80</cp:revision>
  <dcterms:created xsi:type="dcterms:W3CDTF">2025-06-12T14:28:51Z</dcterms:created>
  <dcterms:modified xsi:type="dcterms:W3CDTF">2026-08-24T20:39:48Z</dcterms:modified>
</cp:coreProperties>
</file>