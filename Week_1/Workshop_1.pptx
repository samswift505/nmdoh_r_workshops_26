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9" r:id="rId3"/>
    <p:sldId id="316" r:id="rId4"/>
    <p:sldId id="317" r:id="rId5"/>
    <p:sldId id="318" r:id="rId6"/>
    <p:sldId id="319" r:id="rId7"/>
    <p:sldId id="257" r:id="rId8"/>
    <p:sldId id="312" r:id="rId9"/>
    <p:sldId id="313" r:id="rId10"/>
    <p:sldId id="288" r:id="rId11"/>
    <p:sldId id="314" r:id="rId12"/>
    <p:sldId id="280" r:id="rId13"/>
    <p:sldId id="281" r:id="rId14"/>
    <p:sldId id="287" r:id="rId15"/>
    <p:sldId id="283" r:id="rId16"/>
    <p:sldId id="284" r:id="rId17"/>
    <p:sldId id="297" r:id="rId18"/>
    <p:sldId id="258" r:id="rId19"/>
    <p:sldId id="290" r:id="rId20"/>
    <p:sldId id="291" r:id="rId21"/>
    <p:sldId id="292" r:id="rId22"/>
    <p:sldId id="293" r:id="rId23"/>
    <p:sldId id="294" r:id="rId24"/>
    <p:sldId id="295" r:id="rId25"/>
    <p:sldId id="296" r:id="rId26"/>
    <p:sldId id="298" r:id="rId27"/>
    <p:sldId id="300" r:id="rId28"/>
    <p:sldId id="285" r:id="rId29"/>
    <p:sldId id="301" r:id="rId30"/>
    <p:sldId id="286" r:id="rId31"/>
    <p:sldId id="303" r:id="rId32"/>
    <p:sldId id="304" r:id="rId33"/>
    <p:sldId id="306" r:id="rId34"/>
    <p:sldId id="307" r:id="rId35"/>
    <p:sldId id="305" r:id="rId36"/>
    <p:sldId id="260" r:id="rId37"/>
    <p:sldId id="261" r:id="rId38"/>
    <p:sldId id="262" r:id="rId39"/>
    <p:sldId id="263" r:id="rId40"/>
    <p:sldId id="310" r:id="rId41"/>
    <p:sldId id="311" r:id="rId42"/>
    <p:sldId id="302" r:id="rId43"/>
    <p:sldId id="315"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6" d="100"/>
          <a:sy n="76" d="100"/>
        </p:scale>
        <p:origin x="26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4BD7B-9AF7-4D01-BB80-3DA0E3C08C20}"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286019-96E4-484C-8761-42C31D16AF9D}" type="slidenum">
              <a:rPr lang="en-US" smtClean="0"/>
              <a:t>‹#›</a:t>
            </a:fld>
            <a:endParaRPr lang="en-US"/>
          </a:p>
        </p:txBody>
      </p:sp>
    </p:spTree>
    <p:extLst>
      <p:ext uri="{BB962C8B-B14F-4D97-AF65-F5344CB8AC3E}">
        <p14:creationId xmlns:p14="http://schemas.microsoft.com/office/powerpoint/2010/main" val="3058524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R is a language and programming environment that can be used for statistical computing and graphics. It was developed by statisticians so it is particularly well suited for statistical analysis. It can also be used as a storage facility.</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One big advantage of R is that it is open source so it is free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There is</a:t>
            </a:r>
            <a:r>
              <a:rPr lang="en-US" sz="1200" b="0" i="0" kern="1200" baseline="0" dirty="0">
                <a:solidFill>
                  <a:schemeClr val="tx1"/>
                </a:solidFill>
                <a:effectLst/>
                <a:latin typeface="+mn-lt"/>
                <a:ea typeface="+mn-ea"/>
                <a:cs typeface="+mn-cs"/>
              </a:rPr>
              <a:t> a large online community to support users</a:t>
            </a:r>
          </a:p>
          <a:p>
            <a:pPr marL="171450" indent="-171450">
              <a:buFont typeface="Arial" panose="020B0604020202020204" pitchFamily="34" charset="0"/>
              <a:buChar char="•"/>
            </a:pPr>
            <a:r>
              <a:rPr lang="en-US" sz="1200" b="0" i="0" kern="1200" baseline="0" dirty="0">
                <a:solidFill>
                  <a:schemeClr val="tx1"/>
                </a:solidFill>
                <a:effectLst/>
                <a:latin typeface="+mn-lt"/>
                <a:ea typeface="+mn-ea"/>
                <a:cs typeface="+mn-cs"/>
              </a:rPr>
              <a:t>R is customizable using “packages” that can be downloaded as needed. R has over 10,000 packages in the Comprehensive R Archive Network (CRAN) repository.</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There are</a:t>
            </a:r>
            <a:r>
              <a:rPr lang="en-US" sz="1200" b="0" i="0" kern="1200" baseline="0" dirty="0">
                <a:solidFill>
                  <a:schemeClr val="tx1"/>
                </a:solidFill>
                <a:effectLst/>
                <a:latin typeface="+mn-lt"/>
                <a:ea typeface="+mn-ea"/>
                <a:cs typeface="+mn-cs"/>
              </a:rPr>
              <a:t> a number of online trainings, manuals, and books that are freely available online to support users</a:t>
            </a:r>
            <a:endParaRPr lang="en-US" dirty="0"/>
          </a:p>
        </p:txBody>
      </p:sp>
      <p:sp>
        <p:nvSpPr>
          <p:cNvPr id="4" name="Slide Number Placeholder 3"/>
          <p:cNvSpPr>
            <a:spLocks noGrp="1"/>
          </p:cNvSpPr>
          <p:nvPr>
            <p:ph type="sldNum" sz="quarter" idx="10"/>
          </p:nvPr>
        </p:nvSpPr>
        <p:spPr/>
        <p:txBody>
          <a:bodyPr/>
          <a:lstStyle/>
          <a:p>
            <a:fld id="{DFE78B7F-251D-4996-A9B9-0216E42F67F0}" type="slidenum">
              <a:rPr lang="en-US" smtClean="0"/>
              <a:t>12</a:t>
            </a:fld>
            <a:endParaRPr lang="en-US"/>
          </a:p>
        </p:txBody>
      </p:sp>
    </p:spTree>
    <p:extLst>
      <p:ext uri="{BB962C8B-B14F-4D97-AF65-F5344CB8AC3E}">
        <p14:creationId xmlns:p14="http://schemas.microsoft.com/office/powerpoint/2010/main" val="184361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While</a:t>
            </a:r>
            <a:r>
              <a:rPr lang="en-US" baseline="0" dirty="0"/>
              <a:t> there are many advantages to working in R, it is also important to note that there are some disadvantages</a:t>
            </a:r>
            <a:endParaRPr lang="en-US" dirty="0"/>
          </a:p>
        </p:txBody>
      </p:sp>
      <p:sp>
        <p:nvSpPr>
          <p:cNvPr id="4" name="Slide Number Placeholder 3"/>
          <p:cNvSpPr>
            <a:spLocks noGrp="1"/>
          </p:cNvSpPr>
          <p:nvPr>
            <p:ph type="sldNum" sz="quarter" idx="10"/>
          </p:nvPr>
        </p:nvSpPr>
        <p:spPr/>
        <p:txBody>
          <a:bodyPr/>
          <a:lstStyle/>
          <a:p>
            <a:fld id="{DFE78B7F-251D-4996-A9B9-0216E42F67F0}" type="slidenum">
              <a:rPr lang="en-US" smtClean="0"/>
              <a:t>13</a:t>
            </a:fld>
            <a:endParaRPr lang="en-US"/>
          </a:p>
        </p:txBody>
      </p:sp>
    </p:spTree>
    <p:extLst>
      <p:ext uri="{BB962C8B-B14F-4D97-AF65-F5344CB8AC3E}">
        <p14:creationId xmlns:p14="http://schemas.microsoft.com/office/powerpoint/2010/main" val="878904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DFE78B7F-251D-4996-A9B9-0216E42F67F0}" type="slidenum">
              <a:rPr lang="en-US" smtClean="0"/>
              <a:t>30</a:t>
            </a:fld>
            <a:endParaRPr lang="en-US"/>
          </a:p>
        </p:txBody>
      </p:sp>
    </p:spTree>
    <p:extLst>
      <p:ext uri="{BB962C8B-B14F-4D97-AF65-F5344CB8AC3E}">
        <p14:creationId xmlns:p14="http://schemas.microsoft.com/office/powerpoint/2010/main" val="3289512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C2E2-CC43-4352-B863-385D8C94A5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A8AD1E-39A5-4566-A663-948FC0157F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B7D92F-B876-4C74-8648-5FEF9EC583B4}"/>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5" name="Footer Placeholder 4">
            <a:extLst>
              <a:ext uri="{FF2B5EF4-FFF2-40B4-BE49-F238E27FC236}">
                <a16:creationId xmlns:a16="http://schemas.microsoft.com/office/drawing/2014/main" id="{402C83DD-306C-4E15-8A53-8DD8E0329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B6A4B-2523-45B1-BBB3-6749DDA1019F}"/>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2097952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E490F-94DF-4720-A236-4A7DB9DF68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F677B7-A29A-4226-A886-6DCD608542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4CFBA-29AF-4252-9BE0-46434AD0CCF6}"/>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5" name="Footer Placeholder 4">
            <a:extLst>
              <a:ext uri="{FF2B5EF4-FFF2-40B4-BE49-F238E27FC236}">
                <a16:creationId xmlns:a16="http://schemas.microsoft.com/office/drawing/2014/main" id="{6439BEB3-5E87-4642-A4DE-40027C5ED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4B7AA-3296-4E94-98BD-FA893946A00F}"/>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487539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71471-C711-4513-955F-163A67E3E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680075-EEA2-4D44-9D97-3E68CB21C9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E66066-5ADD-4D11-B1A7-97EDFD971D63}"/>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5" name="Footer Placeholder 4">
            <a:extLst>
              <a:ext uri="{FF2B5EF4-FFF2-40B4-BE49-F238E27FC236}">
                <a16:creationId xmlns:a16="http://schemas.microsoft.com/office/drawing/2014/main" id="{F89EBBC9-D2D3-477B-9778-2217FABCD4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90401-4EF7-4901-AAC6-2E3A98AEC0E3}"/>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3345394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888B-6B9B-461E-8A6A-8D44588BD7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2CEC8C-4379-4CF8-A5ED-AF4155CF8C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2A397D-CBBB-4BFC-BCFB-782DDD74D7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8793A9-C4DE-4AFA-88B5-EDC7AA3610FD}"/>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6" name="Footer Placeholder 5">
            <a:extLst>
              <a:ext uri="{FF2B5EF4-FFF2-40B4-BE49-F238E27FC236}">
                <a16:creationId xmlns:a16="http://schemas.microsoft.com/office/drawing/2014/main" id="{709C220A-F899-4753-86CF-F80ED9B190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9D26A3-87F5-4673-A128-35340D846B61}"/>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1978620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0B566-B3DD-4635-A008-B6AD8B62D3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454052-2637-48ED-91BD-58C252BB2B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E38F7A-CEC9-4D56-BCCD-619E0D82D9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A4290-E8B3-4CBF-B3B4-1ABA5C2278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0C2CDD-2C37-4DC9-AA90-70A81EF20E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EF1432-D67A-4E07-B2DD-B407D64D42DA}"/>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8" name="Footer Placeholder 7">
            <a:extLst>
              <a:ext uri="{FF2B5EF4-FFF2-40B4-BE49-F238E27FC236}">
                <a16:creationId xmlns:a16="http://schemas.microsoft.com/office/drawing/2014/main" id="{87546FF0-C3EC-4149-A1F5-8B2F1F367F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DE9490-2DA9-404F-852C-180142F1CF14}"/>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928614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3772C-AA37-4BE6-9EE5-34A30348B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601238-55A8-4A13-9ED4-1B7AB3E3B124}"/>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4" name="Footer Placeholder 3">
            <a:extLst>
              <a:ext uri="{FF2B5EF4-FFF2-40B4-BE49-F238E27FC236}">
                <a16:creationId xmlns:a16="http://schemas.microsoft.com/office/drawing/2014/main" id="{344BBF8E-D32A-47CA-ADFD-BCB29BE714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B0D5FB-D7B4-4038-A692-AB3EF074D5A3}"/>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1163930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2269B6-B039-4E92-A41C-1BAA2E601246}"/>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3" name="Footer Placeholder 2">
            <a:extLst>
              <a:ext uri="{FF2B5EF4-FFF2-40B4-BE49-F238E27FC236}">
                <a16:creationId xmlns:a16="http://schemas.microsoft.com/office/drawing/2014/main" id="{544F98EB-FC94-4C40-814C-4614BAEE98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8A3F66-980D-41BA-89C7-39FCF4ADD190}"/>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494476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61FE-ABB0-4081-8DDF-CAF0314D9A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CAAB63-16C7-4662-BB7B-D6D915AB94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4BB70D-C8F5-4563-869D-B7BCEDA6FE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D4A38C-B063-4A28-B3BC-CB2EA2364A44}"/>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6" name="Footer Placeholder 5">
            <a:extLst>
              <a:ext uri="{FF2B5EF4-FFF2-40B4-BE49-F238E27FC236}">
                <a16:creationId xmlns:a16="http://schemas.microsoft.com/office/drawing/2014/main" id="{8448AFC9-A59C-4154-82B9-5A71115E92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9A6C8C-7917-4065-9E10-DC3C66D6BD4F}"/>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174032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E47AE-4652-4004-BC57-B940692DE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DB981F-4486-44CD-8B1E-3FA5989C9C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3C29FF-74A6-4A39-8A06-B0D85FF917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5B456A-CAAC-4298-B5FD-DC7239728869}"/>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6" name="Footer Placeholder 5">
            <a:extLst>
              <a:ext uri="{FF2B5EF4-FFF2-40B4-BE49-F238E27FC236}">
                <a16:creationId xmlns:a16="http://schemas.microsoft.com/office/drawing/2014/main" id="{255AED6B-96D8-4DBD-AFE6-2666830EEB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75E597-15BD-48FC-9BFD-3F7DC4A4BB88}"/>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3631096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A5307-4E95-4216-8965-0B7B158D68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BCF671-5476-45D7-BC7A-409777F64B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C91DFE-37E3-4629-A6D7-C87EF9B2E763}"/>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5" name="Footer Placeholder 4">
            <a:extLst>
              <a:ext uri="{FF2B5EF4-FFF2-40B4-BE49-F238E27FC236}">
                <a16:creationId xmlns:a16="http://schemas.microsoft.com/office/drawing/2014/main" id="{8D5812CF-42EF-4291-B31F-1B2D081996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C7BB7D-2DDB-4F71-990E-C658FD1F8E1B}"/>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548190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FCF393-1215-4CE9-B8D9-008D52FEB2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4465FB-0A64-4B8F-B436-89FB7FFE8B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F41ECB-7964-41BB-9077-0BACE85A210E}"/>
              </a:ext>
            </a:extLst>
          </p:cNvPr>
          <p:cNvSpPr>
            <a:spLocks noGrp="1"/>
          </p:cNvSpPr>
          <p:nvPr>
            <p:ph type="dt" sz="half" idx="10"/>
          </p:nvPr>
        </p:nvSpPr>
        <p:spPr/>
        <p:txBody>
          <a:bodyPr/>
          <a:lstStyle/>
          <a:p>
            <a:fld id="{5CA88B7E-AF65-44CA-9BA0-3D14E4B76A0C}" type="datetimeFigureOut">
              <a:rPr lang="en-US" smtClean="0"/>
              <a:t>7/29/2026</a:t>
            </a:fld>
            <a:endParaRPr lang="en-US"/>
          </a:p>
        </p:txBody>
      </p:sp>
      <p:sp>
        <p:nvSpPr>
          <p:cNvPr id="5" name="Footer Placeholder 4">
            <a:extLst>
              <a:ext uri="{FF2B5EF4-FFF2-40B4-BE49-F238E27FC236}">
                <a16:creationId xmlns:a16="http://schemas.microsoft.com/office/drawing/2014/main" id="{B70FAFD4-F0B7-4B79-AFD8-0DE68A8A77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DA8E68-8961-4386-AD4E-A56B67E5C6CF}"/>
              </a:ext>
            </a:extLst>
          </p:cNvPr>
          <p:cNvSpPr>
            <a:spLocks noGrp="1"/>
          </p:cNvSpPr>
          <p:nvPr>
            <p:ph type="sldNum" sz="quarter" idx="12"/>
          </p:nvPr>
        </p:nvSpPr>
        <p:spPr/>
        <p:txBody>
          <a:bodyPr/>
          <a:lstStyle/>
          <a:p>
            <a:fld id="{C308FD25-0014-460E-9630-B645812BD429}" type="slidenum">
              <a:rPr lang="en-US" smtClean="0"/>
              <a:t>‹#›</a:t>
            </a:fld>
            <a:endParaRPr lang="en-US"/>
          </a:p>
        </p:txBody>
      </p:sp>
    </p:spTree>
    <p:extLst>
      <p:ext uri="{BB962C8B-B14F-4D97-AF65-F5344CB8AC3E}">
        <p14:creationId xmlns:p14="http://schemas.microsoft.com/office/powerpoint/2010/main" val="449877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26E588-E86B-4357-B3FB-116E1F05C4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BDB89B-BAB5-4D88-AB53-294234F075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E1142E-81AA-443C-BF6E-E39D7C63F3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A88B7E-AF65-44CA-9BA0-3D14E4B76A0C}" type="datetimeFigureOut">
              <a:rPr lang="en-US" smtClean="0"/>
              <a:t>7/29/2026</a:t>
            </a:fld>
            <a:endParaRPr lang="en-US"/>
          </a:p>
        </p:txBody>
      </p:sp>
      <p:sp>
        <p:nvSpPr>
          <p:cNvPr id="5" name="Footer Placeholder 4">
            <a:extLst>
              <a:ext uri="{FF2B5EF4-FFF2-40B4-BE49-F238E27FC236}">
                <a16:creationId xmlns:a16="http://schemas.microsoft.com/office/drawing/2014/main" id="{662D4368-F39C-4C47-BDB3-54B3B1CE7C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E019DA-767B-43F3-9B53-8904E07919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08FD25-0014-460E-9630-B645812BD429}" type="slidenum">
              <a:rPr lang="en-US" smtClean="0"/>
              <a:t>‹#›</a:t>
            </a:fld>
            <a:endParaRPr lang="en-US"/>
          </a:p>
        </p:txBody>
      </p:sp>
    </p:spTree>
    <p:extLst>
      <p:ext uri="{BB962C8B-B14F-4D97-AF65-F5344CB8AC3E}">
        <p14:creationId xmlns:p14="http://schemas.microsoft.com/office/powerpoint/2010/main" val="3343967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samswift@salud.unm.edu"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SamSwift505/NMDOH_R_WORKSHOPS_26"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Tb3R4GLJ45U" TargetMode="External"/><Relationship Id="rId2" Type="http://schemas.openxmlformats.org/officeDocument/2006/relationships/hyperlink" Target="https://rstudio-education.github.io/hopr/starting.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lazyadmin.nl/win-11/show-file-extension-windows-11/" TargetMode="External"/><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hyperlink" Target="https://support.apple.com/guide/mac-help/show-or-hide-filename-extensions-on-mac-mchlp2304/mac"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mailto:samswift@salud.unm.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25DFA-2CA6-47C1-BD05-7BEF0D415C8F}"/>
              </a:ext>
            </a:extLst>
          </p:cNvPr>
          <p:cNvSpPr>
            <a:spLocks noGrp="1"/>
          </p:cNvSpPr>
          <p:nvPr>
            <p:ph type="ctrTitle"/>
          </p:nvPr>
        </p:nvSpPr>
        <p:spPr>
          <a:solidFill>
            <a:schemeClr val="accent6">
              <a:lumMod val="60000"/>
              <a:lumOff val="40000"/>
            </a:schemeClr>
          </a:solidFill>
        </p:spPr>
        <p:txBody>
          <a:bodyPr/>
          <a:lstStyle/>
          <a:p>
            <a:r>
              <a:rPr lang="en-US" dirty="0"/>
              <a:t>Workshop #1: Welcome to  the R environment </a:t>
            </a:r>
          </a:p>
        </p:txBody>
      </p:sp>
      <p:sp>
        <p:nvSpPr>
          <p:cNvPr id="3" name="Subtitle 2">
            <a:extLst>
              <a:ext uri="{FF2B5EF4-FFF2-40B4-BE49-F238E27FC236}">
                <a16:creationId xmlns:a16="http://schemas.microsoft.com/office/drawing/2014/main" id="{343582F5-D758-4E34-8714-288862211329}"/>
              </a:ext>
            </a:extLst>
          </p:cNvPr>
          <p:cNvSpPr>
            <a:spLocks noGrp="1"/>
          </p:cNvSpPr>
          <p:nvPr>
            <p:ph type="subTitle" idx="1"/>
          </p:nvPr>
        </p:nvSpPr>
        <p:spPr>
          <a:solidFill>
            <a:schemeClr val="accent6">
              <a:lumMod val="60000"/>
              <a:lumOff val="40000"/>
            </a:schemeClr>
          </a:solidFill>
        </p:spPr>
        <p:txBody>
          <a:bodyPr>
            <a:normAutofit/>
          </a:bodyPr>
          <a:lstStyle/>
          <a:p>
            <a:pPr algn="l"/>
            <a:r>
              <a:rPr lang="en-US" sz="2800" dirty="0"/>
              <a:t>What is R and how</a:t>
            </a:r>
          </a:p>
          <a:p>
            <a:pPr algn="l"/>
            <a:r>
              <a:rPr lang="en-US" sz="2800" dirty="0"/>
              <a:t>	do we open it, why would </a:t>
            </a:r>
          </a:p>
          <a:p>
            <a:pPr algn="l"/>
            <a:r>
              <a:rPr lang="en-US" sz="2800" dirty="0"/>
              <a:t>		we use it, and how? </a:t>
            </a:r>
          </a:p>
        </p:txBody>
      </p:sp>
    </p:spTree>
    <p:extLst>
      <p:ext uri="{BB962C8B-B14F-4D97-AF65-F5344CB8AC3E}">
        <p14:creationId xmlns:p14="http://schemas.microsoft.com/office/powerpoint/2010/main" val="2675346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43448-B76A-47AA-AD52-F9685DAB7CFE}"/>
              </a:ext>
            </a:extLst>
          </p:cNvPr>
          <p:cNvSpPr>
            <a:spLocks noGrp="1"/>
          </p:cNvSpPr>
          <p:nvPr>
            <p:ph type="title"/>
          </p:nvPr>
        </p:nvSpPr>
        <p:spPr>
          <a:xfrm>
            <a:off x="381000" y="365125"/>
            <a:ext cx="10972800" cy="1325563"/>
          </a:xfrm>
          <a:solidFill>
            <a:schemeClr val="accent6">
              <a:lumMod val="60000"/>
              <a:lumOff val="40000"/>
            </a:schemeClr>
          </a:solidFill>
        </p:spPr>
        <p:txBody>
          <a:bodyPr>
            <a:normAutofit/>
          </a:bodyPr>
          <a:lstStyle/>
          <a:p>
            <a:r>
              <a:rPr lang="en-US" sz="4800" dirty="0"/>
              <a:t>About Me- Sam Swift, PhD, MPH </a:t>
            </a:r>
          </a:p>
        </p:txBody>
      </p:sp>
      <p:sp>
        <p:nvSpPr>
          <p:cNvPr id="3" name="Content Placeholder 2">
            <a:extLst>
              <a:ext uri="{FF2B5EF4-FFF2-40B4-BE49-F238E27FC236}">
                <a16:creationId xmlns:a16="http://schemas.microsoft.com/office/drawing/2014/main" id="{E1E482D5-E1CE-4300-89EE-75C27987BAFB}"/>
              </a:ext>
            </a:extLst>
          </p:cNvPr>
          <p:cNvSpPr>
            <a:spLocks noGrp="1"/>
          </p:cNvSpPr>
          <p:nvPr>
            <p:ph idx="1"/>
          </p:nvPr>
        </p:nvSpPr>
        <p:spPr>
          <a:xfrm>
            <a:off x="381000" y="1825625"/>
            <a:ext cx="7142544" cy="4351338"/>
          </a:xfrm>
        </p:spPr>
        <p:txBody>
          <a:bodyPr>
            <a:normAutofit/>
          </a:bodyPr>
          <a:lstStyle/>
          <a:p>
            <a:r>
              <a:rPr lang="en-US" dirty="0"/>
              <a:t>Emergency Medical Technician </a:t>
            </a:r>
          </a:p>
          <a:p>
            <a:r>
              <a:rPr lang="en-US" dirty="0"/>
              <a:t>UNM MPH </a:t>
            </a:r>
          </a:p>
          <a:p>
            <a:r>
              <a:rPr lang="en-US" dirty="0"/>
              <a:t>NMDOH Epidemiologist </a:t>
            </a:r>
          </a:p>
          <a:p>
            <a:r>
              <a:rPr lang="en-US" dirty="0"/>
              <a:t>University of Miami PhD (Social Epidemiology) </a:t>
            </a:r>
          </a:p>
          <a:p>
            <a:r>
              <a:rPr lang="en-US" dirty="0"/>
              <a:t>UNM Postdoc</a:t>
            </a:r>
          </a:p>
          <a:p>
            <a:r>
              <a:rPr lang="en-US" dirty="0"/>
              <a:t>Causal Inference Enthusiast </a:t>
            </a:r>
          </a:p>
          <a:p>
            <a:r>
              <a:rPr lang="en-US" dirty="0"/>
              <a:t>SAS &amp; R, some Stata, ArcGIS, &amp; </a:t>
            </a:r>
            <a:r>
              <a:rPr lang="en-US" dirty="0" err="1"/>
              <a:t>Mplus</a:t>
            </a:r>
            <a:endParaRPr lang="en-US" dirty="0"/>
          </a:p>
          <a:p>
            <a:r>
              <a:rPr lang="en-US" dirty="0"/>
              <a:t>UNM Assistant Professor</a:t>
            </a:r>
          </a:p>
          <a:p>
            <a:endParaRPr lang="en-US" dirty="0"/>
          </a:p>
          <a:p>
            <a:endParaRPr lang="en-US" dirty="0"/>
          </a:p>
        </p:txBody>
      </p:sp>
      <p:pic>
        <p:nvPicPr>
          <p:cNvPr id="5" name="Picture 4">
            <a:extLst>
              <a:ext uri="{FF2B5EF4-FFF2-40B4-BE49-F238E27FC236}">
                <a16:creationId xmlns:a16="http://schemas.microsoft.com/office/drawing/2014/main" id="{3EA71D99-ADC0-4B97-8628-5EAFC4ABB5F8}"/>
              </a:ext>
            </a:extLst>
          </p:cNvPr>
          <p:cNvPicPr>
            <a:picLocks noChangeAspect="1"/>
          </p:cNvPicPr>
          <p:nvPr/>
        </p:nvPicPr>
        <p:blipFill>
          <a:blip r:embed="rId2"/>
          <a:stretch>
            <a:fillRect/>
          </a:stretch>
        </p:blipFill>
        <p:spPr>
          <a:xfrm>
            <a:off x="7898965" y="1792128"/>
            <a:ext cx="3328478" cy="2511728"/>
          </a:xfrm>
          <a:prstGeom prst="rect">
            <a:avLst/>
          </a:prstGeom>
        </p:spPr>
      </p:pic>
      <p:pic>
        <p:nvPicPr>
          <p:cNvPr id="6" name="Picture 5">
            <a:extLst>
              <a:ext uri="{FF2B5EF4-FFF2-40B4-BE49-F238E27FC236}">
                <a16:creationId xmlns:a16="http://schemas.microsoft.com/office/drawing/2014/main" id="{3BCBAC6D-EEC0-4C99-94B9-70B5CF8A1592}"/>
              </a:ext>
            </a:extLst>
          </p:cNvPr>
          <p:cNvPicPr>
            <a:picLocks noChangeAspect="1"/>
          </p:cNvPicPr>
          <p:nvPr/>
        </p:nvPicPr>
        <p:blipFill>
          <a:blip r:embed="rId3"/>
          <a:stretch>
            <a:fillRect/>
          </a:stretch>
        </p:blipFill>
        <p:spPr>
          <a:xfrm>
            <a:off x="7898965" y="4500129"/>
            <a:ext cx="3328478" cy="2122316"/>
          </a:xfrm>
          <a:prstGeom prst="rect">
            <a:avLst/>
          </a:prstGeom>
        </p:spPr>
      </p:pic>
    </p:spTree>
    <p:extLst>
      <p:ext uri="{BB962C8B-B14F-4D97-AF65-F5344CB8AC3E}">
        <p14:creationId xmlns:p14="http://schemas.microsoft.com/office/powerpoint/2010/main" val="114203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48ED2-D747-4316-9AC6-D07895D1C72A}"/>
              </a:ext>
            </a:extLst>
          </p:cNvPr>
          <p:cNvSpPr>
            <a:spLocks noGrp="1"/>
          </p:cNvSpPr>
          <p:nvPr>
            <p:ph type="title"/>
          </p:nvPr>
        </p:nvSpPr>
        <p:spPr>
          <a:solidFill>
            <a:schemeClr val="accent6">
              <a:lumMod val="60000"/>
              <a:lumOff val="40000"/>
            </a:schemeClr>
          </a:solidFill>
        </p:spPr>
        <p:txBody>
          <a:bodyPr/>
          <a:lstStyle/>
          <a:p>
            <a:r>
              <a:rPr lang="en-US" dirty="0"/>
              <a:t>Questions about the Workshop??? </a:t>
            </a:r>
          </a:p>
        </p:txBody>
      </p:sp>
      <p:sp>
        <p:nvSpPr>
          <p:cNvPr id="3" name="Content Placeholder 2">
            <a:extLst>
              <a:ext uri="{FF2B5EF4-FFF2-40B4-BE49-F238E27FC236}">
                <a16:creationId xmlns:a16="http://schemas.microsoft.com/office/drawing/2014/main" id="{325639D8-4381-422A-A65C-EA0C7F05348E}"/>
              </a:ext>
            </a:extLst>
          </p:cNvPr>
          <p:cNvSpPr>
            <a:spLocks noGrp="1"/>
          </p:cNvSpPr>
          <p:nvPr>
            <p:ph idx="1"/>
          </p:nvPr>
        </p:nvSpPr>
        <p:spPr/>
        <p:txBody>
          <a:bodyPr>
            <a:normAutofit/>
          </a:bodyPr>
          <a:lstStyle/>
          <a:p>
            <a:pPr marL="0" indent="0" algn="ctr">
              <a:buNone/>
            </a:pPr>
            <a:r>
              <a:rPr lang="en-US" sz="6600" dirty="0"/>
              <a:t>Email me!!!</a:t>
            </a:r>
          </a:p>
          <a:p>
            <a:pPr marL="0" indent="0" algn="ctr">
              <a:buNone/>
            </a:pPr>
            <a:endParaRPr lang="en-US" sz="6600" dirty="0"/>
          </a:p>
          <a:p>
            <a:pPr marL="0" indent="0" algn="ctr">
              <a:buNone/>
            </a:pPr>
            <a:r>
              <a:rPr lang="en-US" sz="6600" dirty="0">
                <a:hlinkClick r:id="rId2"/>
              </a:rPr>
              <a:t>samswift@salud.unm.edu</a:t>
            </a:r>
            <a:r>
              <a:rPr lang="en-US" sz="6600" dirty="0"/>
              <a:t> </a:t>
            </a:r>
          </a:p>
        </p:txBody>
      </p:sp>
    </p:spTree>
    <p:extLst>
      <p:ext uri="{BB962C8B-B14F-4D97-AF65-F5344CB8AC3E}">
        <p14:creationId xmlns:p14="http://schemas.microsoft.com/office/powerpoint/2010/main" val="310652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09357-4643-4434-93A6-CF6F177D6082}"/>
              </a:ext>
            </a:extLst>
          </p:cNvPr>
          <p:cNvSpPr>
            <a:spLocks noGrp="1"/>
          </p:cNvSpPr>
          <p:nvPr>
            <p:ph type="title"/>
          </p:nvPr>
        </p:nvSpPr>
        <p:spPr>
          <a:solidFill>
            <a:schemeClr val="accent6">
              <a:lumMod val="60000"/>
              <a:lumOff val="40000"/>
            </a:schemeClr>
          </a:solidFill>
        </p:spPr>
        <p:txBody>
          <a:bodyPr/>
          <a:lstStyle/>
          <a:p>
            <a:r>
              <a:rPr lang="en-US" dirty="0"/>
              <a:t>Survey Results (I know pie charts are bad)</a:t>
            </a:r>
          </a:p>
        </p:txBody>
      </p:sp>
      <p:pic>
        <p:nvPicPr>
          <p:cNvPr id="5" name="Picture 4">
            <a:extLst>
              <a:ext uri="{FF2B5EF4-FFF2-40B4-BE49-F238E27FC236}">
                <a16:creationId xmlns:a16="http://schemas.microsoft.com/office/drawing/2014/main" id="{1D1F9909-B7D8-49DD-AE4A-57E5B72E70F2}"/>
              </a:ext>
            </a:extLst>
          </p:cNvPr>
          <p:cNvPicPr>
            <a:picLocks noChangeAspect="1"/>
          </p:cNvPicPr>
          <p:nvPr/>
        </p:nvPicPr>
        <p:blipFill>
          <a:blip r:embed="rId2"/>
          <a:stretch>
            <a:fillRect/>
          </a:stretch>
        </p:blipFill>
        <p:spPr>
          <a:xfrm>
            <a:off x="838200" y="1825625"/>
            <a:ext cx="5645440" cy="2559182"/>
          </a:xfrm>
          <a:prstGeom prst="rect">
            <a:avLst/>
          </a:prstGeom>
        </p:spPr>
      </p:pic>
      <p:pic>
        <p:nvPicPr>
          <p:cNvPr id="7" name="Picture 6">
            <a:extLst>
              <a:ext uri="{FF2B5EF4-FFF2-40B4-BE49-F238E27FC236}">
                <a16:creationId xmlns:a16="http://schemas.microsoft.com/office/drawing/2014/main" id="{DA640440-36EC-40F6-B9ED-E6CD6B046B32}"/>
              </a:ext>
            </a:extLst>
          </p:cNvPr>
          <p:cNvPicPr>
            <a:picLocks noChangeAspect="1"/>
          </p:cNvPicPr>
          <p:nvPr/>
        </p:nvPicPr>
        <p:blipFill>
          <a:blip r:embed="rId3"/>
          <a:stretch>
            <a:fillRect/>
          </a:stretch>
        </p:blipFill>
        <p:spPr>
          <a:xfrm>
            <a:off x="5670258" y="3673330"/>
            <a:ext cx="5683542" cy="2819545"/>
          </a:xfrm>
          <a:prstGeom prst="rect">
            <a:avLst/>
          </a:prstGeom>
        </p:spPr>
      </p:pic>
      <p:sp>
        <p:nvSpPr>
          <p:cNvPr id="8" name="Rectangle 7">
            <a:extLst>
              <a:ext uri="{FF2B5EF4-FFF2-40B4-BE49-F238E27FC236}">
                <a16:creationId xmlns:a16="http://schemas.microsoft.com/office/drawing/2014/main" id="{9ED19755-4E57-4AAD-B58E-F9457A43CAA5}"/>
              </a:ext>
            </a:extLst>
          </p:cNvPr>
          <p:cNvSpPr/>
          <p:nvPr/>
        </p:nvSpPr>
        <p:spPr>
          <a:xfrm>
            <a:off x="469783" y="4655889"/>
            <a:ext cx="4999839" cy="2038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Today may be basic for the lots of experience people, but we can ramp up</a:t>
            </a:r>
          </a:p>
        </p:txBody>
      </p:sp>
      <p:sp>
        <p:nvSpPr>
          <p:cNvPr id="9" name="Rectangle 8">
            <a:extLst>
              <a:ext uri="{FF2B5EF4-FFF2-40B4-BE49-F238E27FC236}">
                <a16:creationId xmlns:a16="http://schemas.microsoft.com/office/drawing/2014/main" id="{54F3C9CF-3500-435C-917A-1CADD1ADD9CC}"/>
              </a:ext>
            </a:extLst>
          </p:cNvPr>
          <p:cNvSpPr/>
          <p:nvPr/>
        </p:nvSpPr>
        <p:spPr>
          <a:xfrm>
            <a:off x="6946084" y="1999776"/>
            <a:ext cx="4407716"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25% have no coding experience at all</a:t>
            </a:r>
          </a:p>
        </p:txBody>
      </p:sp>
    </p:spTree>
    <p:extLst>
      <p:ext uri="{BB962C8B-B14F-4D97-AF65-F5344CB8AC3E}">
        <p14:creationId xmlns:p14="http://schemas.microsoft.com/office/powerpoint/2010/main" val="3435538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3AEDD-9CFF-4D58-9FD2-BF40B8573EDF}"/>
              </a:ext>
            </a:extLst>
          </p:cNvPr>
          <p:cNvSpPr>
            <a:spLocks noGrp="1"/>
          </p:cNvSpPr>
          <p:nvPr>
            <p:ph type="title"/>
          </p:nvPr>
        </p:nvSpPr>
        <p:spPr>
          <a:solidFill>
            <a:schemeClr val="accent6">
              <a:lumMod val="60000"/>
              <a:lumOff val="40000"/>
            </a:schemeClr>
          </a:solidFill>
        </p:spPr>
        <p:txBody>
          <a:bodyPr/>
          <a:lstStyle/>
          <a:p>
            <a:r>
              <a:rPr lang="en-US" dirty="0"/>
              <a:t>More survey results</a:t>
            </a:r>
          </a:p>
        </p:txBody>
      </p:sp>
      <p:pic>
        <p:nvPicPr>
          <p:cNvPr id="5" name="Content Placeholder 4">
            <a:extLst>
              <a:ext uri="{FF2B5EF4-FFF2-40B4-BE49-F238E27FC236}">
                <a16:creationId xmlns:a16="http://schemas.microsoft.com/office/drawing/2014/main" id="{506A066C-5CBD-41A4-B87B-287DFEEBB469}"/>
              </a:ext>
            </a:extLst>
          </p:cNvPr>
          <p:cNvPicPr>
            <a:picLocks noGrp="1" noChangeAspect="1"/>
          </p:cNvPicPr>
          <p:nvPr>
            <p:ph idx="1"/>
          </p:nvPr>
        </p:nvPicPr>
        <p:blipFill>
          <a:blip r:embed="rId2"/>
          <a:stretch>
            <a:fillRect/>
          </a:stretch>
        </p:blipFill>
        <p:spPr>
          <a:xfrm>
            <a:off x="774367" y="1868692"/>
            <a:ext cx="10416547" cy="4525681"/>
          </a:xfrm>
        </p:spPr>
      </p:pic>
      <p:sp>
        <p:nvSpPr>
          <p:cNvPr id="6" name="Rectangle 5">
            <a:extLst>
              <a:ext uri="{FF2B5EF4-FFF2-40B4-BE49-F238E27FC236}">
                <a16:creationId xmlns:a16="http://schemas.microsoft.com/office/drawing/2014/main" id="{A323FE10-5F06-40AA-9546-64477AAE9D0B}"/>
              </a:ext>
            </a:extLst>
          </p:cNvPr>
          <p:cNvSpPr/>
          <p:nvPr/>
        </p:nvSpPr>
        <p:spPr>
          <a:xfrm>
            <a:off x="9169167" y="1868692"/>
            <a:ext cx="2348917" cy="773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7339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6348F-49EB-4AE8-9093-0B96D02BB84A}"/>
              </a:ext>
            </a:extLst>
          </p:cNvPr>
          <p:cNvSpPr>
            <a:spLocks noGrp="1"/>
          </p:cNvSpPr>
          <p:nvPr>
            <p:ph type="title"/>
          </p:nvPr>
        </p:nvSpPr>
        <p:spPr>
          <a:solidFill>
            <a:schemeClr val="accent6">
              <a:lumMod val="60000"/>
              <a:lumOff val="40000"/>
            </a:schemeClr>
          </a:solidFill>
        </p:spPr>
        <p:txBody>
          <a:bodyPr/>
          <a:lstStyle/>
          <a:p>
            <a:r>
              <a:rPr lang="en-US" dirty="0"/>
              <a:t>Final (select) survey results </a:t>
            </a:r>
          </a:p>
        </p:txBody>
      </p:sp>
      <p:sp>
        <p:nvSpPr>
          <p:cNvPr id="3" name="Content Placeholder 2">
            <a:extLst>
              <a:ext uri="{FF2B5EF4-FFF2-40B4-BE49-F238E27FC236}">
                <a16:creationId xmlns:a16="http://schemas.microsoft.com/office/drawing/2014/main" id="{87349C05-27C1-4E50-BBA9-416E809A161A}"/>
              </a:ext>
            </a:extLst>
          </p:cNvPr>
          <p:cNvSpPr>
            <a:spLocks noGrp="1"/>
          </p:cNvSpPr>
          <p:nvPr>
            <p:ph idx="1"/>
          </p:nvPr>
        </p:nvSpPr>
        <p:spPr/>
        <p:txBody>
          <a:bodyPr>
            <a:normAutofit/>
          </a:bodyPr>
          <a:lstStyle/>
          <a:p>
            <a:r>
              <a:rPr lang="en-US" sz="3200" dirty="0"/>
              <a:t>What should I cover?</a:t>
            </a:r>
          </a:p>
          <a:p>
            <a:pPr lvl="1"/>
            <a:r>
              <a:rPr lang="en-US" sz="2800" dirty="0"/>
              <a:t>Basic: Syntax, data viz- merges</a:t>
            </a:r>
          </a:p>
          <a:p>
            <a:pPr lvl="1"/>
            <a:r>
              <a:rPr lang="en-US" sz="2800" dirty="0"/>
              <a:t>More advanced: </a:t>
            </a:r>
            <a:r>
              <a:rPr lang="en-US" sz="2800" dirty="0" err="1"/>
              <a:t>github</a:t>
            </a:r>
            <a:r>
              <a:rPr lang="en-US" sz="2800" dirty="0"/>
              <a:t>, R shiny, functions similar to macros, mapping, multiple imputation </a:t>
            </a:r>
          </a:p>
          <a:p>
            <a:r>
              <a:rPr lang="en-US" sz="3200" dirty="0"/>
              <a:t>What helps you learn? </a:t>
            </a:r>
          </a:p>
          <a:p>
            <a:pPr lvl="1"/>
            <a:r>
              <a:rPr lang="en-US" sz="2800" dirty="0"/>
              <a:t>Instructor having empathy</a:t>
            </a:r>
          </a:p>
          <a:p>
            <a:pPr lvl="1"/>
            <a:r>
              <a:rPr lang="en-US" sz="2800" dirty="0"/>
              <a:t>Not too much info</a:t>
            </a:r>
          </a:p>
          <a:p>
            <a:pPr lvl="1"/>
            <a:r>
              <a:rPr lang="en-US" sz="2800" dirty="0"/>
              <a:t>Hands on/ interactive work/ homework</a:t>
            </a:r>
          </a:p>
          <a:p>
            <a:pPr lvl="1"/>
            <a:r>
              <a:rPr lang="en-US" sz="2800" dirty="0">
                <a:highlight>
                  <a:srgbClr val="FFFF00"/>
                </a:highlight>
              </a:rPr>
              <a:t>STOP DURING LECTURE FOR Qs </a:t>
            </a:r>
          </a:p>
        </p:txBody>
      </p:sp>
      <p:pic>
        <p:nvPicPr>
          <p:cNvPr id="5" name="Picture 4">
            <a:extLst>
              <a:ext uri="{FF2B5EF4-FFF2-40B4-BE49-F238E27FC236}">
                <a16:creationId xmlns:a16="http://schemas.microsoft.com/office/drawing/2014/main" id="{846F7417-31C7-4DD2-BD22-8260B61CCF1E}"/>
              </a:ext>
            </a:extLst>
          </p:cNvPr>
          <p:cNvPicPr>
            <a:picLocks noChangeAspect="1"/>
          </p:cNvPicPr>
          <p:nvPr/>
        </p:nvPicPr>
        <p:blipFill>
          <a:blip r:embed="rId2"/>
          <a:stretch>
            <a:fillRect/>
          </a:stretch>
        </p:blipFill>
        <p:spPr>
          <a:xfrm>
            <a:off x="8038242" y="3436691"/>
            <a:ext cx="3315558" cy="2875209"/>
          </a:xfrm>
          <a:prstGeom prst="rect">
            <a:avLst/>
          </a:prstGeom>
        </p:spPr>
      </p:pic>
    </p:spTree>
    <p:extLst>
      <p:ext uri="{BB962C8B-B14F-4D97-AF65-F5344CB8AC3E}">
        <p14:creationId xmlns:p14="http://schemas.microsoft.com/office/powerpoint/2010/main" val="2173610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E9978-1D47-472B-9235-CDD1520D0D83}"/>
              </a:ext>
            </a:extLst>
          </p:cNvPr>
          <p:cNvSpPr>
            <a:spLocks noGrp="1"/>
          </p:cNvSpPr>
          <p:nvPr>
            <p:ph type="title"/>
          </p:nvPr>
        </p:nvSpPr>
        <p:spPr>
          <a:solidFill>
            <a:schemeClr val="accent6">
              <a:lumMod val="60000"/>
              <a:lumOff val="40000"/>
            </a:schemeClr>
          </a:solidFill>
        </p:spPr>
        <p:txBody>
          <a:bodyPr/>
          <a:lstStyle/>
          <a:p>
            <a:r>
              <a:rPr lang="en-US" dirty="0"/>
              <a:t>Presentation contents </a:t>
            </a:r>
          </a:p>
        </p:txBody>
      </p:sp>
      <p:sp>
        <p:nvSpPr>
          <p:cNvPr id="3" name="Content Placeholder 2">
            <a:extLst>
              <a:ext uri="{FF2B5EF4-FFF2-40B4-BE49-F238E27FC236}">
                <a16:creationId xmlns:a16="http://schemas.microsoft.com/office/drawing/2014/main" id="{F5E97A0F-2948-496C-9705-6A722ED9C23A}"/>
              </a:ext>
            </a:extLst>
          </p:cNvPr>
          <p:cNvSpPr>
            <a:spLocks noGrp="1"/>
          </p:cNvSpPr>
          <p:nvPr>
            <p:ph idx="1"/>
          </p:nvPr>
        </p:nvSpPr>
        <p:spPr/>
        <p:txBody>
          <a:bodyPr>
            <a:normAutofit/>
          </a:bodyPr>
          <a:lstStyle/>
          <a:p>
            <a:endParaRPr lang="en-US" dirty="0"/>
          </a:p>
          <a:p>
            <a:endParaRPr lang="en-US" dirty="0"/>
          </a:p>
        </p:txBody>
      </p:sp>
      <p:sp>
        <p:nvSpPr>
          <p:cNvPr id="4" name="Rectangle 3">
            <a:extLst>
              <a:ext uri="{FF2B5EF4-FFF2-40B4-BE49-F238E27FC236}">
                <a16:creationId xmlns:a16="http://schemas.microsoft.com/office/drawing/2014/main" id="{21D33C2D-9937-4500-9032-D68DEA8BA2E7}"/>
              </a:ext>
            </a:extLst>
          </p:cNvPr>
          <p:cNvSpPr/>
          <p:nvPr/>
        </p:nvSpPr>
        <p:spPr>
          <a:xfrm>
            <a:off x="7260116" y="1825625"/>
            <a:ext cx="4274544" cy="4351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Learning objectives</a:t>
            </a:r>
          </a:p>
          <a:p>
            <a:pPr marL="342900" indent="-342900">
              <a:buFont typeface="Arial" panose="020B0604020202020204" pitchFamily="34" charset="0"/>
              <a:buChar char="•"/>
            </a:pPr>
            <a:r>
              <a:rPr lang="en-US" sz="2400" dirty="0"/>
              <a:t>Be able to save data on your computer and read data into R studio</a:t>
            </a:r>
          </a:p>
          <a:p>
            <a:pPr marL="342900" indent="-342900">
              <a:buFont typeface="Arial" panose="020B0604020202020204" pitchFamily="34" charset="0"/>
              <a:buChar char="•"/>
            </a:pPr>
            <a:r>
              <a:rPr lang="en-US" sz="2400" dirty="0"/>
              <a:t>Understand the definitions of:</a:t>
            </a:r>
          </a:p>
          <a:p>
            <a:pPr marL="800100" lvl="1" indent="-342900">
              <a:buFont typeface="Arial" panose="020B0604020202020204" pitchFamily="34" charset="0"/>
              <a:buChar char="•"/>
            </a:pPr>
            <a:r>
              <a:rPr lang="en-US" sz="2400" dirty="0"/>
              <a:t>Objects</a:t>
            </a:r>
          </a:p>
          <a:p>
            <a:pPr marL="800100" lvl="1" indent="-342900">
              <a:buFont typeface="Arial" panose="020B0604020202020204" pitchFamily="34" charset="0"/>
              <a:buChar char="•"/>
            </a:pPr>
            <a:r>
              <a:rPr lang="en-US" sz="2400" dirty="0"/>
              <a:t>Functions</a:t>
            </a:r>
          </a:p>
          <a:p>
            <a:pPr marL="800100" lvl="1" indent="-342900">
              <a:buFont typeface="Arial" panose="020B0604020202020204" pitchFamily="34" charset="0"/>
              <a:buChar char="•"/>
            </a:pPr>
            <a:r>
              <a:rPr lang="en-US" sz="2400" dirty="0"/>
              <a:t>Scripts</a:t>
            </a:r>
          </a:p>
          <a:p>
            <a:pPr marL="800100" lvl="1" indent="-342900">
              <a:buFont typeface="Arial" panose="020B0604020202020204" pitchFamily="34" charset="0"/>
              <a:buChar char="•"/>
            </a:pPr>
            <a:r>
              <a:rPr lang="en-US" sz="2400" dirty="0"/>
              <a:t>Packages</a:t>
            </a:r>
          </a:p>
          <a:p>
            <a:pPr marL="800100" lvl="1" indent="-342900">
              <a:buFont typeface="Arial" panose="020B0604020202020204" pitchFamily="34" charset="0"/>
              <a:buChar char="•"/>
            </a:pPr>
            <a:r>
              <a:rPr lang="en-US" sz="2400" dirty="0"/>
              <a:t>File paths</a:t>
            </a:r>
          </a:p>
          <a:p>
            <a:pPr marL="800100" lvl="1" indent="-342900">
              <a:buFont typeface="Arial" panose="020B0604020202020204" pitchFamily="34" charset="0"/>
              <a:buChar char="•"/>
            </a:pPr>
            <a:r>
              <a:rPr lang="en-US" sz="2400" dirty="0"/>
              <a:t>Comments</a:t>
            </a:r>
            <a:endParaRPr lang="en-US" dirty="0"/>
          </a:p>
        </p:txBody>
      </p:sp>
      <p:sp>
        <p:nvSpPr>
          <p:cNvPr id="5" name="TextBox 4">
            <a:extLst>
              <a:ext uri="{FF2B5EF4-FFF2-40B4-BE49-F238E27FC236}">
                <a16:creationId xmlns:a16="http://schemas.microsoft.com/office/drawing/2014/main" id="{AC44E072-ABD2-4182-9D22-51F8332D1F23}"/>
              </a:ext>
            </a:extLst>
          </p:cNvPr>
          <p:cNvSpPr txBox="1"/>
          <p:nvPr/>
        </p:nvSpPr>
        <p:spPr>
          <a:xfrm>
            <a:off x="838201" y="1995055"/>
            <a:ext cx="5969924" cy="4247317"/>
          </a:xfrm>
          <a:prstGeom prst="rect">
            <a:avLst/>
          </a:prstGeom>
          <a:noFill/>
        </p:spPr>
        <p:txBody>
          <a:bodyPr wrap="square" rtlCol="0">
            <a:spAutoFit/>
          </a:bodyPr>
          <a:lstStyle/>
          <a:p>
            <a:r>
              <a:rPr lang="en-US" sz="3600" dirty="0"/>
              <a:t>What is R/ R studio</a:t>
            </a:r>
          </a:p>
          <a:p>
            <a:pPr marL="285750" indent="-285750">
              <a:buFont typeface="Arial" panose="020B0604020202020204" pitchFamily="34" charset="0"/>
              <a:buChar char="•"/>
            </a:pPr>
            <a:r>
              <a:rPr lang="en-US" sz="3600" dirty="0">
                <a:highlight>
                  <a:srgbClr val="FFFF00"/>
                </a:highlight>
              </a:rPr>
              <a:t>Objects</a:t>
            </a:r>
          </a:p>
          <a:p>
            <a:pPr marL="285750" indent="-285750">
              <a:buFont typeface="Arial" panose="020B0604020202020204" pitchFamily="34" charset="0"/>
              <a:buChar char="•"/>
            </a:pPr>
            <a:r>
              <a:rPr lang="en-US" sz="3600" dirty="0">
                <a:highlight>
                  <a:srgbClr val="FFFF00"/>
                </a:highlight>
              </a:rPr>
              <a:t>Functions</a:t>
            </a:r>
          </a:p>
          <a:p>
            <a:pPr marL="285750" indent="-285750">
              <a:buFont typeface="Arial" panose="020B0604020202020204" pitchFamily="34" charset="0"/>
              <a:buChar char="•"/>
            </a:pPr>
            <a:r>
              <a:rPr lang="en-US" sz="3600" dirty="0">
                <a:highlight>
                  <a:srgbClr val="FFFF00"/>
                </a:highlight>
              </a:rPr>
              <a:t>Scripts</a:t>
            </a:r>
          </a:p>
          <a:p>
            <a:pPr marL="285750" indent="-285750">
              <a:buFont typeface="Arial" panose="020B0604020202020204" pitchFamily="34" charset="0"/>
              <a:buChar char="•"/>
            </a:pPr>
            <a:r>
              <a:rPr lang="en-US" sz="3600" dirty="0">
                <a:highlight>
                  <a:srgbClr val="FFFF00"/>
                </a:highlight>
              </a:rPr>
              <a:t>Packages</a:t>
            </a:r>
          </a:p>
          <a:p>
            <a:pPr marL="285750" indent="-285750">
              <a:buFont typeface="Arial" panose="020B0604020202020204" pitchFamily="34" charset="0"/>
              <a:buChar char="•"/>
            </a:pPr>
            <a:r>
              <a:rPr lang="en-US" sz="3600" dirty="0"/>
              <a:t>Paths</a:t>
            </a:r>
          </a:p>
          <a:p>
            <a:pPr marL="285750" indent="-285750">
              <a:buFont typeface="Arial" panose="020B0604020202020204" pitchFamily="34" charset="0"/>
              <a:buChar char="•"/>
            </a:pPr>
            <a:r>
              <a:rPr lang="en-US" sz="3600" dirty="0"/>
              <a:t>Comments</a:t>
            </a:r>
          </a:p>
          <a:p>
            <a:endParaRPr lang="en-US" dirty="0"/>
          </a:p>
        </p:txBody>
      </p:sp>
      <p:sp>
        <p:nvSpPr>
          <p:cNvPr id="6" name="Right Brace 5">
            <a:extLst>
              <a:ext uri="{FF2B5EF4-FFF2-40B4-BE49-F238E27FC236}">
                <a16:creationId xmlns:a16="http://schemas.microsoft.com/office/drawing/2014/main" id="{F147B0FA-8592-469F-BF86-23041E41F24E}"/>
              </a:ext>
            </a:extLst>
          </p:cNvPr>
          <p:cNvSpPr/>
          <p:nvPr/>
        </p:nvSpPr>
        <p:spPr>
          <a:xfrm>
            <a:off x="3028426" y="2575420"/>
            <a:ext cx="520117" cy="2172749"/>
          </a:xfrm>
          <a:prstGeom prst="rightBrace">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Scroll: Horizontal 6">
            <a:extLst>
              <a:ext uri="{FF2B5EF4-FFF2-40B4-BE49-F238E27FC236}">
                <a16:creationId xmlns:a16="http://schemas.microsoft.com/office/drawing/2014/main" id="{E08EBFC7-AE56-43ED-8501-45E9D257515D}"/>
              </a:ext>
            </a:extLst>
          </p:cNvPr>
          <p:cNvSpPr/>
          <p:nvPr/>
        </p:nvSpPr>
        <p:spPr>
          <a:xfrm>
            <a:off x="3707934" y="2701255"/>
            <a:ext cx="2592198" cy="1921079"/>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Todays 4 key concepts</a:t>
            </a:r>
          </a:p>
        </p:txBody>
      </p:sp>
    </p:spTree>
    <p:extLst>
      <p:ext uri="{BB962C8B-B14F-4D97-AF65-F5344CB8AC3E}">
        <p14:creationId xmlns:p14="http://schemas.microsoft.com/office/powerpoint/2010/main" val="131694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971C8-9C94-4BE1-81AB-B808D7EEDFA9}"/>
              </a:ext>
            </a:extLst>
          </p:cNvPr>
          <p:cNvSpPr>
            <a:spLocks noGrp="1"/>
          </p:cNvSpPr>
          <p:nvPr>
            <p:ph type="title"/>
          </p:nvPr>
        </p:nvSpPr>
        <p:spPr>
          <a:solidFill>
            <a:schemeClr val="accent6">
              <a:lumMod val="60000"/>
              <a:lumOff val="40000"/>
            </a:schemeClr>
          </a:solidFill>
        </p:spPr>
        <p:txBody>
          <a:bodyPr/>
          <a:lstStyle/>
          <a:p>
            <a:r>
              <a:rPr lang="en-US" dirty="0"/>
              <a:t>Workshops outline</a:t>
            </a:r>
          </a:p>
        </p:txBody>
      </p:sp>
      <p:sp>
        <p:nvSpPr>
          <p:cNvPr id="3" name="Content Placeholder 2">
            <a:extLst>
              <a:ext uri="{FF2B5EF4-FFF2-40B4-BE49-F238E27FC236}">
                <a16:creationId xmlns:a16="http://schemas.microsoft.com/office/drawing/2014/main" id="{22234AF6-39D5-4524-91B0-D92AC0D35DC5}"/>
              </a:ext>
            </a:extLst>
          </p:cNvPr>
          <p:cNvSpPr>
            <a:spLocks noGrp="1"/>
          </p:cNvSpPr>
          <p:nvPr>
            <p:ph idx="1"/>
          </p:nvPr>
        </p:nvSpPr>
        <p:spPr/>
        <p:txBody>
          <a:bodyPr>
            <a:normAutofit fontScale="92500" lnSpcReduction="20000"/>
          </a:bodyPr>
          <a:lstStyle/>
          <a:p>
            <a:pPr>
              <a:lnSpc>
                <a:spcPct val="115000"/>
              </a:lnSpc>
              <a:spcBef>
                <a:spcPts val="0"/>
              </a:spcBef>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Session 1. (August 2026): R basics, including what each window pane means, different menus, syntax, and packages </a:t>
            </a:r>
          </a:p>
          <a:p>
            <a:pPr>
              <a:lnSpc>
                <a:spcPct val="115000"/>
              </a:lnSpc>
              <a:spcBef>
                <a:spcPts val="0"/>
              </a:spcBef>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Session 2. (August 2026): R basics review, introduction to data cleaning and variable creation </a:t>
            </a:r>
          </a:p>
          <a:p>
            <a:pPr>
              <a:lnSpc>
                <a:spcPct val="115000"/>
              </a:lnSpc>
              <a:spcBef>
                <a:spcPts val="0"/>
              </a:spcBef>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Session 3. (August 2026): Intermediate data cleaning, joining datasets, and basic statistical analysis in R </a:t>
            </a:r>
          </a:p>
          <a:p>
            <a:pPr>
              <a:lnSpc>
                <a:spcPct val="115000"/>
              </a:lnSpc>
              <a:spcBef>
                <a:spcPts val="0"/>
              </a:spcBef>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Session 4. (September 2026): Data visualization with ggplot2</a:t>
            </a:r>
          </a:p>
          <a:p>
            <a:pPr>
              <a:lnSpc>
                <a:spcPct val="115000"/>
              </a:lnSpc>
              <a:spcBef>
                <a:spcPts val="0"/>
              </a:spcBef>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Session 5. (September 2026):  Automating reports with R markdown and integration with GitHub </a:t>
            </a:r>
          </a:p>
          <a:p>
            <a:pPr lvl="1">
              <a:lnSpc>
                <a:spcPct val="115000"/>
              </a:lnSpc>
              <a:spcBef>
                <a:spcPts val="0"/>
              </a:spcBef>
              <a:spcAft>
                <a:spcPts val="1000"/>
              </a:spcAft>
            </a:pPr>
            <a:r>
              <a:rPr lang="en-US" sz="1600" dirty="0">
                <a:latin typeface="Calibri" panose="020F0502020204030204" pitchFamily="34" charset="0"/>
                <a:ea typeface="Calibri" panose="020F0502020204030204" pitchFamily="34" charset="0"/>
                <a:cs typeface="Times New Roman" panose="02020603050405020304" pitchFamily="18" charset="0"/>
              </a:rPr>
              <a:t>Survey weights here as well?</a:t>
            </a:r>
          </a:p>
          <a:p>
            <a:pPr lvl="1">
              <a:lnSpc>
                <a:spcPct val="115000"/>
              </a:lnSpc>
              <a:spcBef>
                <a:spcPts val="0"/>
              </a:spcBef>
              <a:spcAft>
                <a:spcPts val="1000"/>
              </a:spcAft>
            </a:pPr>
            <a:r>
              <a:rPr lang="en-US" sz="1600" dirty="0">
                <a:latin typeface="Calibri" panose="020F0502020204030204" pitchFamily="34" charset="0"/>
                <a:ea typeface="Calibri" panose="020F0502020204030204" pitchFamily="34" charset="0"/>
                <a:cs typeface="Times New Roman" panose="02020603050405020304" pitchFamily="18" charset="0"/>
              </a:rPr>
              <a:t>Loops?  </a:t>
            </a:r>
            <a:r>
              <a:rPr lang="en-US" sz="16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125068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0334-0E58-4AFF-A1AA-1D01A746FCED}"/>
              </a:ext>
            </a:extLst>
          </p:cNvPr>
          <p:cNvSpPr>
            <a:spLocks noGrp="1"/>
          </p:cNvSpPr>
          <p:nvPr>
            <p:ph type="title"/>
          </p:nvPr>
        </p:nvSpPr>
        <p:spPr>
          <a:solidFill>
            <a:schemeClr val="accent6">
              <a:lumMod val="60000"/>
              <a:lumOff val="40000"/>
            </a:schemeClr>
          </a:solidFill>
        </p:spPr>
        <p:txBody>
          <a:bodyPr/>
          <a:lstStyle/>
          <a:p>
            <a:r>
              <a:rPr lang="en-US" dirty="0"/>
              <a:t>Class Repository</a:t>
            </a:r>
          </a:p>
        </p:txBody>
      </p:sp>
      <p:sp>
        <p:nvSpPr>
          <p:cNvPr id="3" name="Content Placeholder 2">
            <a:extLst>
              <a:ext uri="{FF2B5EF4-FFF2-40B4-BE49-F238E27FC236}">
                <a16:creationId xmlns:a16="http://schemas.microsoft.com/office/drawing/2014/main" id="{C313EBA5-2253-4745-94B3-2CC345EC6B4F}"/>
              </a:ext>
            </a:extLst>
          </p:cNvPr>
          <p:cNvSpPr>
            <a:spLocks noGrp="1"/>
          </p:cNvSpPr>
          <p:nvPr>
            <p:ph idx="1"/>
          </p:nvPr>
        </p:nvSpPr>
        <p:spPr/>
        <p:txBody>
          <a:bodyPr/>
          <a:lstStyle/>
          <a:p>
            <a:r>
              <a:rPr lang="en-US" dirty="0">
                <a:hlinkClick r:id="rId2"/>
              </a:rPr>
              <a:t>https://github.com/SamSwift505/NMDOH_R_WORKSHOPS_26</a:t>
            </a:r>
            <a:endParaRPr lang="en-US" dirty="0"/>
          </a:p>
          <a:p>
            <a:r>
              <a:rPr lang="en-US" sz="3600" dirty="0"/>
              <a:t>All materials will be available here </a:t>
            </a:r>
          </a:p>
          <a:p>
            <a:r>
              <a:rPr lang="en-US" sz="3600" dirty="0"/>
              <a:t>Later we do a little more with </a:t>
            </a:r>
            <a:r>
              <a:rPr lang="en-US" sz="3600" dirty="0" err="1"/>
              <a:t>github</a:t>
            </a:r>
            <a:endParaRPr lang="en-US" sz="3600" dirty="0"/>
          </a:p>
          <a:p>
            <a:endParaRPr lang="en-US" dirty="0"/>
          </a:p>
        </p:txBody>
      </p:sp>
      <p:pic>
        <p:nvPicPr>
          <p:cNvPr id="1026" name="Picture 2">
            <a:extLst>
              <a:ext uri="{FF2B5EF4-FFF2-40B4-BE49-F238E27FC236}">
                <a16:creationId xmlns:a16="http://schemas.microsoft.com/office/drawing/2014/main" id="{509075B6-2D95-41B5-8A53-C18F7BD6C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4123" y="4148659"/>
            <a:ext cx="6314830" cy="23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40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C89F-D93C-46DB-9399-F7B71D61B346}"/>
              </a:ext>
            </a:extLst>
          </p:cNvPr>
          <p:cNvSpPr>
            <a:spLocks noGrp="1"/>
          </p:cNvSpPr>
          <p:nvPr>
            <p:ph type="title"/>
          </p:nvPr>
        </p:nvSpPr>
        <p:spPr>
          <a:solidFill>
            <a:schemeClr val="accent6">
              <a:lumMod val="60000"/>
              <a:lumOff val="40000"/>
            </a:schemeClr>
          </a:solidFill>
        </p:spPr>
        <p:txBody>
          <a:bodyPr/>
          <a:lstStyle/>
          <a:p>
            <a:r>
              <a:rPr lang="en-US" dirty="0"/>
              <a:t>Installing R and R studio</a:t>
            </a:r>
          </a:p>
        </p:txBody>
      </p:sp>
      <p:sp>
        <p:nvSpPr>
          <p:cNvPr id="3" name="Content Placeholder 2">
            <a:extLst>
              <a:ext uri="{FF2B5EF4-FFF2-40B4-BE49-F238E27FC236}">
                <a16:creationId xmlns:a16="http://schemas.microsoft.com/office/drawing/2014/main" id="{9C09D00F-E886-4CD3-9524-F87A3298DECF}"/>
              </a:ext>
            </a:extLst>
          </p:cNvPr>
          <p:cNvSpPr>
            <a:spLocks noGrp="1"/>
          </p:cNvSpPr>
          <p:nvPr>
            <p:ph idx="1"/>
          </p:nvPr>
        </p:nvSpPr>
        <p:spPr>
          <a:xfrm>
            <a:off x="838199" y="1825625"/>
            <a:ext cx="10515599" cy="4351338"/>
          </a:xfrm>
        </p:spPr>
        <p:txBody>
          <a:bodyPr>
            <a:normAutofit/>
          </a:bodyPr>
          <a:lstStyle/>
          <a:p>
            <a:r>
              <a:rPr lang="en-US" sz="2400" dirty="0"/>
              <a:t>We need R and R studio to do this! </a:t>
            </a:r>
          </a:p>
          <a:p>
            <a:r>
              <a:rPr lang="en-US" sz="2400" b="0" i="0" dirty="0">
                <a:solidFill>
                  <a:srgbClr val="000000"/>
                </a:solidFill>
                <a:effectLst/>
              </a:rPr>
              <a:t>Instructions on how to install both R and R studio are below points A1-A3 here:</a:t>
            </a:r>
          </a:p>
          <a:p>
            <a:pPr algn="l"/>
            <a:r>
              <a:rPr lang="en-US" sz="2400" b="0" i="0" u="sng" dirty="0">
                <a:solidFill>
                  <a:srgbClr val="008099"/>
                </a:solidFill>
                <a:effectLst/>
                <a:hlinkClick r:id="rId2"/>
              </a:rPr>
              <a:t>https://rstudio-education.github.io/hopr/starting.htmlLinks to an external site.</a:t>
            </a:r>
            <a:endParaRPr lang="en-US" sz="2400" b="0" i="0" dirty="0">
              <a:solidFill>
                <a:srgbClr val="000000"/>
              </a:solidFill>
              <a:effectLst/>
            </a:endParaRPr>
          </a:p>
          <a:p>
            <a:pPr algn="l"/>
            <a:r>
              <a:rPr lang="en-US" sz="2400" b="0" i="0" dirty="0">
                <a:solidFill>
                  <a:srgbClr val="000000"/>
                </a:solidFill>
                <a:effectLst/>
              </a:rPr>
              <a:t>A video on installing R and R studio </a:t>
            </a:r>
          </a:p>
          <a:p>
            <a:pPr algn="l"/>
            <a:r>
              <a:rPr lang="en-US" sz="2400" b="0" i="0" u="sng" dirty="0">
                <a:solidFill>
                  <a:srgbClr val="008099"/>
                </a:solidFill>
                <a:effectLst/>
                <a:hlinkClick r:id="rId3"/>
              </a:rPr>
              <a:t>https://youtu.be/Tb3R4GLJ45U</a:t>
            </a:r>
            <a:br>
              <a:rPr lang="en-US" sz="2400" dirty="0"/>
            </a:br>
            <a:endParaRPr lang="en-US" sz="2400" dirty="0"/>
          </a:p>
          <a:p>
            <a:endParaRPr lang="en-US" dirty="0"/>
          </a:p>
        </p:txBody>
      </p:sp>
      <p:sp>
        <p:nvSpPr>
          <p:cNvPr id="8" name="TextBox 7">
            <a:extLst>
              <a:ext uri="{FF2B5EF4-FFF2-40B4-BE49-F238E27FC236}">
                <a16:creationId xmlns:a16="http://schemas.microsoft.com/office/drawing/2014/main" id="{10CFDF8F-E201-4148-8E18-A1C766D3CDDB}"/>
              </a:ext>
            </a:extLst>
          </p:cNvPr>
          <p:cNvSpPr txBox="1"/>
          <p:nvPr/>
        </p:nvSpPr>
        <p:spPr>
          <a:xfrm>
            <a:off x="838199" y="4496018"/>
            <a:ext cx="10515599" cy="1815882"/>
          </a:xfrm>
          <a:prstGeom prst="rect">
            <a:avLst/>
          </a:prstGeom>
          <a:solidFill>
            <a:schemeClr val="accent4">
              <a:lumMod val="60000"/>
              <a:lumOff val="40000"/>
            </a:schemeClr>
          </a:solidFill>
        </p:spPr>
        <p:txBody>
          <a:bodyPr wrap="square">
            <a:spAutoFit/>
          </a:bodyPr>
          <a:lstStyle/>
          <a:p>
            <a:pPr algn="l"/>
            <a:r>
              <a:rPr lang="en-US" sz="2800" b="0" i="0" dirty="0">
                <a:solidFill>
                  <a:srgbClr val="000000"/>
                </a:solidFill>
                <a:effectLst/>
                <a:latin typeface="Lato Extended"/>
              </a:rPr>
              <a:t>To run R Studio on your computer, you need to have both R and R Studio installed. </a:t>
            </a:r>
          </a:p>
          <a:p>
            <a:pPr marL="285750" indent="-285750" algn="l">
              <a:buFont typeface="Arial" panose="020B0604020202020204" pitchFamily="34" charset="0"/>
              <a:buChar char="•"/>
            </a:pPr>
            <a:r>
              <a:rPr lang="en-US" sz="2800" b="0" i="0" dirty="0">
                <a:solidFill>
                  <a:srgbClr val="000000"/>
                </a:solidFill>
                <a:effectLst/>
                <a:latin typeface="Lato Extended"/>
              </a:rPr>
              <a:t>Both of these are applications that you download </a:t>
            </a:r>
          </a:p>
          <a:p>
            <a:pPr marL="285750" indent="-285750" algn="l">
              <a:buFont typeface="Arial" panose="020B0604020202020204" pitchFamily="34" charset="0"/>
              <a:buChar char="•"/>
            </a:pPr>
            <a:r>
              <a:rPr lang="en-US" sz="2800" b="0" i="0" dirty="0">
                <a:solidFill>
                  <a:srgbClr val="000000"/>
                </a:solidFill>
                <a:effectLst/>
                <a:latin typeface="Lato Extended"/>
              </a:rPr>
              <a:t>You need admin privileges!  </a:t>
            </a:r>
          </a:p>
        </p:txBody>
      </p:sp>
    </p:spTree>
    <p:extLst>
      <p:ext uri="{BB962C8B-B14F-4D97-AF65-F5344CB8AC3E}">
        <p14:creationId xmlns:p14="http://schemas.microsoft.com/office/powerpoint/2010/main" val="2530901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0EF96-1A59-4FFA-B3F9-4EE7B1056EB1}"/>
              </a:ext>
            </a:extLst>
          </p:cNvPr>
          <p:cNvSpPr>
            <a:spLocks noGrp="1"/>
          </p:cNvSpPr>
          <p:nvPr>
            <p:ph type="title"/>
          </p:nvPr>
        </p:nvSpPr>
        <p:spPr>
          <a:xfrm>
            <a:off x="858138" y="368518"/>
            <a:ext cx="10495662" cy="1322170"/>
          </a:xfrm>
          <a:solidFill>
            <a:schemeClr val="accent6">
              <a:lumMod val="60000"/>
              <a:lumOff val="40000"/>
            </a:schemeClr>
          </a:solidFill>
        </p:spPr>
        <p:txBody>
          <a:bodyPr/>
          <a:lstStyle/>
          <a:p>
            <a:r>
              <a:rPr lang="en-US" dirty="0"/>
              <a:t>Entertaining meme</a:t>
            </a:r>
          </a:p>
        </p:txBody>
      </p:sp>
      <p:pic>
        <p:nvPicPr>
          <p:cNvPr id="1026" name="Picture 2">
            <a:extLst>
              <a:ext uri="{FF2B5EF4-FFF2-40B4-BE49-F238E27FC236}">
                <a16:creationId xmlns:a16="http://schemas.microsoft.com/office/drawing/2014/main" id="{2AEA4F02-FC5B-4746-AFFF-13845A611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188" y="1825625"/>
            <a:ext cx="8287623" cy="4875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328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28639" y="2079096"/>
            <a:ext cx="1985818" cy="711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70C0"/>
                </a:solidFill>
                <a:latin typeface="Segoe UI Black" panose="020B0A02040204020203" pitchFamily="34" charset="0"/>
                <a:ea typeface="Segoe UI Black" panose="020B0A02040204020203" pitchFamily="34" charset="0"/>
              </a:rPr>
              <a:t>What is </a:t>
            </a:r>
          </a:p>
        </p:txBody>
      </p:sp>
      <p:pic>
        <p:nvPicPr>
          <p:cNvPr id="2050" name="Picture 2" descr="https://www.r-project.org/logo/Rlogo.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981607" y="2891862"/>
            <a:ext cx="1467824" cy="11373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Rectangle 3"/>
          <p:cNvSpPr/>
          <p:nvPr/>
        </p:nvSpPr>
        <p:spPr>
          <a:xfrm>
            <a:off x="6449431" y="3022772"/>
            <a:ext cx="604490" cy="7741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rgbClr val="0070C0"/>
                </a:solidFill>
                <a:latin typeface="Segoe UI Black" panose="020B0A02040204020203" pitchFamily="34" charset="0"/>
                <a:ea typeface="Segoe UI Black" panose="020B0A02040204020203" pitchFamily="34" charset="0"/>
              </a:rPr>
              <a:t>?</a:t>
            </a:r>
          </a:p>
        </p:txBody>
      </p:sp>
      <p:grpSp>
        <p:nvGrpSpPr>
          <p:cNvPr id="8" name="Group 7"/>
          <p:cNvGrpSpPr/>
          <p:nvPr/>
        </p:nvGrpSpPr>
        <p:grpSpPr>
          <a:xfrm>
            <a:off x="227277" y="331212"/>
            <a:ext cx="4760359" cy="1736436"/>
            <a:chOff x="624441" y="629095"/>
            <a:chExt cx="4760359" cy="1736436"/>
          </a:xfrm>
        </p:grpSpPr>
        <p:sp>
          <p:nvSpPr>
            <p:cNvPr id="5" name="Rectangle 4"/>
            <p:cNvSpPr/>
            <p:nvPr/>
          </p:nvSpPr>
          <p:spPr>
            <a:xfrm>
              <a:off x="1985818" y="1118590"/>
              <a:ext cx="3398982" cy="854364"/>
            </a:xfrm>
            <a:prstGeom prst="rect">
              <a:avLst/>
            </a:prstGeom>
            <a:solidFill>
              <a:schemeClr val="bg1"/>
            </a:solidFill>
            <a:ln w="412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70C0"/>
                  </a:solidFill>
                </a:rPr>
                <a:t>Language &amp;</a:t>
              </a:r>
            </a:p>
            <a:p>
              <a:pPr algn="ctr"/>
              <a:r>
                <a:rPr lang="en-US" sz="2400" b="1" dirty="0">
                  <a:solidFill>
                    <a:srgbClr val="0070C0"/>
                  </a:solidFill>
                </a:rPr>
                <a:t> Environment</a:t>
              </a:r>
            </a:p>
          </p:txBody>
        </p:sp>
        <p:sp>
          <p:nvSpPr>
            <p:cNvPr id="7" name="Diamond 6"/>
            <p:cNvSpPr/>
            <p:nvPr/>
          </p:nvSpPr>
          <p:spPr>
            <a:xfrm>
              <a:off x="624441" y="629095"/>
              <a:ext cx="1838036" cy="1736436"/>
            </a:xfrm>
            <a:prstGeom prst="diamond">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4">
              <a:duotone>
                <a:schemeClr val="accent2">
                  <a:shade val="45000"/>
                  <a:satMod val="135000"/>
                </a:schemeClr>
                <a:prstClr val="white"/>
              </a:duotone>
            </a:blip>
            <a:stretch>
              <a:fillRect/>
            </a:stretch>
          </p:blipFill>
          <p:spPr>
            <a:xfrm>
              <a:off x="1033969" y="1118590"/>
              <a:ext cx="1018980" cy="1018980"/>
            </a:xfrm>
            <a:prstGeom prst="rect">
              <a:avLst/>
            </a:prstGeom>
            <a:ln>
              <a:noFill/>
            </a:ln>
            <a:effectLst>
              <a:outerShdw blurRad="292100" dist="139700" dir="2700000" algn="tl" rotWithShape="0">
                <a:srgbClr val="333333">
                  <a:alpha val="65000"/>
                </a:srgbClr>
              </a:outerShdw>
            </a:effectLst>
          </p:spPr>
        </p:pic>
      </p:grpSp>
      <p:grpSp>
        <p:nvGrpSpPr>
          <p:cNvPr id="10" name="Group 9"/>
          <p:cNvGrpSpPr/>
          <p:nvPr/>
        </p:nvGrpSpPr>
        <p:grpSpPr>
          <a:xfrm>
            <a:off x="221673" y="4747387"/>
            <a:ext cx="4760359" cy="1736436"/>
            <a:chOff x="624441" y="629095"/>
            <a:chExt cx="4760359" cy="1736436"/>
          </a:xfrm>
        </p:grpSpPr>
        <p:sp>
          <p:nvSpPr>
            <p:cNvPr id="11" name="Rectangle 10"/>
            <p:cNvSpPr/>
            <p:nvPr/>
          </p:nvSpPr>
          <p:spPr>
            <a:xfrm>
              <a:off x="1985818" y="1118590"/>
              <a:ext cx="3398982" cy="854364"/>
            </a:xfrm>
            <a:prstGeom prst="rect">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70C0"/>
                  </a:solidFill>
                </a:rPr>
                <a:t>Customizable</a:t>
              </a:r>
            </a:p>
          </p:txBody>
        </p:sp>
        <p:sp>
          <p:nvSpPr>
            <p:cNvPr id="12" name="Diamond 11"/>
            <p:cNvSpPr/>
            <p:nvPr/>
          </p:nvSpPr>
          <p:spPr>
            <a:xfrm>
              <a:off x="624441" y="629095"/>
              <a:ext cx="1838036" cy="1736436"/>
            </a:xfrm>
            <a:prstGeom prst="diamond">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p:cNvPicPr>
            <a:picLocks noChangeAspect="1"/>
          </p:cNvPicPr>
          <p:nvPr/>
        </p:nvPicPr>
        <p:blipFill rotWithShape="1">
          <a:blip r:embed="rId5">
            <a:duotone>
              <a:schemeClr val="accent6">
                <a:shade val="45000"/>
                <a:satMod val="135000"/>
              </a:schemeClr>
              <a:prstClr val="white"/>
            </a:duotone>
          </a:blip>
          <a:srcRect b="19143"/>
          <a:stretch/>
        </p:blipFill>
        <p:spPr>
          <a:xfrm>
            <a:off x="588238" y="5143828"/>
            <a:ext cx="1116114" cy="902458"/>
          </a:xfrm>
          <a:prstGeom prst="rect">
            <a:avLst/>
          </a:prstGeom>
          <a:ln>
            <a:noFill/>
          </a:ln>
          <a:effectLst>
            <a:outerShdw blurRad="292100" dist="139700" dir="2700000" algn="tl" rotWithShape="0">
              <a:srgbClr val="333333">
                <a:alpha val="65000"/>
              </a:srgbClr>
            </a:outerShdw>
          </a:effectLst>
        </p:spPr>
      </p:pic>
      <p:grpSp>
        <p:nvGrpSpPr>
          <p:cNvPr id="17" name="Group 16"/>
          <p:cNvGrpSpPr/>
          <p:nvPr/>
        </p:nvGrpSpPr>
        <p:grpSpPr>
          <a:xfrm>
            <a:off x="636805" y="2493170"/>
            <a:ext cx="3585682" cy="1736436"/>
            <a:chOff x="624441" y="629095"/>
            <a:chExt cx="3585682" cy="1736436"/>
          </a:xfrm>
        </p:grpSpPr>
        <p:sp>
          <p:nvSpPr>
            <p:cNvPr id="18" name="Rectangle 17"/>
            <p:cNvSpPr/>
            <p:nvPr/>
          </p:nvSpPr>
          <p:spPr>
            <a:xfrm>
              <a:off x="1985819" y="1118590"/>
              <a:ext cx="2224304" cy="854364"/>
            </a:xfrm>
            <a:prstGeom prst="rect">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70C0"/>
                  </a:solidFill>
                </a:rPr>
                <a:t>FREE!</a:t>
              </a:r>
            </a:p>
          </p:txBody>
        </p:sp>
        <p:sp>
          <p:nvSpPr>
            <p:cNvPr id="19" name="Diamond 18"/>
            <p:cNvSpPr/>
            <p:nvPr/>
          </p:nvSpPr>
          <p:spPr>
            <a:xfrm>
              <a:off x="624441" y="629095"/>
              <a:ext cx="1838036" cy="1736436"/>
            </a:xfrm>
            <a:prstGeom prst="diamond">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p:cNvPicPr>
            <a:picLocks noChangeAspect="1"/>
          </p:cNvPicPr>
          <p:nvPr/>
        </p:nvPicPr>
        <p:blipFill rotWithShape="1">
          <a:blip r:embed="rId6">
            <a:duotone>
              <a:schemeClr val="accent4">
                <a:shade val="45000"/>
                <a:satMod val="135000"/>
              </a:schemeClr>
              <a:prstClr val="white"/>
            </a:duotone>
          </a:blip>
          <a:srcRect b="15136"/>
          <a:stretch/>
        </p:blipFill>
        <p:spPr>
          <a:xfrm>
            <a:off x="994647" y="2933613"/>
            <a:ext cx="1122351" cy="952467"/>
          </a:xfrm>
          <a:prstGeom prst="rect">
            <a:avLst/>
          </a:prstGeom>
          <a:ln>
            <a:noFill/>
          </a:ln>
          <a:effectLst>
            <a:outerShdw blurRad="292100" dist="139700" dir="2700000" algn="tl" rotWithShape="0">
              <a:srgbClr val="333333">
                <a:alpha val="65000"/>
              </a:srgbClr>
            </a:outerShdw>
          </a:effectLst>
        </p:spPr>
      </p:pic>
      <p:grpSp>
        <p:nvGrpSpPr>
          <p:cNvPr id="23" name="Group 22"/>
          <p:cNvGrpSpPr/>
          <p:nvPr/>
        </p:nvGrpSpPr>
        <p:grpSpPr>
          <a:xfrm>
            <a:off x="7339378" y="379671"/>
            <a:ext cx="4572847" cy="1736436"/>
            <a:chOff x="1572565" y="729689"/>
            <a:chExt cx="4572847" cy="1736436"/>
          </a:xfrm>
        </p:grpSpPr>
        <p:sp>
          <p:nvSpPr>
            <p:cNvPr id="24" name="Rectangle 23"/>
            <p:cNvSpPr/>
            <p:nvPr/>
          </p:nvSpPr>
          <p:spPr>
            <a:xfrm>
              <a:off x="1572565" y="1170725"/>
              <a:ext cx="3398982" cy="854364"/>
            </a:xfrm>
            <a:prstGeom prst="rect">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70C0"/>
                  </a:solidFill>
                </a:rPr>
                <a:t>Statistics</a:t>
              </a:r>
            </a:p>
          </p:txBody>
        </p:sp>
        <p:sp>
          <p:nvSpPr>
            <p:cNvPr id="25" name="Diamond 24"/>
            <p:cNvSpPr/>
            <p:nvPr/>
          </p:nvSpPr>
          <p:spPr>
            <a:xfrm>
              <a:off x="4307376" y="729689"/>
              <a:ext cx="1838036" cy="1736436"/>
            </a:xfrm>
            <a:prstGeom prst="diamond">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Picture 21"/>
          <p:cNvPicPr>
            <a:picLocks noChangeAspect="1"/>
          </p:cNvPicPr>
          <p:nvPr/>
        </p:nvPicPr>
        <p:blipFill>
          <a:blip r:embed="rId7">
            <a:duotone>
              <a:schemeClr val="accent6">
                <a:shade val="45000"/>
                <a:satMod val="135000"/>
              </a:schemeClr>
              <a:prstClr val="white"/>
            </a:duotone>
          </a:blip>
          <a:stretch>
            <a:fillRect/>
          </a:stretch>
        </p:blipFill>
        <p:spPr>
          <a:xfrm>
            <a:off x="10579236" y="847130"/>
            <a:ext cx="827941" cy="827941"/>
          </a:xfrm>
          <a:prstGeom prst="rect">
            <a:avLst/>
          </a:prstGeom>
          <a:ln>
            <a:noFill/>
          </a:ln>
          <a:effectLst>
            <a:outerShdw blurRad="292100" dist="139700" dir="2700000" algn="tl" rotWithShape="0">
              <a:srgbClr val="333333">
                <a:alpha val="65000"/>
              </a:srgbClr>
            </a:outerShdw>
          </a:effectLst>
        </p:spPr>
      </p:pic>
      <p:grpSp>
        <p:nvGrpSpPr>
          <p:cNvPr id="28" name="Group 27"/>
          <p:cNvGrpSpPr/>
          <p:nvPr/>
        </p:nvGrpSpPr>
        <p:grpSpPr>
          <a:xfrm>
            <a:off x="8113428" y="2434696"/>
            <a:ext cx="3543950" cy="1736436"/>
            <a:chOff x="1985819" y="590382"/>
            <a:chExt cx="3543950" cy="1736436"/>
          </a:xfrm>
        </p:grpSpPr>
        <p:sp>
          <p:nvSpPr>
            <p:cNvPr id="29" name="Rectangle 28"/>
            <p:cNvSpPr/>
            <p:nvPr/>
          </p:nvSpPr>
          <p:spPr>
            <a:xfrm>
              <a:off x="1985819" y="1118590"/>
              <a:ext cx="2224304" cy="854364"/>
            </a:xfrm>
            <a:prstGeom prst="rect">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0070C0"/>
                  </a:solidFill>
                </a:rPr>
                <a:t> Community</a:t>
              </a:r>
            </a:p>
          </p:txBody>
        </p:sp>
        <p:sp>
          <p:nvSpPr>
            <p:cNvPr id="30" name="Diamond 29"/>
            <p:cNvSpPr/>
            <p:nvPr/>
          </p:nvSpPr>
          <p:spPr>
            <a:xfrm>
              <a:off x="3691733" y="590382"/>
              <a:ext cx="1838036" cy="1736436"/>
            </a:xfrm>
            <a:prstGeom prst="diamond">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p:cNvGrpSpPr/>
          <p:nvPr/>
        </p:nvGrpSpPr>
        <p:grpSpPr>
          <a:xfrm>
            <a:off x="7339378" y="4726839"/>
            <a:ext cx="4572847" cy="1736436"/>
            <a:chOff x="1572565" y="729689"/>
            <a:chExt cx="4572847" cy="1736436"/>
          </a:xfrm>
        </p:grpSpPr>
        <p:sp>
          <p:nvSpPr>
            <p:cNvPr id="32" name="Rectangle 31"/>
            <p:cNvSpPr/>
            <p:nvPr/>
          </p:nvSpPr>
          <p:spPr>
            <a:xfrm>
              <a:off x="1572565" y="1170725"/>
              <a:ext cx="3398982" cy="854364"/>
            </a:xfrm>
            <a:prstGeom prst="rect">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70C0"/>
                  </a:solidFill>
                </a:rPr>
                <a:t>Online Training</a:t>
              </a:r>
            </a:p>
          </p:txBody>
        </p:sp>
        <p:sp>
          <p:nvSpPr>
            <p:cNvPr id="33" name="Diamond 32"/>
            <p:cNvSpPr/>
            <p:nvPr/>
          </p:nvSpPr>
          <p:spPr>
            <a:xfrm>
              <a:off x="4307376" y="729689"/>
              <a:ext cx="1838036" cy="1736436"/>
            </a:xfrm>
            <a:prstGeom prst="diamond">
              <a:avLst/>
            </a:prstGeom>
            <a:solidFill>
              <a:schemeClr val="bg1"/>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7" name="Picture 26"/>
          <p:cNvPicPr>
            <a:picLocks noChangeAspect="1"/>
          </p:cNvPicPr>
          <p:nvPr/>
        </p:nvPicPr>
        <p:blipFill rotWithShape="1">
          <a:blip r:embed="rId8">
            <a:duotone>
              <a:schemeClr val="accent2">
                <a:shade val="45000"/>
                <a:satMod val="135000"/>
              </a:schemeClr>
              <a:prstClr val="white"/>
            </a:duotone>
          </a:blip>
          <a:srcRect b="12909"/>
          <a:stretch/>
        </p:blipFill>
        <p:spPr>
          <a:xfrm>
            <a:off x="10215908" y="2891862"/>
            <a:ext cx="1044903" cy="910016"/>
          </a:xfrm>
          <a:prstGeom prst="rect">
            <a:avLst/>
          </a:prstGeom>
          <a:ln>
            <a:noFill/>
          </a:ln>
          <a:effectLst>
            <a:outerShdw blurRad="292100" dist="139700" dir="2700000" algn="tl" rotWithShape="0">
              <a:srgbClr val="333333">
                <a:alpha val="65000"/>
              </a:srgbClr>
            </a:outerShdw>
          </a:effectLst>
        </p:spPr>
      </p:pic>
      <p:pic>
        <p:nvPicPr>
          <p:cNvPr id="34" name="Picture 33"/>
          <p:cNvPicPr>
            <a:picLocks noChangeAspect="1"/>
          </p:cNvPicPr>
          <p:nvPr/>
        </p:nvPicPr>
        <p:blipFill rotWithShape="1">
          <a:blip r:embed="rId9">
            <a:duotone>
              <a:schemeClr val="accent4">
                <a:shade val="45000"/>
                <a:satMod val="135000"/>
              </a:schemeClr>
              <a:prstClr val="white"/>
            </a:duotone>
          </a:blip>
          <a:srcRect b="16511"/>
          <a:stretch/>
        </p:blipFill>
        <p:spPr>
          <a:xfrm>
            <a:off x="10465395" y="5134111"/>
            <a:ext cx="1055622" cy="881330"/>
          </a:xfrm>
          <a:prstGeom prst="rect">
            <a:avLst/>
          </a:prstGeom>
          <a:ln>
            <a:noFill/>
          </a:ln>
          <a:effectLst>
            <a:outerShdw blurRad="292100" dist="139700" dir="2700000" algn="tl" rotWithShape="0">
              <a:srgbClr val="333333">
                <a:alpha val="65000"/>
              </a:srgbClr>
            </a:outerShdw>
          </a:effectLst>
        </p:spPr>
      </p:pic>
      <p:sp>
        <p:nvSpPr>
          <p:cNvPr id="35" name="TextBox 34"/>
          <p:cNvSpPr txBox="1"/>
          <p:nvPr/>
        </p:nvSpPr>
        <p:spPr>
          <a:xfrm>
            <a:off x="8134464" y="6483823"/>
            <a:ext cx="2444772" cy="338554"/>
          </a:xfrm>
          <a:prstGeom prst="rect">
            <a:avLst/>
          </a:prstGeom>
          <a:noFill/>
        </p:spPr>
        <p:txBody>
          <a:bodyPr wrap="none" rtlCol="0">
            <a:spAutoFit/>
          </a:bodyPr>
          <a:lstStyle/>
          <a:p>
            <a:r>
              <a:rPr lang="en-US" sz="1600" i="1" dirty="0">
                <a:solidFill>
                  <a:schemeClr val="bg1">
                    <a:lumMod val="50000"/>
                  </a:schemeClr>
                </a:solidFill>
              </a:rPr>
              <a:t>https://www.r-project.org/</a:t>
            </a:r>
          </a:p>
        </p:txBody>
      </p:sp>
    </p:spTree>
    <p:extLst>
      <p:ext uri="{BB962C8B-B14F-4D97-AF65-F5344CB8AC3E}">
        <p14:creationId xmlns:p14="http://schemas.microsoft.com/office/powerpoint/2010/main" val="3608845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r>
              <a:rPr lang="en-US" dirty="0">
                <a:latin typeface="+mn-lt"/>
              </a:rPr>
              <a:t>There are Some Disadvantages to R/ R studio</a:t>
            </a:r>
          </a:p>
        </p:txBody>
      </p:sp>
      <p:sp>
        <p:nvSpPr>
          <p:cNvPr id="3" name="Content Placeholder 2"/>
          <p:cNvSpPr>
            <a:spLocks noGrp="1"/>
          </p:cNvSpPr>
          <p:nvPr>
            <p:ph idx="1"/>
          </p:nvPr>
        </p:nvSpPr>
        <p:spPr>
          <a:xfrm>
            <a:off x="838200" y="2379642"/>
            <a:ext cx="10515600" cy="3963285"/>
          </a:xfrm>
          <a:solidFill>
            <a:schemeClr val="bg1">
              <a:lumMod val="85000"/>
            </a:schemeClr>
          </a:solidFill>
        </p:spPr>
        <p:txBody>
          <a:bodyPr>
            <a:normAutofit fontScale="92500" lnSpcReduction="20000"/>
          </a:bodyPr>
          <a:lstStyle/>
          <a:p>
            <a:pPr marL="457200" indent="-457200">
              <a:lnSpc>
                <a:spcPct val="150000"/>
              </a:lnSpc>
              <a:buFont typeface="Wingdings" panose="05000000000000000000" pitchFamily="2" charset="2"/>
              <a:buChar char="Ø"/>
            </a:pPr>
            <a:r>
              <a:rPr lang="en-US" dirty="0"/>
              <a:t>Can be less intuitive to learn then other programs</a:t>
            </a:r>
          </a:p>
          <a:p>
            <a:pPr marL="457200" indent="-457200">
              <a:lnSpc>
                <a:spcPct val="150000"/>
              </a:lnSpc>
              <a:buFont typeface="Wingdings" panose="05000000000000000000" pitchFamily="2" charset="2"/>
              <a:buChar char="Ø"/>
            </a:pPr>
            <a:r>
              <a:rPr lang="en-US" dirty="0"/>
              <a:t>Updates require maintenance</a:t>
            </a:r>
          </a:p>
          <a:p>
            <a:pPr marL="457200" indent="-457200">
              <a:lnSpc>
                <a:spcPct val="150000"/>
              </a:lnSpc>
              <a:buFont typeface="Wingdings" panose="05000000000000000000" pitchFamily="2" charset="2"/>
              <a:buChar char="Ø"/>
            </a:pPr>
            <a:r>
              <a:rPr lang="en-US" dirty="0"/>
              <a:t>Security</a:t>
            </a:r>
          </a:p>
          <a:p>
            <a:pPr marL="457200" indent="-457200">
              <a:lnSpc>
                <a:spcPct val="150000"/>
              </a:lnSpc>
              <a:buFont typeface="Wingdings" panose="05000000000000000000" pitchFamily="2" charset="2"/>
              <a:buChar char="Ø"/>
            </a:pPr>
            <a:r>
              <a:rPr lang="en-US" dirty="0"/>
              <a:t>Can be slower than other languages</a:t>
            </a:r>
          </a:p>
          <a:p>
            <a:pPr marL="457200" indent="-457200">
              <a:lnSpc>
                <a:spcPct val="150000"/>
              </a:lnSpc>
              <a:buFont typeface="Wingdings" panose="05000000000000000000" pitchFamily="2" charset="2"/>
              <a:buChar char="Ø"/>
            </a:pPr>
            <a:r>
              <a:rPr lang="en-US" dirty="0"/>
              <a:t>Some packages are not great quality</a:t>
            </a:r>
          </a:p>
          <a:p>
            <a:pPr marL="457200" indent="-457200">
              <a:lnSpc>
                <a:spcPct val="150000"/>
              </a:lnSpc>
              <a:buFont typeface="Wingdings" panose="05000000000000000000" pitchFamily="2" charset="2"/>
              <a:buChar char="Ø"/>
            </a:pPr>
            <a:r>
              <a:rPr lang="en-US" dirty="0"/>
              <a:t>Memory management</a:t>
            </a:r>
          </a:p>
          <a:p>
            <a:pPr marL="457200" indent="-457200">
              <a:lnSpc>
                <a:spcPct val="150000"/>
              </a:lnSpc>
              <a:buFont typeface="Wingdings" panose="05000000000000000000" pitchFamily="2" charset="2"/>
              <a:buChar char="Ø"/>
            </a:pPr>
            <a:endParaRPr lang="en-US" dirty="0"/>
          </a:p>
        </p:txBody>
      </p:sp>
      <p:pic>
        <p:nvPicPr>
          <p:cNvPr id="4" name="Picture 3"/>
          <p:cNvPicPr>
            <a:picLocks noChangeAspect="1"/>
          </p:cNvPicPr>
          <p:nvPr/>
        </p:nvPicPr>
        <p:blipFill rotWithShape="1">
          <a:blip r:embed="rId3">
            <a:duotone>
              <a:schemeClr val="accent5">
                <a:shade val="45000"/>
                <a:satMod val="135000"/>
              </a:schemeClr>
              <a:prstClr val="white"/>
            </a:duotone>
          </a:blip>
          <a:srcRect l="7789" r="9369" b="17754"/>
          <a:stretch/>
        </p:blipFill>
        <p:spPr>
          <a:xfrm>
            <a:off x="8252749" y="3067291"/>
            <a:ext cx="2708476" cy="2688998"/>
          </a:xfrm>
          <a:prstGeom prst="rect">
            <a:avLst/>
          </a:prstGeom>
        </p:spPr>
      </p:pic>
    </p:spTree>
    <p:extLst>
      <p:ext uri="{BB962C8B-B14F-4D97-AF65-F5344CB8AC3E}">
        <p14:creationId xmlns:p14="http://schemas.microsoft.com/office/powerpoint/2010/main" val="1381383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4E2E6-B7A4-4FC7-B26C-34396AB4AFB7}"/>
              </a:ext>
            </a:extLst>
          </p:cNvPr>
          <p:cNvSpPr>
            <a:spLocks noGrp="1"/>
          </p:cNvSpPr>
          <p:nvPr>
            <p:ph type="title"/>
          </p:nvPr>
        </p:nvSpPr>
        <p:spPr>
          <a:solidFill>
            <a:schemeClr val="accent6">
              <a:lumMod val="60000"/>
              <a:lumOff val="40000"/>
            </a:schemeClr>
          </a:solidFill>
        </p:spPr>
        <p:txBody>
          <a:bodyPr/>
          <a:lstStyle/>
          <a:p>
            <a:r>
              <a:rPr lang="en-US" dirty="0"/>
              <a:t>R vs R studio- Why do we need both? </a:t>
            </a:r>
          </a:p>
        </p:txBody>
      </p:sp>
      <p:sp>
        <p:nvSpPr>
          <p:cNvPr id="3" name="Content Placeholder 2">
            <a:extLst>
              <a:ext uri="{FF2B5EF4-FFF2-40B4-BE49-F238E27FC236}">
                <a16:creationId xmlns:a16="http://schemas.microsoft.com/office/drawing/2014/main" id="{F1473AA8-3E28-4E3A-A2AA-B685A8C45DB1}"/>
              </a:ext>
            </a:extLst>
          </p:cNvPr>
          <p:cNvSpPr>
            <a:spLocks noGrp="1"/>
          </p:cNvSpPr>
          <p:nvPr>
            <p:ph idx="1"/>
          </p:nvPr>
        </p:nvSpPr>
        <p:spPr/>
        <p:txBody>
          <a:bodyPr/>
          <a:lstStyle/>
          <a:p>
            <a:r>
              <a:rPr lang="en-US" dirty="0"/>
              <a:t>By installing R, you install the code that R studio runs on </a:t>
            </a:r>
          </a:p>
          <a:p>
            <a:r>
              <a:rPr lang="en-US" dirty="0"/>
              <a:t>R studio us a “user friendly” (?) interface that we use to code in R</a:t>
            </a:r>
          </a:p>
        </p:txBody>
      </p:sp>
      <p:pic>
        <p:nvPicPr>
          <p:cNvPr id="4" name="Picture 3">
            <a:extLst>
              <a:ext uri="{FF2B5EF4-FFF2-40B4-BE49-F238E27FC236}">
                <a16:creationId xmlns:a16="http://schemas.microsoft.com/office/drawing/2014/main" id="{301F3863-FC43-4300-8FDA-8C1F938ADC7F}"/>
              </a:ext>
            </a:extLst>
          </p:cNvPr>
          <p:cNvPicPr>
            <a:picLocks noChangeAspect="1"/>
          </p:cNvPicPr>
          <p:nvPr/>
        </p:nvPicPr>
        <p:blipFill rotWithShape="1">
          <a:blip r:embed="rId2"/>
          <a:srcRect b="5066"/>
          <a:stretch/>
        </p:blipFill>
        <p:spPr>
          <a:xfrm>
            <a:off x="427885" y="3872872"/>
            <a:ext cx="4597407" cy="2455017"/>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00273BB2-EC5A-40D8-B0D0-031AA0B4EA53}"/>
              </a:ext>
            </a:extLst>
          </p:cNvPr>
          <p:cNvSpPr txBox="1"/>
          <p:nvPr/>
        </p:nvSpPr>
        <p:spPr>
          <a:xfrm>
            <a:off x="6653889" y="4223217"/>
            <a:ext cx="4236334" cy="1754326"/>
          </a:xfrm>
          <a:prstGeom prst="rect">
            <a:avLst/>
          </a:prstGeom>
          <a:solidFill>
            <a:schemeClr val="bg1"/>
          </a:solidFill>
          <a:ln>
            <a:solidFill>
              <a:schemeClr val="tx1"/>
            </a:solidFill>
          </a:ln>
        </p:spPr>
        <p:txBody>
          <a:bodyPr wrap="square" rtlCol="0">
            <a:spAutoFit/>
          </a:bodyPr>
          <a:lstStyle/>
          <a:p>
            <a:pPr algn="ctr"/>
            <a:endParaRPr lang="en-US" sz="1200" dirty="0"/>
          </a:p>
          <a:p>
            <a:pPr algn="ctr"/>
            <a:r>
              <a:rPr lang="en-US" sz="2800" dirty="0">
                <a:solidFill>
                  <a:schemeClr val="accent2"/>
                </a:solidFill>
              </a:rPr>
              <a:t>It is possible to work directly in the R Console, but it is clunky!  </a:t>
            </a:r>
          </a:p>
          <a:p>
            <a:pPr algn="ctr"/>
            <a:endParaRPr lang="en-US" sz="1200" dirty="0"/>
          </a:p>
        </p:txBody>
      </p:sp>
      <p:cxnSp>
        <p:nvCxnSpPr>
          <p:cNvPr id="6" name="Straight Arrow Connector 5">
            <a:extLst>
              <a:ext uri="{FF2B5EF4-FFF2-40B4-BE49-F238E27FC236}">
                <a16:creationId xmlns:a16="http://schemas.microsoft.com/office/drawing/2014/main" id="{307F4393-B3BE-4EAF-A014-4BB9EBDC4FD6}"/>
              </a:ext>
            </a:extLst>
          </p:cNvPr>
          <p:cNvCxnSpPr>
            <a:cxnSpLocks/>
          </p:cNvCxnSpPr>
          <p:nvPr/>
        </p:nvCxnSpPr>
        <p:spPr>
          <a:xfrm flipH="1" flipV="1">
            <a:off x="4584964" y="4837893"/>
            <a:ext cx="2068925" cy="101430"/>
          </a:xfrm>
          <a:prstGeom prst="straightConnector1">
            <a:avLst/>
          </a:prstGeom>
          <a:ln w="1905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6674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a:spLocks noChangeAspect="1"/>
          </p:cNvSpPr>
          <p:nvPr/>
        </p:nvSpPr>
        <p:spPr>
          <a:xfrm>
            <a:off x="1575183" y="1453225"/>
            <a:ext cx="590104" cy="590104"/>
          </a:xfrm>
          <a:prstGeom prst="ellipse">
            <a:avLst/>
          </a:prstGeom>
          <a:solidFill>
            <a:schemeClr val="tx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9" name="TextBox 28"/>
          <p:cNvSpPr txBox="1"/>
          <p:nvPr/>
        </p:nvSpPr>
        <p:spPr>
          <a:xfrm>
            <a:off x="9619451" y="6481098"/>
            <a:ext cx="2444772" cy="338554"/>
          </a:xfrm>
          <a:prstGeom prst="rect">
            <a:avLst/>
          </a:prstGeom>
          <a:noFill/>
        </p:spPr>
        <p:txBody>
          <a:bodyPr wrap="none" rtlCol="0">
            <a:spAutoFit/>
          </a:bodyPr>
          <a:lstStyle/>
          <a:p>
            <a:r>
              <a:rPr lang="en-US" sz="1600" i="1" dirty="0">
                <a:solidFill>
                  <a:schemeClr val="bg1">
                    <a:lumMod val="50000"/>
                  </a:schemeClr>
                </a:solidFill>
              </a:rPr>
              <a:t>https://www.rstudio.com/</a:t>
            </a:r>
          </a:p>
        </p:txBody>
      </p:sp>
      <p:cxnSp>
        <p:nvCxnSpPr>
          <p:cNvPr id="31" name="Straight Connector 30"/>
          <p:cNvCxnSpPr/>
          <p:nvPr/>
        </p:nvCxnSpPr>
        <p:spPr>
          <a:xfrm flipH="1" flipV="1">
            <a:off x="4623751" y="1852641"/>
            <a:ext cx="644935" cy="74411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a:xfrm>
            <a:off x="3475289" y="580289"/>
            <a:ext cx="1463040" cy="1463040"/>
            <a:chOff x="2998339" y="2865892"/>
            <a:chExt cx="1463040" cy="1463040"/>
          </a:xfrm>
        </p:grpSpPr>
        <p:sp>
          <p:nvSpPr>
            <p:cNvPr id="16" name="Oval 15"/>
            <p:cNvSpPr>
              <a:spLocks noChangeAspect="1"/>
            </p:cNvSpPr>
            <p:nvPr/>
          </p:nvSpPr>
          <p:spPr>
            <a:xfrm>
              <a:off x="2998339" y="2865892"/>
              <a:ext cx="1463040" cy="1463040"/>
            </a:xfrm>
            <a:prstGeom prst="ellipse">
              <a:avLst/>
            </a:prstGeom>
            <a:solidFill>
              <a:schemeClr val="accent4"/>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7" name="TextBox 16"/>
            <p:cNvSpPr txBox="1"/>
            <p:nvPr/>
          </p:nvSpPr>
          <p:spPr>
            <a:xfrm>
              <a:off x="3122280" y="3285526"/>
              <a:ext cx="1176065" cy="523220"/>
            </a:xfrm>
            <a:prstGeom prst="rect">
              <a:avLst/>
            </a:prstGeom>
            <a:noFill/>
          </p:spPr>
          <p:txBody>
            <a:bodyPr wrap="square" rtlCol="0">
              <a:spAutoFit/>
            </a:bodyPr>
            <a:lstStyle/>
            <a:p>
              <a:pPr algn="ctr"/>
              <a:r>
                <a:rPr lang="en-US" sz="2800" dirty="0">
                  <a:solidFill>
                    <a:schemeClr val="bg1"/>
                  </a:solidFill>
                </a:rPr>
                <a:t>Plots</a:t>
              </a:r>
            </a:p>
          </p:txBody>
        </p:sp>
      </p:grpSp>
      <p:cxnSp>
        <p:nvCxnSpPr>
          <p:cNvPr id="37" name="Straight Connector 36"/>
          <p:cNvCxnSpPr/>
          <p:nvPr/>
        </p:nvCxnSpPr>
        <p:spPr>
          <a:xfrm flipH="1">
            <a:off x="3342202" y="4016415"/>
            <a:ext cx="1433093" cy="557092"/>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7144611" y="2184446"/>
            <a:ext cx="940963" cy="65253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4708225" y="2235427"/>
            <a:ext cx="2723969" cy="2723969"/>
            <a:chOff x="4952539" y="3661384"/>
            <a:chExt cx="2723969" cy="2723969"/>
          </a:xfrm>
        </p:grpSpPr>
        <p:sp>
          <p:nvSpPr>
            <p:cNvPr id="7" name="Oval 6"/>
            <p:cNvSpPr>
              <a:spLocks noChangeAspect="1"/>
            </p:cNvSpPr>
            <p:nvPr/>
          </p:nvSpPr>
          <p:spPr>
            <a:xfrm>
              <a:off x="4952539" y="3661384"/>
              <a:ext cx="2723969" cy="2723969"/>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rotWithShape="1">
            <a:blip r:embed="rId2"/>
            <a:srcRect l="5428" t="20072" r="83360" b="69295"/>
            <a:stretch/>
          </p:blipFill>
          <p:spPr>
            <a:xfrm>
              <a:off x="5137630" y="4450567"/>
              <a:ext cx="2236508" cy="1192987"/>
            </a:xfrm>
            <a:prstGeom prst="rect">
              <a:avLst/>
            </a:prstGeom>
          </p:spPr>
        </p:pic>
      </p:grpSp>
      <p:cxnSp>
        <p:nvCxnSpPr>
          <p:cNvPr id="47" name="Straight Connector 46"/>
          <p:cNvCxnSpPr/>
          <p:nvPr/>
        </p:nvCxnSpPr>
        <p:spPr>
          <a:xfrm flipH="1" flipV="1">
            <a:off x="7570381" y="0"/>
            <a:ext cx="553695" cy="61898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23" idx="6"/>
          </p:cNvCxnSpPr>
          <p:nvPr/>
        </p:nvCxnSpPr>
        <p:spPr>
          <a:xfrm flipH="1">
            <a:off x="2165287" y="1432663"/>
            <a:ext cx="1310003" cy="315614"/>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flipV="1">
            <a:off x="2755900" y="5867400"/>
            <a:ext cx="1562100" cy="990601"/>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6344594" y="4935316"/>
            <a:ext cx="56206" cy="44705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flipV="1">
            <a:off x="7344256" y="4063221"/>
            <a:ext cx="1672153" cy="51028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15" idx="0"/>
          </p:cNvCxnSpPr>
          <p:nvPr/>
        </p:nvCxnSpPr>
        <p:spPr>
          <a:xfrm flipH="1" flipV="1">
            <a:off x="8934668" y="2349427"/>
            <a:ext cx="158602" cy="78480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H="1">
            <a:off x="9174450" y="1852641"/>
            <a:ext cx="3017551" cy="157104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Oval 14"/>
          <p:cNvSpPr>
            <a:spLocks noChangeAspect="1"/>
          </p:cNvSpPr>
          <p:nvPr/>
        </p:nvSpPr>
        <p:spPr>
          <a:xfrm>
            <a:off x="8798218" y="3134230"/>
            <a:ext cx="590104" cy="590104"/>
          </a:xfrm>
          <a:prstGeom prst="ellipse">
            <a:avLst/>
          </a:prstGeom>
          <a:solidFill>
            <a:schemeClr val="tx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nvGrpSpPr>
          <p:cNvPr id="22" name="Group 21"/>
          <p:cNvGrpSpPr/>
          <p:nvPr/>
        </p:nvGrpSpPr>
        <p:grpSpPr>
          <a:xfrm>
            <a:off x="7646855" y="446365"/>
            <a:ext cx="1972596" cy="1972596"/>
            <a:chOff x="6304191" y="2689466"/>
            <a:chExt cx="1972596" cy="1972596"/>
          </a:xfrm>
        </p:grpSpPr>
        <p:sp>
          <p:nvSpPr>
            <p:cNvPr id="13" name="Oval 12"/>
            <p:cNvSpPr>
              <a:spLocks noChangeAspect="1"/>
            </p:cNvSpPr>
            <p:nvPr/>
          </p:nvSpPr>
          <p:spPr>
            <a:xfrm>
              <a:off x="6304191" y="2689466"/>
              <a:ext cx="1972596" cy="1972596"/>
            </a:xfrm>
            <a:prstGeom prst="ellipse">
              <a:avLst/>
            </a:prstGeom>
            <a:solidFill>
              <a:schemeClr val="accent2">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TextBox 13"/>
            <p:cNvSpPr txBox="1"/>
            <p:nvPr/>
          </p:nvSpPr>
          <p:spPr>
            <a:xfrm>
              <a:off x="6540343" y="3195190"/>
              <a:ext cx="1483566" cy="961148"/>
            </a:xfrm>
            <a:prstGeom prst="rect">
              <a:avLst/>
            </a:prstGeom>
            <a:noFill/>
          </p:spPr>
          <p:txBody>
            <a:bodyPr wrap="square" rtlCol="0">
              <a:spAutoFit/>
            </a:bodyPr>
            <a:lstStyle/>
            <a:p>
              <a:pPr algn="ctr"/>
              <a:r>
                <a:rPr lang="en-US" sz="2800" dirty="0">
                  <a:solidFill>
                    <a:schemeClr val="bg1"/>
                  </a:solidFill>
                </a:rPr>
                <a:t>Code History</a:t>
              </a:r>
            </a:p>
          </p:txBody>
        </p:sp>
      </p:grpSp>
      <p:grpSp>
        <p:nvGrpSpPr>
          <p:cNvPr id="28" name="Group 27"/>
          <p:cNvGrpSpPr/>
          <p:nvPr/>
        </p:nvGrpSpPr>
        <p:grpSpPr>
          <a:xfrm>
            <a:off x="8917812" y="3670873"/>
            <a:ext cx="2468880" cy="2468880"/>
            <a:chOff x="8153882" y="4073843"/>
            <a:chExt cx="2468880" cy="2468880"/>
          </a:xfrm>
        </p:grpSpPr>
        <p:sp>
          <p:nvSpPr>
            <p:cNvPr id="9" name="Oval 8"/>
            <p:cNvSpPr>
              <a:spLocks noChangeAspect="1"/>
            </p:cNvSpPr>
            <p:nvPr/>
          </p:nvSpPr>
          <p:spPr>
            <a:xfrm>
              <a:off x="8153882" y="4073843"/>
              <a:ext cx="2468880" cy="2468880"/>
            </a:xfrm>
            <a:prstGeom prst="ellipse">
              <a:avLst/>
            </a:prstGeom>
            <a:solidFill>
              <a:schemeClr val="accent5">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0" name="TextBox 9"/>
            <p:cNvSpPr txBox="1"/>
            <p:nvPr/>
          </p:nvSpPr>
          <p:spPr>
            <a:xfrm>
              <a:off x="8410520" y="4873347"/>
              <a:ext cx="1955604" cy="954107"/>
            </a:xfrm>
            <a:prstGeom prst="rect">
              <a:avLst/>
            </a:prstGeom>
            <a:noFill/>
          </p:spPr>
          <p:txBody>
            <a:bodyPr wrap="square" rtlCol="0">
              <a:spAutoFit/>
            </a:bodyPr>
            <a:lstStyle/>
            <a:p>
              <a:pPr algn="ctr"/>
              <a:r>
                <a:rPr lang="en-US" sz="2800" dirty="0">
                  <a:solidFill>
                    <a:schemeClr val="bg1"/>
                  </a:solidFill>
                </a:rPr>
                <a:t>Code/Script Editor</a:t>
              </a:r>
            </a:p>
          </p:txBody>
        </p:sp>
      </p:grpSp>
      <p:grpSp>
        <p:nvGrpSpPr>
          <p:cNvPr id="26" name="Group 25"/>
          <p:cNvGrpSpPr/>
          <p:nvPr/>
        </p:nvGrpSpPr>
        <p:grpSpPr>
          <a:xfrm>
            <a:off x="5884685" y="5187335"/>
            <a:ext cx="1463040" cy="1463040"/>
            <a:chOff x="702247" y="3708083"/>
            <a:chExt cx="1463040" cy="1463040"/>
          </a:xfrm>
        </p:grpSpPr>
        <p:sp>
          <p:nvSpPr>
            <p:cNvPr id="11" name="Oval 10"/>
            <p:cNvSpPr>
              <a:spLocks noChangeAspect="1"/>
            </p:cNvSpPr>
            <p:nvPr/>
          </p:nvSpPr>
          <p:spPr>
            <a:xfrm>
              <a:off x="702247" y="3708083"/>
              <a:ext cx="1463040" cy="1463040"/>
            </a:xfrm>
            <a:prstGeom prst="ellipse">
              <a:avLst/>
            </a:prstGeom>
            <a:solidFill>
              <a:schemeClr val="accent6">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2" name="TextBox 11"/>
            <p:cNvSpPr txBox="1"/>
            <p:nvPr/>
          </p:nvSpPr>
          <p:spPr>
            <a:xfrm>
              <a:off x="838200" y="3962549"/>
              <a:ext cx="1176065" cy="954107"/>
            </a:xfrm>
            <a:prstGeom prst="rect">
              <a:avLst/>
            </a:prstGeom>
            <a:noFill/>
          </p:spPr>
          <p:txBody>
            <a:bodyPr wrap="square" rtlCol="0">
              <a:spAutoFit/>
            </a:bodyPr>
            <a:lstStyle/>
            <a:p>
              <a:pPr algn="ctr"/>
              <a:r>
                <a:rPr lang="en-US" sz="2800" dirty="0">
                  <a:solidFill>
                    <a:schemeClr val="bg1"/>
                  </a:solidFill>
                </a:rPr>
                <a:t>Cheat- sheets</a:t>
              </a:r>
            </a:p>
          </p:txBody>
        </p:sp>
      </p:grpSp>
      <p:grpSp>
        <p:nvGrpSpPr>
          <p:cNvPr id="27" name="Group 26"/>
          <p:cNvGrpSpPr/>
          <p:nvPr/>
        </p:nvGrpSpPr>
        <p:grpSpPr>
          <a:xfrm>
            <a:off x="917206" y="3670873"/>
            <a:ext cx="2468880" cy="2468880"/>
            <a:chOff x="2115404" y="4366997"/>
            <a:chExt cx="2468880" cy="2468880"/>
          </a:xfrm>
        </p:grpSpPr>
        <p:sp>
          <p:nvSpPr>
            <p:cNvPr id="18" name="Oval 17"/>
            <p:cNvSpPr>
              <a:spLocks noChangeAspect="1"/>
            </p:cNvSpPr>
            <p:nvPr/>
          </p:nvSpPr>
          <p:spPr>
            <a:xfrm>
              <a:off x="2115404" y="4366997"/>
              <a:ext cx="2468880" cy="2468880"/>
            </a:xfrm>
            <a:prstGeom prst="ellipse">
              <a:avLst/>
            </a:prstGeom>
            <a:solidFill>
              <a:schemeClr val="accent5">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9" name="TextBox 18"/>
            <p:cNvSpPr txBox="1"/>
            <p:nvPr/>
          </p:nvSpPr>
          <p:spPr>
            <a:xfrm>
              <a:off x="2372042" y="5124383"/>
              <a:ext cx="1955604" cy="954107"/>
            </a:xfrm>
            <a:prstGeom prst="rect">
              <a:avLst/>
            </a:prstGeom>
            <a:noFill/>
          </p:spPr>
          <p:txBody>
            <a:bodyPr wrap="square" rtlCol="0">
              <a:spAutoFit/>
            </a:bodyPr>
            <a:lstStyle/>
            <a:p>
              <a:pPr algn="ctr"/>
              <a:r>
                <a:rPr lang="en-US" sz="2800" dirty="0">
                  <a:solidFill>
                    <a:schemeClr val="bg1"/>
                  </a:solidFill>
                </a:rPr>
                <a:t>Auto-Completion</a:t>
              </a:r>
            </a:p>
          </p:txBody>
        </p:sp>
      </p:grpSp>
      <p:sp>
        <p:nvSpPr>
          <p:cNvPr id="2" name="Star: 12 Points 1">
            <a:extLst>
              <a:ext uri="{FF2B5EF4-FFF2-40B4-BE49-F238E27FC236}">
                <a16:creationId xmlns:a16="http://schemas.microsoft.com/office/drawing/2014/main" id="{649F2D2B-3BD5-44E1-ADE8-48E92F7A9F0D}"/>
              </a:ext>
            </a:extLst>
          </p:cNvPr>
          <p:cNvSpPr/>
          <p:nvPr/>
        </p:nvSpPr>
        <p:spPr>
          <a:xfrm>
            <a:off x="385590" y="2008178"/>
            <a:ext cx="4291939" cy="2253068"/>
          </a:xfrm>
          <a:prstGeom prst="star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Best software ever!!! (For now) </a:t>
            </a:r>
          </a:p>
        </p:txBody>
      </p:sp>
    </p:spTree>
    <p:extLst>
      <p:ext uri="{BB962C8B-B14F-4D97-AF65-F5344CB8AC3E}">
        <p14:creationId xmlns:p14="http://schemas.microsoft.com/office/powerpoint/2010/main" val="423812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61B411-691B-4002-9294-CD2BED08E19F}"/>
              </a:ext>
            </a:extLst>
          </p:cNvPr>
          <p:cNvPicPr>
            <a:picLocks noChangeAspect="1"/>
          </p:cNvPicPr>
          <p:nvPr/>
        </p:nvPicPr>
        <p:blipFill>
          <a:blip r:embed="rId2"/>
          <a:stretch>
            <a:fillRect/>
          </a:stretch>
        </p:blipFill>
        <p:spPr>
          <a:xfrm>
            <a:off x="388930" y="0"/>
            <a:ext cx="11414139" cy="6858000"/>
          </a:xfrm>
          <a:prstGeom prst="rect">
            <a:avLst/>
          </a:prstGeom>
        </p:spPr>
      </p:pic>
      <p:sp>
        <p:nvSpPr>
          <p:cNvPr id="4" name="Rectangle 3">
            <a:extLst>
              <a:ext uri="{FF2B5EF4-FFF2-40B4-BE49-F238E27FC236}">
                <a16:creationId xmlns:a16="http://schemas.microsoft.com/office/drawing/2014/main" id="{EAE9724A-595D-4B9A-B5B7-396DB80D2FDB}"/>
              </a:ext>
            </a:extLst>
          </p:cNvPr>
          <p:cNvSpPr/>
          <p:nvPr/>
        </p:nvSpPr>
        <p:spPr>
          <a:xfrm>
            <a:off x="1235623" y="1470006"/>
            <a:ext cx="3602766" cy="1512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script panel is where permanent programs can be saved</a:t>
            </a:r>
          </a:p>
        </p:txBody>
      </p:sp>
      <p:sp>
        <p:nvSpPr>
          <p:cNvPr id="6" name="Callout: Right Arrow 5">
            <a:extLst>
              <a:ext uri="{FF2B5EF4-FFF2-40B4-BE49-F238E27FC236}">
                <a16:creationId xmlns:a16="http://schemas.microsoft.com/office/drawing/2014/main" id="{C4B1CC53-665F-4CFC-B6C5-24E14F2BB5DA}"/>
              </a:ext>
            </a:extLst>
          </p:cNvPr>
          <p:cNvSpPr/>
          <p:nvPr/>
        </p:nvSpPr>
        <p:spPr>
          <a:xfrm>
            <a:off x="6096001" y="1349406"/>
            <a:ext cx="3323208" cy="2476870"/>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Objects you create will be saved here to the “global environment”</a:t>
            </a:r>
          </a:p>
        </p:txBody>
      </p:sp>
      <p:sp>
        <p:nvSpPr>
          <p:cNvPr id="7" name="Callout: Right Arrow 6">
            <a:extLst>
              <a:ext uri="{FF2B5EF4-FFF2-40B4-BE49-F238E27FC236}">
                <a16:creationId xmlns:a16="http://schemas.microsoft.com/office/drawing/2014/main" id="{B2C76F21-0D99-4E28-AEA7-3A9BCBE26928}"/>
              </a:ext>
            </a:extLst>
          </p:cNvPr>
          <p:cNvSpPr/>
          <p:nvPr/>
        </p:nvSpPr>
        <p:spPr>
          <a:xfrm>
            <a:off x="5974672" y="4962617"/>
            <a:ext cx="4039340" cy="1491449"/>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Help/ packages/Plots will appear here, also you can access packages and the help window from here</a:t>
            </a:r>
          </a:p>
        </p:txBody>
      </p:sp>
      <p:sp>
        <p:nvSpPr>
          <p:cNvPr id="8" name="Rectangle 7">
            <a:extLst>
              <a:ext uri="{FF2B5EF4-FFF2-40B4-BE49-F238E27FC236}">
                <a16:creationId xmlns:a16="http://schemas.microsoft.com/office/drawing/2014/main" id="{72785407-2275-43C0-92BE-8DA6BF18346E}"/>
              </a:ext>
            </a:extLst>
          </p:cNvPr>
          <p:cNvSpPr/>
          <p:nvPr/>
        </p:nvSpPr>
        <p:spPr>
          <a:xfrm>
            <a:off x="1185991" y="4962617"/>
            <a:ext cx="3923930" cy="1260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You can also freely code in the console here</a:t>
            </a:r>
          </a:p>
        </p:txBody>
      </p:sp>
    </p:spTree>
    <p:extLst>
      <p:ext uri="{BB962C8B-B14F-4D97-AF65-F5344CB8AC3E}">
        <p14:creationId xmlns:p14="http://schemas.microsoft.com/office/powerpoint/2010/main" val="83149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AFAEF-D2E9-4C49-914F-0A116B9ECC15}"/>
              </a:ext>
            </a:extLst>
          </p:cNvPr>
          <p:cNvSpPr>
            <a:spLocks noGrp="1"/>
          </p:cNvSpPr>
          <p:nvPr>
            <p:ph type="title"/>
          </p:nvPr>
        </p:nvSpPr>
        <p:spPr>
          <a:solidFill>
            <a:schemeClr val="accent6">
              <a:lumMod val="60000"/>
              <a:lumOff val="40000"/>
            </a:schemeClr>
          </a:solidFill>
        </p:spPr>
        <p:txBody>
          <a:bodyPr/>
          <a:lstStyle/>
          <a:p>
            <a:r>
              <a:rPr lang="en-US" dirty="0"/>
              <a:t>Code has syntax</a:t>
            </a:r>
          </a:p>
        </p:txBody>
      </p:sp>
      <p:sp>
        <p:nvSpPr>
          <p:cNvPr id="3" name="Content Placeholder 2">
            <a:extLst>
              <a:ext uri="{FF2B5EF4-FFF2-40B4-BE49-F238E27FC236}">
                <a16:creationId xmlns:a16="http://schemas.microsoft.com/office/drawing/2014/main" id="{E1E72D03-2B4D-4263-A119-2F7DDD5C6609}"/>
              </a:ext>
            </a:extLst>
          </p:cNvPr>
          <p:cNvSpPr>
            <a:spLocks noGrp="1"/>
          </p:cNvSpPr>
          <p:nvPr>
            <p:ph idx="1"/>
          </p:nvPr>
        </p:nvSpPr>
        <p:spPr>
          <a:xfrm>
            <a:off x="838200" y="1825625"/>
            <a:ext cx="5507516" cy="4387888"/>
          </a:xfrm>
        </p:spPr>
        <p:txBody>
          <a:bodyPr>
            <a:normAutofit fontScale="92500"/>
          </a:bodyPr>
          <a:lstStyle/>
          <a:p>
            <a:r>
              <a:rPr lang="en-US" dirty="0"/>
              <a:t>Think of lines of code like learning a new language</a:t>
            </a:r>
          </a:p>
          <a:p>
            <a:r>
              <a:rPr lang="en-US" dirty="0"/>
              <a:t>To teach you this I do a special segment called</a:t>
            </a:r>
          </a:p>
          <a:p>
            <a:endParaRPr lang="en-US" dirty="0"/>
          </a:p>
          <a:p>
            <a:endParaRPr lang="en-US" dirty="0"/>
          </a:p>
          <a:p>
            <a:r>
              <a:rPr lang="en-US" dirty="0"/>
              <a:t>By the end of this class you will know some basic words and structure, I do not expect you to speak the language </a:t>
            </a:r>
          </a:p>
          <a:p>
            <a:r>
              <a:rPr lang="en-US" dirty="0"/>
              <a:t>Also please don’t use passive voice</a:t>
            </a:r>
          </a:p>
        </p:txBody>
      </p:sp>
      <p:pic>
        <p:nvPicPr>
          <p:cNvPr id="1028" name="Picture 4">
            <a:extLst>
              <a:ext uri="{FF2B5EF4-FFF2-40B4-BE49-F238E27FC236}">
                <a16:creationId xmlns:a16="http://schemas.microsoft.com/office/drawing/2014/main" id="{2B907C79-F6C1-4775-A479-203AD7BE6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952" y="1868896"/>
            <a:ext cx="5021913" cy="192968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1173426-0E85-4DB4-9FAB-A7D3198E9E42}"/>
              </a:ext>
            </a:extLst>
          </p:cNvPr>
          <p:cNvSpPr/>
          <p:nvPr/>
        </p:nvSpPr>
        <p:spPr>
          <a:xfrm>
            <a:off x="921155" y="3336911"/>
            <a:ext cx="5502275" cy="923330"/>
          </a:xfrm>
          <a:prstGeom prst="rect">
            <a:avLst/>
          </a:prstGeom>
          <a:noFill/>
        </p:spPr>
        <p:txBody>
          <a:bodyPr wrap="none" lIns="91440" tIns="45720" rIns="91440" bIns="45720">
            <a:spAutoFit/>
          </a:bodyPr>
          <a:lstStyle/>
          <a:p>
            <a:pPr algn="ctr"/>
            <a:r>
              <a:rPr lang="en-US" sz="5400" b="1" cap="none" spc="0" dirty="0">
                <a:ln w="12700">
                  <a:solidFill>
                    <a:schemeClr val="accent5"/>
                  </a:solidFill>
                  <a:prstDash val="solid"/>
                </a:ln>
                <a:pattFill prst="ltDnDiag">
                  <a:fgClr>
                    <a:schemeClr val="accent5">
                      <a:lumMod val="60000"/>
                      <a:lumOff val="40000"/>
                    </a:schemeClr>
                  </a:fgClr>
                  <a:bgClr>
                    <a:schemeClr val="bg1"/>
                  </a:bgClr>
                </a:pattFill>
                <a:effectLst/>
              </a:rPr>
              <a:t>Syntax Breakdown</a:t>
            </a:r>
          </a:p>
        </p:txBody>
      </p:sp>
      <p:pic>
        <p:nvPicPr>
          <p:cNvPr id="5" name="Picture 4">
            <a:extLst>
              <a:ext uri="{FF2B5EF4-FFF2-40B4-BE49-F238E27FC236}">
                <a16:creationId xmlns:a16="http://schemas.microsoft.com/office/drawing/2014/main" id="{2F8D56FF-74CB-4835-B370-B4BAE48940A3}"/>
              </a:ext>
            </a:extLst>
          </p:cNvPr>
          <p:cNvPicPr>
            <a:picLocks noChangeAspect="1"/>
          </p:cNvPicPr>
          <p:nvPr/>
        </p:nvPicPr>
        <p:blipFill>
          <a:blip r:embed="rId3"/>
          <a:stretch>
            <a:fillRect/>
          </a:stretch>
        </p:blipFill>
        <p:spPr>
          <a:xfrm>
            <a:off x="7232113" y="3976784"/>
            <a:ext cx="3829411" cy="2552941"/>
          </a:xfrm>
          <a:prstGeom prst="rect">
            <a:avLst/>
          </a:prstGeom>
        </p:spPr>
      </p:pic>
    </p:spTree>
    <p:extLst>
      <p:ext uri="{BB962C8B-B14F-4D97-AF65-F5344CB8AC3E}">
        <p14:creationId xmlns:p14="http://schemas.microsoft.com/office/powerpoint/2010/main" val="159341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4"/>
                                        </p:tgtEl>
                                        <p:attrNameLst>
                                          <p:attrName>ppt_x</p:attrName>
                                          <p:attrName>ppt_y</p:attrName>
                                        </p:attrNameLst>
                                      </p:cBhvr>
                                    </p:animMotion>
                                    <p:animRot by="1500000">
                                      <p:cBhvr>
                                        <p:cTn id="7" dur="125" fill="hold">
                                          <p:stCondLst>
                                            <p:cond delay="0"/>
                                          </p:stCondLst>
                                        </p:cTn>
                                        <p:tgtEl>
                                          <p:spTgt spid="4"/>
                                        </p:tgtEl>
                                        <p:attrNameLst>
                                          <p:attrName>r</p:attrName>
                                        </p:attrNameLst>
                                      </p:cBhvr>
                                    </p:animRot>
                                    <p:animRot by="-1500000">
                                      <p:cBhvr>
                                        <p:cTn id="8" dur="125" fill="hold">
                                          <p:stCondLst>
                                            <p:cond delay="125"/>
                                          </p:stCondLst>
                                        </p:cTn>
                                        <p:tgtEl>
                                          <p:spTgt spid="4"/>
                                        </p:tgtEl>
                                        <p:attrNameLst>
                                          <p:attrName>r</p:attrName>
                                        </p:attrNameLst>
                                      </p:cBhvr>
                                    </p:animRot>
                                    <p:animRot by="-1500000">
                                      <p:cBhvr>
                                        <p:cTn id="9" dur="125" fill="hold">
                                          <p:stCondLst>
                                            <p:cond delay="250"/>
                                          </p:stCondLst>
                                        </p:cTn>
                                        <p:tgtEl>
                                          <p:spTgt spid="4"/>
                                        </p:tgtEl>
                                        <p:attrNameLst>
                                          <p:attrName>r</p:attrName>
                                        </p:attrNameLst>
                                      </p:cBhvr>
                                    </p:animRot>
                                    <p:animRot by="1500000">
                                      <p:cBhvr>
                                        <p:cTn id="10" dur="125" fill="hold">
                                          <p:stCondLst>
                                            <p:cond delay="375"/>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A52AC-7501-4376-8BE5-B909CEE8E520}"/>
              </a:ext>
            </a:extLst>
          </p:cNvPr>
          <p:cNvSpPr>
            <a:spLocks noGrp="1"/>
          </p:cNvSpPr>
          <p:nvPr>
            <p:ph type="title"/>
          </p:nvPr>
        </p:nvSpPr>
        <p:spPr>
          <a:solidFill>
            <a:schemeClr val="accent6">
              <a:lumMod val="60000"/>
              <a:lumOff val="40000"/>
            </a:schemeClr>
          </a:solidFill>
        </p:spPr>
        <p:txBody>
          <a:bodyPr/>
          <a:lstStyle/>
          <a:p>
            <a:r>
              <a:rPr lang="en-US" dirty="0"/>
              <a:t>Key Terms </a:t>
            </a:r>
          </a:p>
        </p:txBody>
      </p:sp>
      <p:sp>
        <p:nvSpPr>
          <p:cNvPr id="3" name="Content Placeholder 2">
            <a:extLst>
              <a:ext uri="{FF2B5EF4-FFF2-40B4-BE49-F238E27FC236}">
                <a16:creationId xmlns:a16="http://schemas.microsoft.com/office/drawing/2014/main" id="{55388229-972F-4FC2-A021-3D6AD9519F03}"/>
              </a:ext>
            </a:extLst>
          </p:cNvPr>
          <p:cNvSpPr>
            <a:spLocks noGrp="1"/>
          </p:cNvSpPr>
          <p:nvPr>
            <p:ph idx="1"/>
          </p:nvPr>
        </p:nvSpPr>
        <p:spPr/>
        <p:txBody>
          <a:bodyPr>
            <a:normAutofit fontScale="92500" lnSpcReduction="10000"/>
          </a:bodyPr>
          <a:lstStyle/>
          <a:p>
            <a:r>
              <a:rPr lang="en-US" b="1" dirty="0"/>
              <a:t>Objects</a:t>
            </a:r>
            <a:r>
              <a:rPr lang="en-US" dirty="0"/>
              <a:t> - Everything you store in R - datasets, variables, a list of village names, a total population number, even outputs such as graphs - are objects which are assigned a name and can be referenced in later commands. </a:t>
            </a:r>
          </a:p>
          <a:p>
            <a:endParaRPr lang="en-US" dirty="0"/>
          </a:p>
          <a:p>
            <a:r>
              <a:rPr lang="en-US" b="1" dirty="0"/>
              <a:t>Functions</a:t>
            </a:r>
            <a:r>
              <a:rPr lang="en-US" dirty="0"/>
              <a:t> - A function is a code operation that accept inputs and returns a transformed output. </a:t>
            </a:r>
          </a:p>
          <a:p>
            <a:endParaRPr lang="en-US" dirty="0"/>
          </a:p>
          <a:p>
            <a:r>
              <a:rPr lang="en-US" b="1" dirty="0"/>
              <a:t>Packages</a:t>
            </a:r>
            <a:r>
              <a:rPr lang="en-US" dirty="0"/>
              <a:t> - An R package is a shareable bundle of functions. </a:t>
            </a:r>
          </a:p>
          <a:p>
            <a:endParaRPr lang="en-US" dirty="0"/>
          </a:p>
          <a:p>
            <a:r>
              <a:rPr lang="en-US" b="1" dirty="0"/>
              <a:t>Scripts</a:t>
            </a:r>
            <a:r>
              <a:rPr lang="en-US" dirty="0"/>
              <a:t> - A script is the document file that hold your commands. </a:t>
            </a:r>
          </a:p>
        </p:txBody>
      </p:sp>
    </p:spTree>
    <p:extLst>
      <p:ext uri="{BB962C8B-B14F-4D97-AF65-F5344CB8AC3E}">
        <p14:creationId xmlns:p14="http://schemas.microsoft.com/office/powerpoint/2010/main" val="3066294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A7DF-654E-4F16-954B-F5E503CD6C69}"/>
              </a:ext>
            </a:extLst>
          </p:cNvPr>
          <p:cNvSpPr>
            <a:spLocks noGrp="1"/>
          </p:cNvSpPr>
          <p:nvPr>
            <p:ph type="title"/>
          </p:nvPr>
        </p:nvSpPr>
        <p:spPr>
          <a:solidFill>
            <a:schemeClr val="accent6">
              <a:lumMod val="60000"/>
              <a:lumOff val="40000"/>
            </a:schemeClr>
          </a:solidFill>
        </p:spPr>
        <p:txBody>
          <a:bodyPr/>
          <a:lstStyle/>
          <a:p>
            <a:r>
              <a:rPr lang="en-US" dirty="0"/>
              <a:t>Objects</a:t>
            </a:r>
          </a:p>
        </p:txBody>
      </p:sp>
      <p:sp>
        <p:nvSpPr>
          <p:cNvPr id="3" name="Content Placeholder 2">
            <a:extLst>
              <a:ext uri="{FF2B5EF4-FFF2-40B4-BE49-F238E27FC236}">
                <a16:creationId xmlns:a16="http://schemas.microsoft.com/office/drawing/2014/main" id="{F01F3228-0036-45FD-A8C1-6ECAFEE0B508}"/>
              </a:ext>
            </a:extLst>
          </p:cNvPr>
          <p:cNvSpPr>
            <a:spLocks noGrp="1"/>
          </p:cNvSpPr>
          <p:nvPr>
            <p:ph idx="1"/>
          </p:nvPr>
        </p:nvSpPr>
        <p:spPr/>
        <p:txBody>
          <a:bodyPr/>
          <a:lstStyle/>
          <a:p>
            <a:r>
              <a:rPr lang="en-US" dirty="0"/>
              <a:t>Objects are things you make, like datasets, tables, graphs and more</a:t>
            </a:r>
          </a:p>
          <a:p>
            <a:r>
              <a:rPr lang="en-US" dirty="0"/>
              <a:t>The arrow operator (less than, dash) is what we use to assign things into objects </a:t>
            </a:r>
          </a:p>
          <a:p>
            <a:r>
              <a:rPr lang="en-US" dirty="0"/>
              <a:t>That operator looks like this </a:t>
            </a:r>
          </a:p>
          <a:p>
            <a:pPr marL="0" indent="0" algn="ctr">
              <a:buNone/>
            </a:pPr>
            <a:r>
              <a:rPr lang="en-US" sz="6600" dirty="0">
                <a:highlight>
                  <a:srgbClr val="FFFF00"/>
                </a:highlight>
              </a:rPr>
              <a:t>&lt;-</a:t>
            </a:r>
          </a:p>
          <a:p>
            <a:pPr marL="0" indent="0" algn="ctr">
              <a:buNone/>
            </a:pPr>
            <a:r>
              <a:rPr lang="en-US" dirty="0"/>
              <a:t>The syntax we will use to make objects will look like this: </a:t>
            </a:r>
          </a:p>
          <a:p>
            <a:pPr marL="0" indent="0" algn="ctr">
              <a:buNone/>
            </a:pPr>
            <a:r>
              <a:rPr lang="en-US" b="1" i="0" dirty="0" err="1">
                <a:solidFill>
                  <a:srgbClr val="343A40"/>
                </a:solidFill>
                <a:effectLst/>
                <a:latin typeface="Source Sans Pro" panose="020B0503030403020204" pitchFamily="34" charset="0"/>
              </a:rPr>
              <a:t>object_name</a:t>
            </a:r>
            <a:r>
              <a:rPr lang="en-US" b="0" i="0" dirty="0">
                <a:solidFill>
                  <a:srgbClr val="343A40"/>
                </a:solidFill>
                <a:effectLst/>
                <a:latin typeface="Source Sans Pro" panose="020B0503030403020204" pitchFamily="34" charset="0"/>
              </a:rPr>
              <a:t> &lt;- </a:t>
            </a:r>
            <a:r>
              <a:rPr lang="en-US" b="1" i="0" dirty="0">
                <a:solidFill>
                  <a:srgbClr val="343A40"/>
                </a:solidFill>
                <a:effectLst/>
                <a:latin typeface="Source Sans Pro" panose="020B0503030403020204" pitchFamily="34" charset="0"/>
              </a:rPr>
              <a:t>value</a:t>
            </a:r>
            <a:r>
              <a:rPr lang="en-US" b="0" i="0" dirty="0">
                <a:solidFill>
                  <a:srgbClr val="343A40"/>
                </a:solidFill>
                <a:effectLst/>
                <a:latin typeface="Source Sans Pro" panose="020B0503030403020204" pitchFamily="34" charset="0"/>
              </a:rPr>
              <a:t> </a:t>
            </a:r>
            <a:endParaRPr lang="en-US" dirty="0"/>
          </a:p>
        </p:txBody>
      </p:sp>
    </p:spTree>
    <p:extLst>
      <p:ext uri="{BB962C8B-B14F-4D97-AF65-F5344CB8AC3E}">
        <p14:creationId xmlns:p14="http://schemas.microsoft.com/office/powerpoint/2010/main" val="2130419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29053-8BA4-4DEF-811D-D490C3BF9FC7}"/>
              </a:ext>
            </a:extLst>
          </p:cNvPr>
          <p:cNvSpPr>
            <a:spLocks noGrp="1"/>
          </p:cNvSpPr>
          <p:nvPr>
            <p:ph type="title"/>
          </p:nvPr>
        </p:nvSpPr>
        <p:spPr>
          <a:solidFill>
            <a:schemeClr val="accent6">
              <a:lumMod val="60000"/>
              <a:lumOff val="40000"/>
            </a:schemeClr>
          </a:solidFill>
        </p:spPr>
        <p:txBody>
          <a:bodyPr/>
          <a:lstStyle/>
          <a:p>
            <a:r>
              <a:rPr lang="en-US" dirty="0"/>
              <a:t>Objects Continued </a:t>
            </a:r>
          </a:p>
        </p:txBody>
      </p:sp>
      <p:sp>
        <p:nvSpPr>
          <p:cNvPr id="3" name="Content Placeholder 2">
            <a:extLst>
              <a:ext uri="{FF2B5EF4-FFF2-40B4-BE49-F238E27FC236}">
                <a16:creationId xmlns:a16="http://schemas.microsoft.com/office/drawing/2014/main" id="{6F48CD40-9504-4177-9421-980EE04176CC}"/>
              </a:ext>
            </a:extLst>
          </p:cNvPr>
          <p:cNvSpPr>
            <a:spLocks noGrp="1"/>
          </p:cNvSpPr>
          <p:nvPr>
            <p:ph idx="1"/>
          </p:nvPr>
        </p:nvSpPr>
        <p:spPr/>
        <p:txBody>
          <a:bodyPr/>
          <a:lstStyle/>
          <a:p>
            <a:r>
              <a:rPr lang="en-US" dirty="0"/>
              <a:t>There are lots of different types of objects</a:t>
            </a:r>
          </a:p>
          <a:p>
            <a:pPr lvl="1"/>
            <a:r>
              <a:rPr lang="en-US" dirty="0"/>
              <a:t>We will mostly use data frames (datasets) </a:t>
            </a:r>
          </a:p>
          <a:p>
            <a:pPr lvl="1"/>
            <a:r>
              <a:rPr lang="en-US" dirty="0"/>
              <a:t>And plots (graph/plots)</a:t>
            </a:r>
          </a:p>
          <a:p>
            <a:pPr lvl="1"/>
            <a:r>
              <a:rPr lang="en-US" dirty="0"/>
              <a:t>Today I will show a simple “value” object</a:t>
            </a:r>
          </a:p>
          <a:p>
            <a:r>
              <a:rPr lang="en-US" dirty="0"/>
              <a:t>There are also many other more advanced ones </a:t>
            </a:r>
          </a:p>
          <a:p>
            <a:pPr lvl="1"/>
            <a:r>
              <a:rPr lang="en-US" dirty="0"/>
              <a:t>Vectors</a:t>
            </a:r>
          </a:p>
          <a:p>
            <a:pPr lvl="1"/>
            <a:r>
              <a:rPr lang="en-US" dirty="0"/>
              <a:t>Matrices</a:t>
            </a:r>
          </a:p>
          <a:p>
            <a:pPr lvl="1"/>
            <a:r>
              <a:rPr lang="en-US" dirty="0"/>
              <a:t>Lists (data frames are special lists) </a:t>
            </a:r>
          </a:p>
          <a:p>
            <a:pPr lvl="1"/>
            <a:r>
              <a:rPr lang="en-US" dirty="0"/>
              <a:t>Arrays </a:t>
            </a:r>
          </a:p>
        </p:txBody>
      </p:sp>
      <p:sp>
        <p:nvSpPr>
          <p:cNvPr id="4" name="Arrow: Left 3">
            <a:extLst>
              <a:ext uri="{FF2B5EF4-FFF2-40B4-BE49-F238E27FC236}">
                <a16:creationId xmlns:a16="http://schemas.microsoft.com/office/drawing/2014/main" id="{9C03F303-7E7F-4AD1-9E00-B8EF663C8016}"/>
              </a:ext>
            </a:extLst>
          </p:cNvPr>
          <p:cNvSpPr/>
          <p:nvPr/>
        </p:nvSpPr>
        <p:spPr>
          <a:xfrm>
            <a:off x="6096000" y="4001294"/>
            <a:ext cx="5056742" cy="226947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Don’t worry about memorizing these, just know that in R we make objects</a:t>
            </a:r>
          </a:p>
        </p:txBody>
      </p:sp>
    </p:spTree>
    <p:extLst>
      <p:ext uri="{BB962C8B-B14F-4D97-AF65-F5344CB8AC3E}">
        <p14:creationId xmlns:p14="http://schemas.microsoft.com/office/powerpoint/2010/main" val="2100593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5D473-9605-4234-BFDA-7976F303C56C}"/>
              </a:ext>
            </a:extLst>
          </p:cNvPr>
          <p:cNvSpPr>
            <a:spLocks noGrp="1"/>
          </p:cNvSpPr>
          <p:nvPr>
            <p:ph type="title"/>
          </p:nvPr>
        </p:nvSpPr>
        <p:spPr>
          <a:solidFill>
            <a:schemeClr val="accent6">
              <a:lumMod val="60000"/>
              <a:lumOff val="40000"/>
            </a:schemeClr>
          </a:solidFill>
        </p:spPr>
        <p:txBody>
          <a:bodyPr/>
          <a:lstStyle/>
          <a:p>
            <a:r>
              <a:rPr lang="en-US" dirty="0"/>
              <a:t>Objects Continued</a:t>
            </a:r>
          </a:p>
        </p:txBody>
      </p:sp>
      <p:sp>
        <p:nvSpPr>
          <p:cNvPr id="3" name="Content Placeholder 2">
            <a:extLst>
              <a:ext uri="{FF2B5EF4-FFF2-40B4-BE49-F238E27FC236}">
                <a16:creationId xmlns:a16="http://schemas.microsoft.com/office/drawing/2014/main" id="{AED60500-B8CF-4A4E-8C1F-50162B5E6F3C}"/>
              </a:ext>
            </a:extLst>
          </p:cNvPr>
          <p:cNvSpPr>
            <a:spLocks noGrp="1"/>
          </p:cNvSpPr>
          <p:nvPr>
            <p:ph idx="1"/>
          </p:nvPr>
        </p:nvSpPr>
        <p:spPr>
          <a:xfrm>
            <a:off x="838200" y="1825625"/>
            <a:ext cx="10515600" cy="1170963"/>
          </a:xfrm>
        </p:spPr>
        <p:txBody>
          <a:bodyPr/>
          <a:lstStyle/>
          <a:p>
            <a:r>
              <a:rPr lang="en-US" dirty="0"/>
              <a:t>When you make an object, it will appear in the top right “environment window”</a:t>
            </a:r>
          </a:p>
        </p:txBody>
      </p:sp>
      <p:pic>
        <p:nvPicPr>
          <p:cNvPr id="5" name="Picture 4">
            <a:extLst>
              <a:ext uri="{FF2B5EF4-FFF2-40B4-BE49-F238E27FC236}">
                <a16:creationId xmlns:a16="http://schemas.microsoft.com/office/drawing/2014/main" id="{456FA152-CF9F-489C-BDDF-843231C4DECA}"/>
              </a:ext>
            </a:extLst>
          </p:cNvPr>
          <p:cNvPicPr>
            <a:picLocks noChangeAspect="1"/>
          </p:cNvPicPr>
          <p:nvPr/>
        </p:nvPicPr>
        <p:blipFill>
          <a:blip r:embed="rId2"/>
          <a:stretch>
            <a:fillRect/>
          </a:stretch>
        </p:blipFill>
        <p:spPr>
          <a:xfrm>
            <a:off x="838200" y="2878156"/>
            <a:ext cx="10185003" cy="2905699"/>
          </a:xfrm>
          <a:prstGeom prst="rect">
            <a:avLst/>
          </a:prstGeom>
        </p:spPr>
      </p:pic>
      <p:cxnSp>
        <p:nvCxnSpPr>
          <p:cNvPr id="7" name="Straight Arrow Connector 6">
            <a:extLst>
              <a:ext uri="{FF2B5EF4-FFF2-40B4-BE49-F238E27FC236}">
                <a16:creationId xmlns:a16="http://schemas.microsoft.com/office/drawing/2014/main" id="{93F49A89-9CEB-43B6-83C6-4E1FAEF375A1}"/>
              </a:ext>
            </a:extLst>
          </p:cNvPr>
          <p:cNvCxnSpPr>
            <a:cxnSpLocks/>
            <a:stCxn id="8" idx="3"/>
          </p:cNvCxnSpPr>
          <p:nvPr/>
        </p:nvCxnSpPr>
        <p:spPr>
          <a:xfrm flipV="1">
            <a:off x="3833870" y="4241495"/>
            <a:ext cx="3393195" cy="107965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D03FB1D-A5BA-4582-BFB3-DFB25819CAA6}"/>
              </a:ext>
            </a:extLst>
          </p:cNvPr>
          <p:cNvSpPr/>
          <p:nvPr/>
        </p:nvSpPr>
        <p:spPr>
          <a:xfrm>
            <a:off x="1244906" y="5166911"/>
            <a:ext cx="2588964" cy="308472"/>
          </a:xfrm>
          <a:prstGeom prst="rect">
            <a:avLst/>
          </a:prstGeom>
          <a:no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72E8A4-ADF8-4F99-A684-E66E84E0DD4C}"/>
              </a:ext>
            </a:extLst>
          </p:cNvPr>
          <p:cNvSpPr/>
          <p:nvPr/>
        </p:nvSpPr>
        <p:spPr>
          <a:xfrm>
            <a:off x="517793" y="5783855"/>
            <a:ext cx="4186409" cy="925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I ran this code</a:t>
            </a:r>
          </a:p>
        </p:txBody>
      </p:sp>
      <p:sp>
        <p:nvSpPr>
          <p:cNvPr id="11" name="Rectangle 10">
            <a:extLst>
              <a:ext uri="{FF2B5EF4-FFF2-40B4-BE49-F238E27FC236}">
                <a16:creationId xmlns:a16="http://schemas.microsoft.com/office/drawing/2014/main" id="{5001292F-9E2C-4AC4-858F-739F58615EEC}"/>
              </a:ext>
            </a:extLst>
          </p:cNvPr>
          <p:cNvSpPr/>
          <p:nvPr/>
        </p:nvSpPr>
        <p:spPr>
          <a:xfrm>
            <a:off x="6885542" y="5475383"/>
            <a:ext cx="4788665" cy="12338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The object appeared up here in “Environment” </a:t>
            </a:r>
          </a:p>
        </p:txBody>
      </p:sp>
    </p:spTree>
    <p:extLst>
      <p:ext uri="{BB962C8B-B14F-4D97-AF65-F5344CB8AC3E}">
        <p14:creationId xmlns:p14="http://schemas.microsoft.com/office/powerpoint/2010/main" val="291007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C035F-E09E-4EFA-8B6E-9CD7424512BE}"/>
              </a:ext>
            </a:extLst>
          </p:cNvPr>
          <p:cNvSpPr>
            <a:spLocks noGrp="1"/>
          </p:cNvSpPr>
          <p:nvPr>
            <p:ph type="title"/>
          </p:nvPr>
        </p:nvSpPr>
        <p:spPr>
          <a:solidFill>
            <a:schemeClr val="accent6">
              <a:lumMod val="60000"/>
              <a:lumOff val="40000"/>
            </a:schemeClr>
          </a:solidFill>
        </p:spPr>
        <p:txBody>
          <a:bodyPr/>
          <a:lstStyle/>
          <a:p>
            <a:r>
              <a:rPr lang="en-US" dirty="0"/>
              <a:t>Syntax Breakdown </a:t>
            </a:r>
          </a:p>
        </p:txBody>
      </p:sp>
      <p:sp>
        <p:nvSpPr>
          <p:cNvPr id="3" name="Content Placeholder 2">
            <a:extLst>
              <a:ext uri="{FF2B5EF4-FFF2-40B4-BE49-F238E27FC236}">
                <a16:creationId xmlns:a16="http://schemas.microsoft.com/office/drawing/2014/main" id="{2F88C9D0-8B2F-4906-9447-B04D97C08E7A}"/>
              </a:ext>
            </a:extLst>
          </p:cNvPr>
          <p:cNvSpPr>
            <a:spLocks noGrp="1"/>
          </p:cNvSpPr>
          <p:nvPr>
            <p:ph idx="1"/>
          </p:nvPr>
        </p:nvSpPr>
        <p:spPr>
          <a:xfrm>
            <a:off x="926335" y="2596805"/>
            <a:ext cx="10515600" cy="3896070"/>
          </a:xfrm>
        </p:spPr>
        <p:txBody>
          <a:bodyPr/>
          <a:lstStyle/>
          <a:p>
            <a:pPr marL="0" indent="0">
              <a:buNone/>
            </a:pPr>
            <a:endParaRPr lang="en-US" dirty="0"/>
          </a:p>
          <a:p>
            <a:pPr marL="0" indent="0">
              <a:buNone/>
            </a:pPr>
            <a:r>
              <a:rPr lang="en-US" sz="3600" dirty="0" err="1"/>
              <a:t>the_truth</a:t>
            </a:r>
            <a:r>
              <a:rPr lang="en-US" sz="3600" dirty="0"/>
              <a:t>&lt;-"learning to code is fun"</a:t>
            </a:r>
          </a:p>
        </p:txBody>
      </p:sp>
      <p:sp>
        <p:nvSpPr>
          <p:cNvPr id="4" name="Rectangle 3">
            <a:extLst>
              <a:ext uri="{FF2B5EF4-FFF2-40B4-BE49-F238E27FC236}">
                <a16:creationId xmlns:a16="http://schemas.microsoft.com/office/drawing/2014/main" id="{17C235FD-55BF-468C-8970-E71FCA65C113}"/>
              </a:ext>
            </a:extLst>
          </p:cNvPr>
          <p:cNvSpPr/>
          <p:nvPr/>
        </p:nvSpPr>
        <p:spPr>
          <a:xfrm>
            <a:off x="3581994" y="1792574"/>
            <a:ext cx="4344972" cy="923330"/>
          </a:xfrm>
          <a:prstGeom prst="rect">
            <a:avLst/>
          </a:prstGeom>
          <a:noFill/>
        </p:spPr>
        <p:txBody>
          <a:bodyPr wrap="non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Break it down </a:t>
            </a:r>
          </a:p>
        </p:txBody>
      </p:sp>
      <p:cxnSp>
        <p:nvCxnSpPr>
          <p:cNvPr id="6" name="Straight Arrow Connector 5">
            <a:extLst>
              <a:ext uri="{FF2B5EF4-FFF2-40B4-BE49-F238E27FC236}">
                <a16:creationId xmlns:a16="http://schemas.microsoft.com/office/drawing/2014/main" id="{2F4D8314-B0D2-433F-9CAC-922A52E163F9}"/>
              </a:ext>
            </a:extLst>
          </p:cNvPr>
          <p:cNvCxnSpPr>
            <a:cxnSpLocks/>
          </p:cNvCxnSpPr>
          <p:nvPr/>
        </p:nvCxnSpPr>
        <p:spPr>
          <a:xfrm flipH="1" flipV="1">
            <a:off x="2071171" y="3712685"/>
            <a:ext cx="429658" cy="70507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4DB191C-440C-46DD-9FDA-47A949474C1A}"/>
              </a:ext>
            </a:extLst>
          </p:cNvPr>
          <p:cNvSpPr/>
          <p:nvPr/>
        </p:nvSpPr>
        <p:spPr>
          <a:xfrm>
            <a:off x="750066" y="4208443"/>
            <a:ext cx="2301606" cy="15313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object we created, can be named anything AS LONG AS THERE ARE NO SPACES </a:t>
            </a:r>
          </a:p>
        </p:txBody>
      </p:sp>
      <p:cxnSp>
        <p:nvCxnSpPr>
          <p:cNvPr id="11" name="Straight Arrow Connector 10">
            <a:extLst>
              <a:ext uri="{FF2B5EF4-FFF2-40B4-BE49-F238E27FC236}">
                <a16:creationId xmlns:a16="http://schemas.microsoft.com/office/drawing/2014/main" id="{5FFD04A8-C20B-4F17-A51C-325099978AF5}"/>
              </a:ext>
            </a:extLst>
          </p:cNvPr>
          <p:cNvCxnSpPr>
            <a:cxnSpLocks/>
          </p:cNvCxnSpPr>
          <p:nvPr/>
        </p:nvCxnSpPr>
        <p:spPr>
          <a:xfrm flipH="1" flipV="1">
            <a:off x="3051673" y="3622022"/>
            <a:ext cx="627961" cy="26135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C3893E6-A466-4217-8D4B-56318F6EBBAF}"/>
              </a:ext>
            </a:extLst>
          </p:cNvPr>
          <p:cNvSpPr/>
          <p:nvPr/>
        </p:nvSpPr>
        <p:spPr>
          <a:xfrm>
            <a:off x="2071171" y="5905041"/>
            <a:ext cx="3437263" cy="8262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Our friend the arrow operator, says take what follows and put it in the object </a:t>
            </a:r>
          </a:p>
        </p:txBody>
      </p:sp>
      <p:sp>
        <p:nvSpPr>
          <p:cNvPr id="16" name="Rectangle 15">
            <a:extLst>
              <a:ext uri="{FF2B5EF4-FFF2-40B4-BE49-F238E27FC236}">
                <a16:creationId xmlns:a16="http://schemas.microsoft.com/office/drawing/2014/main" id="{BB944FCC-5A19-4417-92F8-5BCD1B643090}"/>
              </a:ext>
            </a:extLst>
          </p:cNvPr>
          <p:cNvSpPr/>
          <p:nvPr/>
        </p:nvSpPr>
        <p:spPr>
          <a:xfrm>
            <a:off x="5757232" y="4544840"/>
            <a:ext cx="3937611" cy="6551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string of text- the computer knows its text because its in quotes</a:t>
            </a:r>
          </a:p>
        </p:txBody>
      </p:sp>
      <p:cxnSp>
        <p:nvCxnSpPr>
          <p:cNvPr id="18" name="Straight Arrow Connector 17">
            <a:extLst>
              <a:ext uri="{FF2B5EF4-FFF2-40B4-BE49-F238E27FC236}">
                <a16:creationId xmlns:a16="http://schemas.microsoft.com/office/drawing/2014/main" id="{A7675F7D-62F8-498D-A3C6-A0CD25733B23}"/>
              </a:ext>
            </a:extLst>
          </p:cNvPr>
          <p:cNvCxnSpPr/>
          <p:nvPr/>
        </p:nvCxnSpPr>
        <p:spPr>
          <a:xfrm flipH="1" flipV="1">
            <a:off x="5938092" y="3712685"/>
            <a:ext cx="1002535" cy="9143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2A3BAE7-69FF-45D4-98C7-BD30D0C1E5D2}"/>
              </a:ext>
            </a:extLst>
          </p:cNvPr>
          <p:cNvSpPr/>
          <p:nvPr/>
        </p:nvSpPr>
        <p:spPr>
          <a:xfrm>
            <a:off x="8813494" y="2596805"/>
            <a:ext cx="2540306" cy="14574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Like parenthesis, if you open quotes you must close them </a:t>
            </a:r>
          </a:p>
        </p:txBody>
      </p:sp>
    </p:spTree>
    <p:extLst>
      <p:ext uri="{BB962C8B-B14F-4D97-AF65-F5344CB8AC3E}">
        <p14:creationId xmlns:p14="http://schemas.microsoft.com/office/powerpoint/2010/main" val="34640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5" grpId="0" animBg="1"/>
      <p:bldP spid="16"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13B86-1F25-48F2-9BAB-D82CF16EDB2F}"/>
              </a:ext>
            </a:extLst>
          </p:cNvPr>
          <p:cNvSpPr>
            <a:spLocks noGrp="1"/>
          </p:cNvSpPr>
          <p:nvPr>
            <p:ph type="title"/>
          </p:nvPr>
        </p:nvSpPr>
        <p:spPr>
          <a:solidFill>
            <a:schemeClr val="accent6">
              <a:lumMod val="60000"/>
              <a:lumOff val="40000"/>
            </a:schemeClr>
          </a:solidFill>
        </p:spPr>
        <p:txBody>
          <a:bodyPr/>
          <a:lstStyle/>
          <a:p>
            <a:r>
              <a:rPr lang="en-US" dirty="0"/>
              <a:t>Error messages</a:t>
            </a:r>
          </a:p>
        </p:txBody>
      </p:sp>
      <p:sp>
        <p:nvSpPr>
          <p:cNvPr id="3" name="Content Placeholder 2">
            <a:extLst>
              <a:ext uri="{FF2B5EF4-FFF2-40B4-BE49-F238E27FC236}">
                <a16:creationId xmlns:a16="http://schemas.microsoft.com/office/drawing/2014/main" id="{7430E831-1425-49C6-B086-81C7B9E0FFD5}"/>
              </a:ext>
            </a:extLst>
          </p:cNvPr>
          <p:cNvSpPr>
            <a:spLocks noGrp="1"/>
          </p:cNvSpPr>
          <p:nvPr>
            <p:ph idx="1"/>
          </p:nvPr>
        </p:nvSpPr>
        <p:spPr/>
        <p:txBody>
          <a:bodyPr/>
          <a:lstStyle/>
          <a:p>
            <a:r>
              <a:rPr lang="en-US" dirty="0"/>
              <a:t>If you make a mistake, R will error out!!! </a:t>
            </a:r>
          </a:p>
          <a:p>
            <a:r>
              <a:rPr lang="en-US" dirty="0"/>
              <a:t>Usually this happens with angry red text in the console window, or an X on the line where the error is </a:t>
            </a:r>
          </a:p>
          <a:p>
            <a:endParaRPr lang="en-US" dirty="0"/>
          </a:p>
        </p:txBody>
      </p:sp>
      <p:pic>
        <p:nvPicPr>
          <p:cNvPr id="5" name="Picture 4">
            <a:extLst>
              <a:ext uri="{FF2B5EF4-FFF2-40B4-BE49-F238E27FC236}">
                <a16:creationId xmlns:a16="http://schemas.microsoft.com/office/drawing/2014/main" id="{171B0366-993D-4178-9B9C-BBA5BE189610}"/>
              </a:ext>
            </a:extLst>
          </p:cNvPr>
          <p:cNvPicPr>
            <a:picLocks noChangeAspect="1"/>
          </p:cNvPicPr>
          <p:nvPr/>
        </p:nvPicPr>
        <p:blipFill>
          <a:blip r:embed="rId2"/>
          <a:stretch>
            <a:fillRect/>
          </a:stretch>
        </p:blipFill>
        <p:spPr>
          <a:xfrm>
            <a:off x="838200" y="3293010"/>
            <a:ext cx="7035272" cy="915433"/>
          </a:xfrm>
          <a:prstGeom prst="rect">
            <a:avLst/>
          </a:prstGeom>
        </p:spPr>
      </p:pic>
      <p:pic>
        <p:nvPicPr>
          <p:cNvPr id="7" name="Picture 6">
            <a:extLst>
              <a:ext uri="{FF2B5EF4-FFF2-40B4-BE49-F238E27FC236}">
                <a16:creationId xmlns:a16="http://schemas.microsoft.com/office/drawing/2014/main" id="{62810A4B-388E-4A05-AD77-890B5B576E92}"/>
              </a:ext>
            </a:extLst>
          </p:cNvPr>
          <p:cNvPicPr>
            <a:picLocks noChangeAspect="1"/>
          </p:cNvPicPr>
          <p:nvPr/>
        </p:nvPicPr>
        <p:blipFill>
          <a:blip r:embed="rId3"/>
          <a:stretch>
            <a:fillRect/>
          </a:stretch>
        </p:blipFill>
        <p:spPr>
          <a:xfrm>
            <a:off x="838200" y="4518035"/>
            <a:ext cx="5412129" cy="1974840"/>
          </a:xfrm>
          <a:prstGeom prst="rect">
            <a:avLst/>
          </a:prstGeom>
        </p:spPr>
      </p:pic>
      <p:sp>
        <p:nvSpPr>
          <p:cNvPr id="8" name="Rectangle 7">
            <a:extLst>
              <a:ext uri="{FF2B5EF4-FFF2-40B4-BE49-F238E27FC236}">
                <a16:creationId xmlns:a16="http://schemas.microsoft.com/office/drawing/2014/main" id="{74FE2BB2-69A8-4E54-9E25-786860E72D38}"/>
              </a:ext>
            </a:extLst>
          </p:cNvPr>
          <p:cNvSpPr/>
          <p:nvPr/>
        </p:nvSpPr>
        <p:spPr>
          <a:xfrm>
            <a:off x="7873472" y="3051672"/>
            <a:ext cx="3275598" cy="3125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Errors are your friends– they help you learn!! </a:t>
            </a:r>
          </a:p>
        </p:txBody>
      </p:sp>
    </p:spTree>
    <p:extLst>
      <p:ext uri="{BB962C8B-B14F-4D97-AF65-F5344CB8AC3E}">
        <p14:creationId xmlns:p14="http://schemas.microsoft.com/office/powerpoint/2010/main" val="1157031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9379-E873-4113-A947-0A676F1FFA50}"/>
              </a:ext>
            </a:extLst>
          </p:cNvPr>
          <p:cNvSpPr>
            <a:spLocks noGrp="1"/>
          </p:cNvSpPr>
          <p:nvPr>
            <p:ph type="title"/>
          </p:nvPr>
        </p:nvSpPr>
        <p:spPr>
          <a:solidFill>
            <a:schemeClr val="accent6">
              <a:lumMod val="60000"/>
              <a:lumOff val="40000"/>
            </a:schemeClr>
          </a:solidFill>
        </p:spPr>
        <p:txBody>
          <a:bodyPr/>
          <a:lstStyle/>
          <a:p>
            <a:r>
              <a:rPr lang="en-US" dirty="0"/>
              <a:t>Debugging Errors</a:t>
            </a:r>
          </a:p>
        </p:txBody>
      </p:sp>
      <p:sp>
        <p:nvSpPr>
          <p:cNvPr id="3" name="Content Placeholder 2">
            <a:extLst>
              <a:ext uri="{FF2B5EF4-FFF2-40B4-BE49-F238E27FC236}">
                <a16:creationId xmlns:a16="http://schemas.microsoft.com/office/drawing/2014/main" id="{FCF5B5DD-E90E-404A-B1D0-71ED0AFB9225}"/>
              </a:ext>
            </a:extLst>
          </p:cNvPr>
          <p:cNvSpPr>
            <a:spLocks noGrp="1"/>
          </p:cNvSpPr>
          <p:nvPr>
            <p:ph idx="1"/>
          </p:nvPr>
        </p:nvSpPr>
        <p:spPr/>
        <p:txBody>
          <a:bodyPr>
            <a:normAutofit/>
          </a:bodyPr>
          <a:lstStyle/>
          <a:p>
            <a:r>
              <a:rPr lang="en-US" sz="4000" dirty="0">
                <a:highlight>
                  <a:srgbClr val="FFFF00"/>
                </a:highlight>
              </a:rPr>
              <a:t>Our class is a community of practice </a:t>
            </a:r>
          </a:p>
          <a:p>
            <a:r>
              <a:rPr lang="en-US" sz="3600" dirty="0"/>
              <a:t>Lets work together in class discussions to help</a:t>
            </a:r>
          </a:p>
          <a:p>
            <a:r>
              <a:rPr lang="en-US" sz="3600" dirty="0"/>
              <a:t>Do not be embarrassed</a:t>
            </a:r>
          </a:p>
          <a:p>
            <a:r>
              <a:rPr lang="en-US" sz="3600" dirty="0"/>
              <a:t>If no one helps I will help</a:t>
            </a:r>
          </a:p>
          <a:p>
            <a:r>
              <a:rPr lang="en-US" sz="3600" dirty="0"/>
              <a:t>You can also paste errors into google (which I will demonstrate) </a:t>
            </a:r>
          </a:p>
          <a:p>
            <a:r>
              <a:rPr lang="en-US" sz="3600" dirty="0"/>
              <a:t>You can also ask AI but its often wrong </a:t>
            </a:r>
          </a:p>
        </p:txBody>
      </p:sp>
    </p:spTree>
    <p:extLst>
      <p:ext uri="{BB962C8B-B14F-4D97-AF65-F5344CB8AC3E}">
        <p14:creationId xmlns:p14="http://schemas.microsoft.com/office/powerpoint/2010/main" val="1027646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58241-46D2-4B2E-8C90-1C2EE685C296}"/>
              </a:ext>
            </a:extLst>
          </p:cNvPr>
          <p:cNvSpPr>
            <a:spLocks noGrp="1"/>
          </p:cNvSpPr>
          <p:nvPr>
            <p:ph type="title"/>
          </p:nvPr>
        </p:nvSpPr>
        <p:spPr>
          <a:solidFill>
            <a:schemeClr val="accent6">
              <a:lumMod val="60000"/>
              <a:lumOff val="40000"/>
            </a:schemeClr>
          </a:solidFill>
        </p:spPr>
        <p:txBody>
          <a:bodyPr/>
          <a:lstStyle/>
          <a:p>
            <a:r>
              <a:rPr lang="en-US" dirty="0"/>
              <a:t>Functions</a:t>
            </a:r>
          </a:p>
        </p:txBody>
      </p:sp>
      <p:sp>
        <p:nvSpPr>
          <p:cNvPr id="3" name="Content Placeholder 2">
            <a:extLst>
              <a:ext uri="{FF2B5EF4-FFF2-40B4-BE49-F238E27FC236}">
                <a16:creationId xmlns:a16="http://schemas.microsoft.com/office/drawing/2014/main" id="{12BB92A6-72CE-4849-8A7F-86C6D86E5281}"/>
              </a:ext>
            </a:extLst>
          </p:cNvPr>
          <p:cNvSpPr>
            <a:spLocks noGrp="1"/>
          </p:cNvSpPr>
          <p:nvPr>
            <p:ph idx="1"/>
          </p:nvPr>
        </p:nvSpPr>
        <p:spPr/>
        <p:txBody>
          <a:bodyPr/>
          <a:lstStyle/>
          <a:p>
            <a:r>
              <a:rPr lang="en-US" dirty="0"/>
              <a:t>Functions preform tasks and operations </a:t>
            </a:r>
          </a:p>
          <a:p>
            <a:r>
              <a:rPr lang="en-US" dirty="0"/>
              <a:t>A function often wraps around an object, using parenthesis</a:t>
            </a:r>
          </a:p>
          <a:p>
            <a:r>
              <a:rPr lang="en-US" dirty="0"/>
              <a:t>Example:</a:t>
            </a:r>
          </a:p>
          <a:p>
            <a:endParaRPr lang="en-US" b="1" dirty="0"/>
          </a:p>
        </p:txBody>
      </p:sp>
      <p:sp>
        <p:nvSpPr>
          <p:cNvPr id="4" name="Rectangle 3">
            <a:extLst>
              <a:ext uri="{FF2B5EF4-FFF2-40B4-BE49-F238E27FC236}">
                <a16:creationId xmlns:a16="http://schemas.microsoft.com/office/drawing/2014/main" id="{30144155-394B-47A8-BB68-35D789B6846E}"/>
              </a:ext>
            </a:extLst>
          </p:cNvPr>
          <p:cNvSpPr/>
          <p:nvPr/>
        </p:nvSpPr>
        <p:spPr>
          <a:xfrm>
            <a:off x="3438775" y="3016970"/>
            <a:ext cx="4344972" cy="923330"/>
          </a:xfrm>
          <a:prstGeom prst="rect">
            <a:avLst/>
          </a:prstGeom>
          <a:noFill/>
        </p:spPr>
        <p:txBody>
          <a:bodyPr wrap="non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Break it down </a:t>
            </a:r>
          </a:p>
        </p:txBody>
      </p:sp>
      <p:pic>
        <p:nvPicPr>
          <p:cNvPr id="6" name="Picture 5">
            <a:extLst>
              <a:ext uri="{FF2B5EF4-FFF2-40B4-BE49-F238E27FC236}">
                <a16:creationId xmlns:a16="http://schemas.microsoft.com/office/drawing/2014/main" id="{2AE3193F-1172-48EE-B9B1-2C8A5DB7941B}"/>
              </a:ext>
            </a:extLst>
          </p:cNvPr>
          <p:cNvPicPr>
            <a:picLocks noChangeAspect="1"/>
          </p:cNvPicPr>
          <p:nvPr/>
        </p:nvPicPr>
        <p:blipFill>
          <a:blip r:embed="rId2"/>
          <a:stretch>
            <a:fillRect/>
          </a:stretch>
        </p:blipFill>
        <p:spPr>
          <a:xfrm>
            <a:off x="740367" y="3871391"/>
            <a:ext cx="3732481" cy="2708053"/>
          </a:xfrm>
          <a:prstGeom prst="rect">
            <a:avLst/>
          </a:prstGeom>
        </p:spPr>
      </p:pic>
      <p:sp>
        <p:nvSpPr>
          <p:cNvPr id="7" name="Rectangle 6">
            <a:extLst>
              <a:ext uri="{FF2B5EF4-FFF2-40B4-BE49-F238E27FC236}">
                <a16:creationId xmlns:a16="http://schemas.microsoft.com/office/drawing/2014/main" id="{6119E7E1-3F23-4CF8-86BB-2943C8FF5119}"/>
              </a:ext>
            </a:extLst>
          </p:cNvPr>
          <p:cNvSpPr/>
          <p:nvPr/>
        </p:nvSpPr>
        <p:spPr>
          <a:xfrm>
            <a:off x="1377108" y="6070294"/>
            <a:ext cx="2875403" cy="616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Square root of 4 is 2</a:t>
            </a:r>
          </a:p>
        </p:txBody>
      </p:sp>
      <p:sp>
        <p:nvSpPr>
          <p:cNvPr id="9" name="TextBox 8">
            <a:extLst>
              <a:ext uri="{FF2B5EF4-FFF2-40B4-BE49-F238E27FC236}">
                <a16:creationId xmlns:a16="http://schemas.microsoft.com/office/drawing/2014/main" id="{673743FD-636E-4FCE-99A3-823EF9D36A36}"/>
              </a:ext>
            </a:extLst>
          </p:cNvPr>
          <p:cNvSpPr txBox="1"/>
          <p:nvPr/>
        </p:nvSpPr>
        <p:spPr>
          <a:xfrm>
            <a:off x="6097835" y="4094383"/>
            <a:ext cx="2935995" cy="646331"/>
          </a:xfrm>
          <a:prstGeom prst="rect">
            <a:avLst/>
          </a:prstGeom>
          <a:noFill/>
        </p:spPr>
        <p:txBody>
          <a:bodyPr wrap="square">
            <a:spAutoFit/>
          </a:bodyPr>
          <a:lstStyle/>
          <a:p>
            <a:r>
              <a:rPr lang="en-US" sz="3600" dirty="0"/>
              <a:t>sqrt(four)</a:t>
            </a:r>
          </a:p>
        </p:txBody>
      </p:sp>
      <p:cxnSp>
        <p:nvCxnSpPr>
          <p:cNvPr id="11" name="Straight Arrow Connector 10">
            <a:extLst>
              <a:ext uri="{FF2B5EF4-FFF2-40B4-BE49-F238E27FC236}">
                <a16:creationId xmlns:a16="http://schemas.microsoft.com/office/drawing/2014/main" id="{FFFFE604-2601-46A2-AB73-060B9A04EFBC}"/>
              </a:ext>
            </a:extLst>
          </p:cNvPr>
          <p:cNvCxnSpPr/>
          <p:nvPr/>
        </p:nvCxnSpPr>
        <p:spPr>
          <a:xfrm flipH="1" flipV="1">
            <a:off x="6731306" y="4740714"/>
            <a:ext cx="341523" cy="8117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E8F63A4-6BF7-4E2A-991D-ADDA5C254EC2}"/>
              </a:ext>
            </a:extLst>
          </p:cNvPr>
          <p:cNvSpPr/>
          <p:nvPr/>
        </p:nvSpPr>
        <p:spPr>
          <a:xfrm>
            <a:off x="5728771" y="5387045"/>
            <a:ext cx="3305059" cy="11058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function– Note the parenthesis wrapping the object </a:t>
            </a:r>
          </a:p>
        </p:txBody>
      </p:sp>
      <p:cxnSp>
        <p:nvCxnSpPr>
          <p:cNvPr id="14" name="Straight Arrow Connector 13">
            <a:extLst>
              <a:ext uri="{FF2B5EF4-FFF2-40B4-BE49-F238E27FC236}">
                <a16:creationId xmlns:a16="http://schemas.microsoft.com/office/drawing/2014/main" id="{46472423-0D6C-4C67-8707-945071B07471}"/>
              </a:ext>
            </a:extLst>
          </p:cNvPr>
          <p:cNvCxnSpPr/>
          <p:nvPr/>
        </p:nvCxnSpPr>
        <p:spPr>
          <a:xfrm flipH="1">
            <a:off x="7783747" y="4483865"/>
            <a:ext cx="2230586"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A7539C2-71DA-4B92-A79E-5E7A6770D273}"/>
              </a:ext>
            </a:extLst>
          </p:cNvPr>
          <p:cNvSpPr/>
          <p:nvPr/>
        </p:nvSpPr>
        <p:spPr>
          <a:xfrm>
            <a:off x="9805012" y="4094383"/>
            <a:ext cx="1646621" cy="1083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 object I made that is the number 4</a:t>
            </a:r>
          </a:p>
        </p:txBody>
      </p:sp>
    </p:spTree>
    <p:extLst>
      <p:ext uri="{BB962C8B-B14F-4D97-AF65-F5344CB8AC3E}">
        <p14:creationId xmlns:p14="http://schemas.microsoft.com/office/powerpoint/2010/main" val="235908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anim calcmode="lin" valueType="num">
                                      <p:cBhvr>
                                        <p:cTn id="8" dur="2000" fill="hold"/>
                                        <p:tgtEl>
                                          <p:spTgt spid="4">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4">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631-C786-4AC8-B3DA-6B00B01FE02A}"/>
              </a:ext>
            </a:extLst>
          </p:cNvPr>
          <p:cNvSpPr>
            <a:spLocks noGrp="1"/>
          </p:cNvSpPr>
          <p:nvPr>
            <p:ph type="title"/>
          </p:nvPr>
        </p:nvSpPr>
        <p:spPr>
          <a:solidFill>
            <a:schemeClr val="accent6">
              <a:lumMod val="60000"/>
              <a:lumOff val="40000"/>
            </a:schemeClr>
          </a:solidFill>
        </p:spPr>
        <p:txBody>
          <a:bodyPr/>
          <a:lstStyle/>
          <a:p>
            <a:r>
              <a:rPr lang="en-US" dirty="0"/>
              <a:t>Packages </a:t>
            </a:r>
          </a:p>
        </p:txBody>
      </p:sp>
      <p:sp>
        <p:nvSpPr>
          <p:cNvPr id="3" name="Content Placeholder 2">
            <a:extLst>
              <a:ext uri="{FF2B5EF4-FFF2-40B4-BE49-F238E27FC236}">
                <a16:creationId xmlns:a16="http://schemas.microsoft.com/office/drawing/2014/main" id="{70FE116A-AC74-4DAA-8362-02A341AFC95F}"/>
              </a:ext>
            </a:extLst>
          </p:cNvPr>
          <p:cNvSpPr>
            <a:spLocks noGrp="1"/>
          </p:cNvSpPr>
          <p:nvPr>
            <p:ph idx="1"/>
          </p:nvPr>
        </p:nvSpPr>
        <p:spPr/>
        <p:txBody>
          <a:bodyPr/>
          <a:lstStyle/>
          <a:p>
            <a:r>
              <a:rPr lang="en-US" dirty="0"/>
              <a:t>From your reading:</a:t>
            </a:r>
          </a:p>
          <a:p>
            <a:r>
              <a:rPr lang="en-US" dirty="0"/>
              <a:t>“An R package is a shareable bundle of code and documentation that contains pre-defined functions.”</a:t>
            </a:r>
          </a:p>
          <a:p>
            <a:r>
              <a:rPr lang="en-US" dirty="0">
                <a:highlight>
                  <a:srgbClr val="FFFF00"/>
                </a:highlight>
              </a:rPr>
              <a:t>This is the most exciting thing about R!!</a:t>
            </a:r>
          </a:p>
          <a:p>
            <a:r>
              <a:rPr lang="en-US" dirty="0"/>
              <a:t>In this class we will use three:</a:t>
            </a:r>
          </a:p>
          <a:p>
            <a:pPr lvl="1"/>
            <a:r>
              <a:rPr lang="en-US" dirty="0" err="1"/>
              <a:t>tidyverse</a:t>
            </a:r>
            <a:r>
              <a:rPr lang="en-US" dirty="0"/>
              <a:t> (next week)</a:t>
            </a:r>
          </a:p>
          <a:p>
            <a:pPr lvl="1"/>
            <a:r>
              <a:rPr lang="en-US" dirty="0" err="1"/>
              <a:t>dplyr</a:t>
            </a:r>
            <a:r>
              <a:rPr lang="en-US" dirty="0"/>
              <a:t> (next week)</a:t>
            </a:r>
          </a:p>
          <a:p>
            <a:pPr lvl="1"/>
            <a:r>
              <a:rPr lang="en-US" dirty="0"/>
              <a:t>ggplot2</a:t>
            </a:r>
          </a:p>
          <a:p>
            <a:endParaRPr lang="en-US" dirty="0"/>
          </a:p>
        </p:txBody>
      </p:sp>
      <p:pic>
        <p:nvPicPr>
          <p:cNvPr id="1026" name="Picture 2">
            <a:extLst>
              <a:ext uri="{FF2B5EF4-FFF2-40B4-BE49-F238E27FC236}">
                <a16:creationId xmlns:a16="http://schemas.microsoft.com/office/drawing/2014/main" id="{262E92BB-DC01-4659-AD34-CBAD180CE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1578" y="2863187"/>
            <a:ext cx="3922222" cy="3045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526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73FBA-22F8-46F4-AA49-3175B129CB45}"/>
              </a:ext>
            </a:extLst>
          </p:cNvPr>
          <p:cNvSpPr>
            <a:spLocks noGrp="1"/>
          </p:cNvSpPr>
          <p:nvPr>
            <p:ph type="title"/>
          </p:nvPr>
        </p:nvSpPr>
        <p:spPr>
          <a:solidFill>
            <a:schemeClr val="accent6">
              <a:lumMod val="60000"/>
              <a:lumOff val="40000"/>
            </a:schemeClr>
          </a:solidFill>
        </p:spPr>
        <p:txBody>
          <a:bodyPr/>
          <a:lstStyle/>
          <a:p>
            <a:r>
              <a:rPr lang="en-US" dirty="0"/>
              <a:t>Ok… so what is a package?? </a:t>
            </a:r>
          </a:p>
        </p:txBody>
      </p:sp>
      <p:sp>
        <p:nvSpPr>
          <p:cNvPr id="3" name="Content Placeholder 2">
            <a:extLst>
              <a:ext uri="{FF2B5EF4-FFF2-40B4-BE49-F238E27FC236}">
                <a16:creationId xmlns:a16="http://schemas.microsoft.com/office/drawing/2014/main" id="{73F310C3-68B4-43D7-806B-5849669AA31A}"/>
              </a:ext>
            </a:extLst>
          </p:cNvPr>
          <p:cNvSpPr>
            <a:spLocks noGrp="1"/>
          </p:cNvSpPr>
          <p:nvPr>
            <p:ph idx="1"/>
          </p:nvPr>
        </p:nvSpPr>
        <p:spPr>
          <a:xfrm>
            <a:off x="838200" y="1825625"/>
            <a:ext cx="6676505" cy="4351338"/>
          </a:xfrm>
        </p:spPr>
        <p:txBody>
          <a:bodyPr/>
          <a:lstStyle/>
          <a:p>
            <a:r>
              <a:rPr lang="en-US" dirty="0"/>
              <a:t>Basically installing a package is like downloading more functions within R studio</a:t>
            </a:r>
          </a:p>
          <a:p>
            <a:r>
              <a:rPr lang="en-US" dirty="0"/>
              <a:t>Once you install ggplot2, you get access to a lot of amazing data visualization functions </a:t>
            </a:r>
          </a:p>
          <a:p>
            <a:r>
              <a:rPr lang="en-US" dirty="0"/>
              <a:t>Once you download it, its there forever, but you need to ask R studio to load it in each session (shown in 2 slides) </a:t>
            </a:r>
          </a:p>
          <a:p>
            <a:endParaRPr lang="en-US" dirty="0"/>
          </a:p>
        </p:txBody>
      </p:sp>
      <p:pic>
        <p:nvPicPr>
          <p:cNvPr id="5" name="Picture 4">
            <a:extLst>
              <a:ext uri="{FF2B5EF4-FFF2-40B4-BE49-F238E27FC236}">
                <a16:creationId xmlns:a16="http://schemas.microsoft.com/office/drawing/2014/main" id="{4466983F-542C-4A48-A752-6DC0FC5CA863}"/>
              </a:ext>
            </a:extLst>
          </p:cNvPr>
          <p:cNvPicPr>
            <a:picLocks noChangeAspect="1"/>
          </p:cNvPicPr>
          <p:nvPr/>
        </p:nvPicPr>
        <p:blipFill>
          <a:blip r:embed="rId2"/>
          <a:stretch>
            <a:fillRect/>
          </a:stretch>
        </p:blipFill>
        <p:spPr>
          <a:xfrm>
            <a:off x="7431578" y="1825625"/>
            <a:ext cx="4074360" cy="3731428"/>
          </a:xfrm>
          <a:prstGeom prst="rect">
            <a:avLst/>
          </a:prstGeom>
        </p:spPr>
      </p:pic>
    </p:spTree>
    <p:extLst>
      <p:ext uri="{BB962C8B-B14F-4D97-AF65-F5344CB8AC3E}">
        <p14:creationId xmlns:p14="http://schemas.microsoft.com/office/powerpoint/2010/main" val="1545159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B378059-2217-4441-9E88-40040E82CE7A}"/>
              </a:ext>
            </a:extLst>
          </p:cNvPr>
          <p:cNvPicPr>
            <a:picLocks noChangeAspect="1"/>
          </p:cNvPicPr>
          <p:nvPr/>
        </p:nvPicPr>
        <p:blipFill>
          <a:blip r:embed="rId2"/>
          <a:stretch>
            <a:fillRect/>
          </a:stretch>
        </p:blipFill>
        <p:spPr>
          <a:xfrm>
            <a:off x="492545" y="2387599"/>
            <a:ext cx="4674365" cy="3983263"/>
          </a:xfrm>
          <a:prstGeom prst="rect">
            <a:avLst/>
          </a:prstGeom>
        </p:spPr>
      </p:pic>
      <p:sp>
        <p:nvSpPr>
          <p:cNvPr id="4" name="Down Arrow 3"/>
          <p:cNvSpPr/>
          <p:nvPr/>
        </p:nvSpPr>
        <p:spPr>
          <a:xfrm>
            <a:off x="1223819" y="1875245"/>
            <a:ext cx="230909" cy="507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92545" y="342900"/>
            <a:ext cx="10623474" cy="707886"/>
          </a:xfrm>
          <a:prstGeom prst="rect">
            <a:avLst/>
          </a:prstGeom>
          <a:solidFill>
            <a:schemeClr val="accent6">
              <a:lumMod val="60000"/>
              <a:lumOff val="40000"/>
            </a:schemeClr>
          </a:solidFill>
        </p:spPr>
        <p:txBody>
          <a:bodyPr wrap="square" rtlCol="0">
            <a:spAutoFit/>
          </a:bodyPr>
          <a:lstStyle/>
          <a:p>
            <a:r>
              <a:rPr lang="en-US" sz="4000" dirty="0"/>
              <a:t>Downloading Packages</a:t>
            </a:r>
          </a:p>
        </p:txBody>
      </p:sp>
      <p:sp>
        <p:nvSpPr>
          <p:cNvPr id="6" name="TextBox 5"/>
          <p:cNvSpPr txBox="1"/>
          <p:nvPr/>
        </p:nvSpPr>
        <p:spPr>
          <a:xfrm>
            <a:off x="217285" y="1185127"/>
            <a:ext cx="4674365" cy="830997"/>
          </a:xfrm>
          <a:prstGeom prst="rect">
            <a:avLst/>
          </a:prstGeom>
          <a:noFill/>
        </p:spPr>
        <p:txBody>
          <a:bodyPr wrap="square" rtlCol="0">
            <a:spAutoFit/>
          </a:bodyPr>
          <a:lstStyle/>
          <a:p>
            <a:pPr algn="ctr"/>
            <a:r>
              <a:rPr lang="en-US" sz="2400" dirty="0"/>
              <a:t>In the “packages” tab you can search for and download packages</a:t>
            </a:r>
          </a:p>
        </p:txBody>
      </p:sp>
      <p:sp>
        <p:nvSpPr>
          <p:cNvPr id="7" name="TextBox 6"/>
          <p:cNvSpPr txBox="1"/>
          <p:nvPr/>
        </p:nvSpPr>
        <p:spPr>
          <a:xfrm>
            <a:off x="5405812" y="2747158"/>
            <a:ext cx="6604000"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You can also type:</a:t>
            </a:r>
          </a:p>
          <a:p>
            <a:r>
              <a:rPr lang="en-US" sz="2400" dirty="0" err="1">
                <a:latin typeface="Courier New" panose="02070309020205020404" pitchFamily="49" charset="0"/>
                <a:cs typeface="Courier New" panose="02070309020205020404" pitchFamily="49" charset="0"/>
              </a:rPr>
              <a:t>install.packages</a:t>
            </a:r>
            <a:r>
              <a:rPr lang="en-US" sz="2400" dirty="0">
                <a:latin typeface="Courier New" panose="02070309020205020404" pitchFamily="49" charset="0"/>
                <a:cs typeface="Courier New" panose="02070309020205020404" pitchFamily="49" charset="0"/>
              </a:rPr>
              <a:t>("&lt;package name&gt;") </a:t>
            </a:r>
            <a:r>
              <a:rPr lang="en-US" sz="2400" dirty="0">
                <a:cs typeface="Courier New" panose="02070309020205020404" pitchFamily="49" charset="0"/>
              </a:rPr>
              <a:t>into the console</a:t>
            </a:r>
          </a:p>
          <a:p>
            <a:endParaRPr lang="en-US" sz="2400" dirty="0">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400" dirty="0">
                <a:highlight>
                  <a:srgbClr val="FFFF00"/>
                </a:highlight>
                <a:cs typeface="Courier New" panose="02070309020205020404" pitchFamily="49" charset="0"/>
              </a:rPr>
              <a:t>Once the package is downloaded, the contents can be made available by using:</a:t>
            </a:r>
          </a:p>
          <a:p>
            <a:r>
              <a:rPr lang="en-US" sz="2400">
                <a:latin typeface="Courier New" panose="02070309020205020404" pitchFamily="49" charset="0"/>
                <a:cs typeface="Courier New" panose="02070309020205020404" pitchFamily="49" charset="0"/>
              </a:rPr>
              <a:t>library(&lt;</a:t>
            </a:r>
            <a:r>
              <a:rPr lang="en-US" sz="2400" dirty="0">
                <a:latin typeface="Courier New" panose="02070309020205020404" pitchFamily="49" charset="0"/>
                <a:cs typeface="Courier New" panose="02070309020205020404" pitchFamily="49" charset="0"/>
              </a:rPr>
              <a:t>package </a:t>
            </a:r>
            <a:r>
              <a:rPr lang="en-US" sz="2400">
                <a:latin typeface="Courier New" panose="02070309020205020404" pitchFamily="49" charset="0"/>
                <a:cs typeface="Courier New" panose="02070309020205020404" pitchFamily="49" charset="0"/>
              </a:rPr>
              <a:t>name&gt;)</a:t>
            </a:r>
            <a:endParaRPr lang="en-US" sz="2400" dirty="0">
              <a:latin typeface="Courier New" panose="02070309020205020404" pitchFamily="49" charset="0"/>
              <a:cs typeface="Courier New" panose="02070309020205020404" pitchFamily="49" charset="0"/>
            </a:endParaRPr>
          </a:p>
        </p:txBody>
      </p:sp>
      <p:sp>
        <p:nvSpPr>
          <p:cNvPr id="2" name="Rectangle 1">
            <a:extLst>
              <a:ext uri="{FF2B5EF4-FFF2-40B4-BE49-F238E27FC236}">
                <a16:creationId xmlns:a16="http://schemas.microsoft.com/office/drawing/2014/main" id="{EC1940A6-7908-4770-B22B-C9245C53B50D}"/>
              </a:ext>
            </a:extLst>
          </p:cNvPr>
          <p:cNvSpPr/>
          <p:nvPr/>
        </p:nvSpPr>
        <p:spPr>
          <a:xfrm>
            <a:off x="5405812" y="2651760"/>
            <a:ext cx="6293643" cy="1363287"/>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Down 2">
            <a:extLst>
              <a:ext uri="{FF2B5EF4-FFF2-40B4-BE49-F238E27FC236}">
                <a16:creationId xmlns:a16="http://schemas.microsoft.com/office/drawing/2014/main" id="{FC2B3AF6-5ED7-429E-8639-51C288BF0F0D}"/>
              </a:ext>
            </a:extLst>
          </p:cNvPr>
          <p:cNvSpPr/>
          <p:nvPr/>
        </p:nvSpPr>
        <p:spPr>
          <a:xfrm>
            <a:off x="6281508" y="1146184"/>
            <a:ext cx="4281055" cy="1527082"/>
          </a:xfrm>
          <a:prstGeom prst="downArrow">
            <a:avLst>
              <a:gd name="adj1" fmla="val 68641"/>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You install it once using </a:t>
            </a:r>
            <a:r>
              <a:rPr lang="en-US" sz="2400" dirty="0" err="1"/>
              <a:t>install.packages</a:t>
            </a:r>
            <a:r>
              <a:rPr lang="en-US" sz="2400" dirty="0"/>
              <a:t> function</a:t>
            </a:r>
          </a:p>
        </p:txBody>
      </p:sp>
      <p:sp>
        <p:nvSpPr>
          <p:cNvPr id="9" name="Arrow: Up 8">
            <a:extLst>
              <a:ext uri="{FF2B5EF4-FFF2-40B4-BE49-F238E27FC236}">
                <a16:creationId xmlns:a16="http://schemas.microsoft.com/office/drawing/2014/main" id="{9585A994-0CB4-47CA-B39E-AD154E97B4F0}"/>
              </a:ext>
            </a:extLst>
          </p:cNvPr>
          <p:cNvSpPr/>
          <p:nvPr/>
        </p:nvSpPr>
        <p:spPr>
          <a:xfrm>
            <a:off x="6173444" y="5424814"/>
            <a:ext cx="4497185" cy="1153391"/>
          </a:xfrm>
          <a:prstGeom prst="upArrow">
            <a:avLst>
              <a:gd name="adj1" fmla="val 6478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You call the package in using the library function  in every time </a:t>
            </a:r>
          </a:p>
        </p:txBody>
      </p:sp>
    </p:spTree>
    <p:extLst>
      <p:ext uri="{BB962C8B-B14F-4D97-AF65-F5344CB8AC3E}">
        <p14:creationId xmlns:p14="http://schemas.microsoft.com/office/powerpoint/2010/main" val="286141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8BFDE-D742-442F-8F70-790FEF1F04B3}"/>
              </a:ext>
            </a:extLst>
          </p:cNvPr>
          <p:cNvSpPr>
            <a:spLocks noGrp="1"/>
          </p:cNvSpPr>
          <p:nvPr>
            <p:ph type="title"/>
          </p:nvPr>
        </p:nvSpPr>
        <p:spPr>
          <a:solidFill>
            <a:schemeClr val="accent6">
              <a:lumMod val="60000"/>
              <a:lumOff val="40000"/>
            </a:schemeClr>
          </a:solidFill>
        </p:spPr>
        <p:txBody>
          <a:bodyPr/>
          <a:lstStyle/>
          <a:p>
            <a:r>
              <a:rPr lang="en-US" dirty="0"/>
              <a:t> </a:t>
            </a:r>
          </a:p>
        </p:txBody>
      </p:sp>
      <p:pic>
        <p:nvPicPr>
          <p:cNvPr id="6" name="Content Placeholder 5">
            <a:extLst>
              <a:ext uri="{FF2B5EF4-FFF2-40B4-BE49-F238E27FC236}">
                <a16:creationId xmlns:a16="http://schemas.microsoft.com/office/drawing/2014/main" id="{F5E5660B-5CDD-4B7B-9E59-7ABF0E25B693}"/>
              </a:ext>
            </a:extLst>
          </p:cNvPr>
          <p:cNvPicPr>
            <a:picLocks noGrp="1" noChangeAspect="1"/>
          </p:cNvPicPr>
          <p:nvPr>
            <p:ph idx="1"/>
          </p:nvPr>
        </p:nvPicPr>
        <p:blipFill>
          <a:blip r:embed="rId2"/>
          <a:stretch>
            <a:fillRect/>
          </a:stretch>
        </p:blipFill>
        <p:spPr>
          <a:xfrm>
            <a:off x="2146977" y="3217025"/>
            <a:ext cx="7199414" cy="1429790"/>
          </a:xfrm>
        </p:spPr>
      </p:pic>
      <p:sp>
        <p:nvSpPr>
          <p:cNvPr id="4" name="Rectangle 3">
            <a:extLst>
              <a:ext uri="{FF2B5EF4-FFF2-40B4-BE49-F238E27FC236}">
                <a16:creationId xmlns:a16="http://schemas.microsoft.com/office/drawing/2014/main" id="{F8BB61F9-70CE-4FDD-A220-535763D12F8E}"/>
              </a:ext>
            </a:extLst>
          </p:cNvPr>
          <p:cNvSpPr/>
          <p:nvPr/>
        </p:nvSpPr>
        <p:spPr>
          <a:xfrm>
            <a:off x="1014629" y="566241"/>
            <a:ext cx="7818551"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SYNTAX BREAKDOWNNNN</a:t>
            </a:r>
          </a:p>
        </p:txBody>
      </p:sp>
      <p:cxnSp>
        <p:nvCxnSpPr>
          <p:cNvPr id="8" name="Straight Arrow Connector 7">
            <a:extLst>
              <a:ext uri="{FF2B5EF4-FFF2-40B4-BE49-F238E27FC236}">
                <a16:creationId xmlns:a16="http://schemas.microsoft.com/office/drawing/2014/main" id="{70EA581D-0D2D-4A25-A0F0-B5E5D293A818}"/>
              </a:ext>
            </a:extLst>
          </p:cNvPr>
          <p:cNvCxnSpPr>
            <a:cxnSpLocks/>
          </p:cNvCxnSpPr>
          <p:nvPr/>
        </p:nvCxnSpPr>
        <p:spPr>
          <a:xfrm>
            <a:off x="2306781" y="2805544"/>
            <a:ext cx="1230283" cy="40732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714C716-7903-4DAD-A1EE-CF54F85BE974}"/>
              </a:ext>
            </a:extLst>
          </p:cNvPr>
          <p:cNvCxnSpPr>
            <a:cxnSpLocks/>
          </p:cNvCxnSpPr>
          <p:nvPr/>
        </p:nvCxnSpPr>
        <p:spPr>
          <a:xfrm flipV="1">
            <a:off x="2443942" y="4646816"/>
            <a:ext cx="955963" cy="8146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F46EBC1-398D-490C-8079-20803E633443}"/>
              </a:ext>
            </a:extLst>
          </p:cNvPr>
          <p:cNvCxnSpPr>
            <a:cxnSpLocks/>
          </p:cNvCxnSpPr>
          <p:nvPr/>
        </p:nvCxnSpPr>
        <p:spPr>
          <a:xfrm flipH="1">
            <a:off x="9185564" y="3931920"/>
            <a:ext cx="73983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49DB22E-8EA6-408E-A2D3-DCC915E33604}"/>
              </a:ext>
            </a:extLst>
          </p:cNvPr>
          <p:cNvSpPr/>
          <p:nvPr/>
        </p:nvSpPr>
        <p:spPr>
          <a:xfrm>
            <a:off x="266007" y="2219498"/>
            <a:ext cx="2310938" cy="796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Function to install the first time</a:t>
            </a:r>
          </a:p>
        </p:txBody>
      </p:sp>
      <p:sp>
        <p:nvSpPr>
          <p:cNvPr id="17" name="Rectangle 16">
            <a:extLst>
              <a:ext uri="{FF2B5EF4-FFF2-40B4-BE49-F238E27FC236}">
                <a16:creationId xmlns:a16="http://schemas.microsoft.com/office/drawing/2014/main" id="{9C58A93B-2EBF-4CEE-B568-93335572FA61}"/>
              </a:ext>
            </a:extLst>
          </p:cNvPr>
          <p:cNvSpPr/>
          <p:nvPr/>
        </p:nvSpPr>
        <p:spPr>
          <a:xfrm>
            <a:off x="418407" y="5063257"/>
            <a:ext cx="2310938" cy="14296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Function to read package in every time- you must do this at the beginning of every R session  </a:t>
            </a:r>
          </a:p>
        </p:txBody>
      </p:sp>
      <p:sp>
        <p:nvSpPr>
          <p:cNvPr id="18" name="Rectangle 17">
            <a:extLst>
              <a:ext uri="{FF2B5EF4-FFF2-40B4-BE49-F238E27FC236}">
                <a16:creationId xmlns:a16="http://schemas.microsoft.com/office/drawing/2014/main" id="{95253E84-B579-4E66-A8B1-1A3A7DEA5D70}"/>
              </a:ext>
            </a:extLst>
          </p:cNvPr>
          <p:cNvSpPr/>
          <p:nvPr/>
        </p:nvSpPr>
        <p:spPr>
          <a:xfrm>
            <a:off x="9615055" y="2847105"/>
            <a:ext cx="2310938" cy="22810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a comment, a line that does nothing but is used for documentation/ notes  (starts with a hashtag)</a:t>
            </a:r>
          </a:p>
        </p:txBody>
      </p:sp>
      <p:cxnSp>
        <p:nvCxnSpPr>
          <p:cNvPr id="19" name="Straight Arrow Connector 18">
            <a:extLst>
              <a:ext uri="{FF2B5EF4-FFF2-40B4-BE49-F238E27FC236}">
                <a16:creationId xmlns:a16="http://schemas.microsoft.com/office/drawing/2014/main" id="{81E565D2-A399-47EB-A78D-485A41A3527C}"/>
              </a:ext>
            </a:extLst>
          </p:cNvPr>
          <p:cNvCxnSpPr>
            <a:cxnSpLocks/>
          </p:cNvCxnSpPr>
          <p:nvPr/>
        </p:nvCxnSpPr>
        <p:spPr>
          <a:xfrm flipH="1" flipV="1">
            <a:off x="5903421" y="4591051"/>
            <a:ext cx="755074" cy="5370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E9BAEA5-57DD-4FC3-B42F-3E88A5080D79}"/>
              </a:ext>
            </a:extLst>
          </p:cNvPr>
          <p:cNvSpPr/>
          <p:nvPr/>
        </p:nvSpPr>
        <p:spPr>
          <a:xfrm>
            <a:off x="6594764" y="4737993"/>
            <a:ext cx="2310938" cy="14296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The package we are installing/ using </a:t>
            </a:r>
          </a:p>
        </p:txBody>
      </p:sp>
      <p:cxnSp>
        <p:nvCxnSpPr>
          <p:cNvPr id="22" name="Straight Arrow Connector 21">
            <a:extLst>
              <a:ext uri="{FF2B5EF4-FFF2-40B4-BE49-F238E27FC236}">
                <a16:creationId xmlns:a16="http://schemas.microsoft.com/office/drawing/2014/main" id="{AF29EAC6-486D-4814-879E-8CEC06BCD788}"/>
              </a:ext>
            </a:extLst>
          </p:cNvPr>
          <p:cNvCxnSpPr>
            <a:cxnSpLocks/>
            <a:stCxn id="20" idx="0"/>
          </p:cNvCxnSpPr>
          <p:nvPr/>
        </p:nvCxnSpPr>
        <p:spPr>
          <a:xfrm flipH="1" flipV="1">
            <a:off x="7593677" y="3719079"/>
            <a:ext cx="156556" cy="10189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613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animBg="1"/>
      <p:bldP spid="17" grpId="0" animBg="1"/>
      <p:bldP spid="18"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900" y="288925"/>
            <a:ext cx="10883900" cy="1308521"/>
          </a:xfrm>
          <a:solidFill>
            <a:schemeClr val="accent6">
              <a:lumMod val="60000"/>
              <a:lumOff val="40000"/>
            </a:schemeClr>
          </a:solidFill>
        </p:spPr>
        <p:txBody>
          <a:bodyPr/>
          <a:lstStyle/>
          <a:p>
            <a:r>
              <a:rPr lang="en-US" dirty="0">
                <a:latin typeface="+mn-lt"/>
              </a:rPr>
              <a:t>Commonly Used Packages</a:t>
            </a:r>
          </a:p>
        </p:txBody>
      </p:sp>
      <p:sp>
        <p:nvSpPr>
          <p:cNvPr id="3" name="Content Placeholder 2"/>
          <p:cNvSpPr>
            <a:spLocks noGrp="1"/>
          </p:cNvSpPr>
          <p:nvPr>
            <p:ph idx="1"/>
          </p:nvPr>
        </p:nvSpPr>
        <p:spPr>
          <a:xfrm>
            <a:off x="469900" y="1817783"/>
            <a:ext cx="11366500" cy="4706160"/>
          </a:xfrm>
          <a:noFill/>
        </p:spPr>
        <p:txBody>
          <a:bodyPr>
            <a:normAutofit lnSpcReduction="10000"/>
          </a:bodyPr>
          <a:lstStyle/>
          <a:p>
            <a:pPr marL="457200" indent="-457200">
              <a:lnSpc>
                <a:spcPct val="100000"/>
              </a:lnSpc>
              <a:spcBef>
                <a:spcPts val="1200"/>
              </a:spcBef>
              <a:spcAft>
                <a:spcPts val="1200"/>
              </a:spcAft>
              <a:buFont typeface="Wingdings" panose="05000000000000000000" pitchFamily="2" charset="2"/>
              <a:buChar char="Ø"/>
            </a:pPr>
            <a:r>
              <a:rPr lang="en-US" sz="2400" b="1" dirty="0" err="1"/>
              <a:t>tidyverse</a:t>
            </a:r>
            <a:r>
              <a:rPr lang="en-US" sz="2400" dirty="0"/>
              <a:t>: A collection of packages designed for data manipulation</a:t>
            </a:r>
          </a:p>
          <a:p>
            <a:pPr marL="457200" indent="-457200">
              <a:lnSpc>
                <a:spcPct val="100000"/>
              </a:lnSpc>
              <a:spcBef>
                <a:spcPts val="1200"/>
              </a:spcBef>
              <a:spcAft>
                <a:spcPts val="1200"/>
              </a:spcAft>
              <a:buFont typeface="Wingdings" panose="05000000000000000000" pitchFamily="2" charset="2"/>
              <a:buChar char="Ø"/>
            </a:pPr>
            <a:r>
              <a:rPr lang="en-US" sz="2400" b="1" dirty="0" err="1"/>
              <a:t>dplyr</a:t>
            </a:r>
            <a:r>
              <a:rPr lang="en-US" sz="2400" b="1" dirty="0"/>
              <a:t>:</a:t>
            </a:r>
            <a:r>
              <a:rPr lang="en-US" sz="2400" dirty="0"/>
              <a:t> Shortcuts for sub-setting, summarizing, rearranging, and joining data</a:t>
            </a:r>
          </a:p>
          <a:p>
            <a:pPr marL="457200" indent="-457200">
              <a:lnSpc>
                <a:spcPct val="100000"/>
              </a:lnSpc>
              <a:spcBef>
                <a:spcPts val="1200"/>
              </a:spcBef>
              <a:spcAft>
                <a:spcPts val="1200"/>
              </a:spcAft>
              <a:buFont typeface="Wingdings" panose="05000000000000000000" pitchFamily="2" charset="2"/>
              <a:buChar char="Ø"/>
            </a:pPr>
            <a:r>
              <a:rPr lang="en-US" sz="2400" b="1" dirty="0" err="1"/>
              <a:t>tidyr</a:t>
            </a:r>
            <a:r>
              <a:rPr lang="en-US" sz="2400" b="1" dirty="0"/>
              <a:t>:</a:t>
            </a:r>
            <a:r>
              <a:rPr lang="en-US" sz="2400" dirty="0"/>
              <a:t> Changing the layout of the data sets</a:t>
            </a:r>
          </a:p>
          <a:p>
            <a:pPr marL="457200" indent="-457200">
              <a:lnSpc>
                <a:spcPct val="100000"/>
              </a:lnSpc>
              <a:spcBef>
                <a:spcPts val="1200"/>
              </a:spcBef>
              <a:spcAft>
                <a:spcPts val="1200"/>
              </a:spcAft>
              <a:buFont typeface="Wingdings" panose="05000000000000000000" pitchFamily="2" charset="2"/>
              <a:buChar char="Ø"/>
            </a:pPr>
            <a:r>
              <a:rPr lang="en-US" sz="2400" b="1" dirty="0" err="1"/>
              <a:t>stringr</a:t>
            </a:r>
            <a:r>
              <a:rPr lang="en-US" sz="2400" b="1" dirty="0"/>
              <a:t>:</a:t>
            </a:r>
            <a:r>
              <a:rPr lang="en-US" sz="2400" dirty="0"/>
              <a:t> Tools for regular expressions and character strings</a:t>
            </a:r>
          </a:p>
          <a:p>
            <a:pPr marL="457200" indent="-457200">
              <a:lnSpc>
                <a:spcPct val="100000"/>
              </a:lnSpc>
              <a:spcBef>
                <a:spcPts val="1200"/>
              </a:spcBef>
              <a:spcAft>
                <a:spcPts val="1200"/>
              </a:spcAft>
              <a:buFont typeface="Wingdings" panose="05000000000000000000" pitchFamily="2" charset="2"/>
              <a:buChar char="Ø"/>
            </a:pPr>
            <a:r>
              <a:rPr lang="en-US" sz="2400" b="1" dirty="0" err="1"/>
              <a:t>lubridate</a:t>
            </a:r>
            <a:r>
              <a:rPr lang="en-US" sz="2400" dirty="0"/>
              <a:t>: Makes working with dates and times easier</a:t>
            </a:r>
          </a:p>
          <a:p>
            <a:pPr marL="457200" indent="-457200">
              <a:lnSpc>
                <a:spcPct val="100000"/>
              </a:lnSpc>
              <a:spcBef>
                <a:spcPts val="1200"/>
              </a:spcBef>
              <a:spcAft>
                <a:spcPts val="1200"/>
              </a:spcAft>
              <a:buFont typeface="Wingdings" panose="05000000000000000000" pitchFamily="2" charset="2"/>
              <a:buChar char="Ø"/>
            </a:pPr>
            <a:r>
              <a:rPr lang="en-US" sz="2400" b="1" dirty="0"/>
              <a:t>ggplot2:</a:t>
            </a:r>
            <a:r>
              <a:rPr lang="en-US" sz="2400" dirty="0"/>
              <a:t> Create graphics</a:t>
            </a:r>
          </a:p>
          <a:p>
            <a:pPr marL="457200" indent="-457200">
              <a:lnSpc>
                <a:spcPct val="100000"/>
              </a:lnSpc>
              <a:spcBef>
                <a:spcPts val="1200"/>
              </a:spcBef>
              <a:spcAft>
                <a:spcPts val="1200"/>
              </a:spcAft>
              <a:buFont typeface="Wingdings" panose="05000000000000000000" pitchFamily="2" charset="2"/>
              <a:buChar char="Ø"/>
            </a:pPr>
            <a:r>
              <a:rPr lang="en-US" sz="2400" b="1" dirty="0"/>
              <a:t>R Markdown:</a:t>
            </a:r>
            <a:r>
              <a:rPr lang="en-US" sz="2400" dirty="0"/>
              <a:t> Can be used for automated reporting. Reports can be exported as HTML, pdf, or MS Word document</a:t>
            </a:r>
          </a:p>
        </p:txBody>
      </p:sp>
      <p:pic>
        <p:nvPicPr>
          <p:cNvPr id="5" name="Picture 4"/>
          <p:cNvPicPr>
            <a:picLocks noChangeAspect="1"/>
          </p:cNvPicPr>
          <p:nvPr/>
        </p:nvPicPr>
        <p:blipFill rotWithShape="1">
          <a:blip r:embed="rId3">
            <a:duotone>
              <a:schemeClr val="accent5">
                <a:shade val="45000"/>
                <a:satMod val="135000"/>
              </a:schemeClr>
              <a:prstClr val="white"/>
            </a:duotone>
          </a:blip>
          <a:srcRect b="16476"/>
          <a:stretch/>
        </p:blipFill>
        <p:spPr>
          <a:xfrm>
            <a:off x="8875345" y="2962957"/>
            <a:ext cx="2478455" cy="2070100"/>
          </a:xfrm>
          <a:prstGeom prst="rect">
            <a:avLst/>
          </a:prstGeom>
        </p:spPr>
      </p:pic>
    </p:spTree>
    <p:extLst>
      <p:ext uri="{BB962C8B-B14F-4D97-AF65-F5344CB8AC3E}">
        <p14:creationId xmlns:p14="http://schemas.microsoft.com/office/powerpoint/2010/main" val="234333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46D86-861D-4B46-B64A-A0B3E05099F3}"/>
              </a:ext>
            </a:extLst>
          </p:cNvPr>
          <p:cNvSpPr>
            <a:spLocks noGrp="1"/>
          </p:cNvSpPr>
          <p:nvPr>
            <p:ph type="title"/>
          </p:nvPr>
        </p:nvSpPr>
        <p:spPr>
          <a:solidFill>
            <a:schemeClr val="accent6">
              <a:lumMod val="60000"/>
              <a:lumOff val="40000"/>
            </a:schemeClr>
          </a:solidFill>
        </p:spPr>
        <p:txBody>
          <a:bodyPr/>
          <a:lstStyle/>
          <a:p>
            <a:r>
              <a:rPr lang="en-US" dirty="0"/>
              <a:t>Scripts</a:t>
            </a:r>
          </a:p>
        </p:txBody>
      </p:sp>
      <p:sp>
        <p:nvSpPr>
          <p:cNvPr id="3" name="Content Placeholder 2">
            <a:extLst>
              <a:ext uri="{FF2B5EF4-FFF2-40B4-BE49-F238E27FC236}">
                <a16:creationId xmlns:a16="http://schemas.microsoft.com/office/drawing/2014/main" id="{9E68B234-98CF-4E22-A0D7-9B2EE349DD23}"/>
              </a:ext>
            </a:extLst>
          </p:cNvPr>
          <p:cNvSpPr>
            <a:spLocks noGrp="1"/>
          </p:cNvSpPr>
          <p:nvPr>
            <p:ph idx="1"/>
          </p:nvPr>
        </p:nvSpPr>
        <p:spPr>
          <a:xfrm>
            <a:off x="838200" y="1825625"/>
            <a:ext cx="3650673" cy="4351338"/>
          </a:xfrm>
        </p:spPr>
        <p:txBody>
          <a:bodyPr>
            <a:normAutofit lnSpcReduction="10000"/>
          </a:bodyPr>
          <a:lstStyle/>
          <a:p>
            <a:r>
              <a:rPr lang="en-US" dirty="0"/>
              <a:t>By coding in the “scripts” window you have a file that you can come back to in later sessions </a:t>
            </a:r>
          </a:p>
          <a:p>
            <a:pPr lvl="1"/>
            <a:r>
              <a:rPr lang="en-US" dirty="0"/>
              <a:t>All statistical software has something like this </a:t>
            </a:r>
          </a:p>
          <a:p>
            <a:pPr lvl="1"/>
            <a:r>
              <a:rPr lang="en-US" dirty="0"/>
              <a:t>You will be required to save an upload a script for the homework </a:t>
            </a:r>
          </a:p>
          <a:p>
            <a:endParaRPr lang="en-US" dirty="0"/>
          </a:p>
        </p:txBody>
      </p:sp>
      <p:pic>
        <p:nvPicPr>
          <p:cNvPr id="5" name="Picture 4">
            <a:extLst>
              <a:ext uri="{FF2B5EF4-FFF2-40B4-BE49-F238E27FC236}">
                <a16:creationId xmlns:a16="http://schemas.microsoft.com/office/drawing/2014/main" id="{DBD5F4AE-8BC9-4035-885D-748A41EEEEB0}"/>
              </a:ext>
            </a:extLst>
          </p:cNvPr>
          <p:cNvPicPr>
            <a:picLocks noChangeAspect="1"/>
          </p:cNvPicPr>
          <p:nvPr/>
        </p:nvPicPr>
        <p:blipFill>
          <a:blip r:embed="rId2"/>
          <a:stretch>
            <a:fillRect/>
          </a:stretch>
        </p:blipFill>
        <p:spPr>
          <a:xfrm>
            <a:off x="4705003" y="3058834"/>
            <a:ext cx="6893069" cy="3331748"/>
          </a:xfrm>
          <a:prstGeom prst="rect">
            <a:avLst/>
          </a:prstGeom>
        </p:spPr>
      </p:pic>
      <p:sp>
        <p:nvSpPr>
          <p:cNvPr id="6" name="Rectangle 5">
            <a:extLst>
              <a:ext uri="{FF2B5EF4-FFF2-40B4-BE49-F238E27FC236}">
                <a16:creationId xmlns:a16="http://schemas.microsoft.com/office/drawing/2014/main" id="{7038005E-FD45-49FB-972D-6F3DF1C38FF3}"/>
              </a:ext>
            </a:extLst>
          </p:cNvPr>
          <p:cNvSpPr/>
          <p:nvPr/>
        </p:nvSpPr>
        <p:spPr>
          <a:xfrm>
            <a:off x="4705003" y="2975956"/>
            <a:ext cx="2078182" cy="45304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93D1590-1B0B-4610-A2EE-650C041D6A2B}"/>
              </a:ext>
            </a:extLst>
          </p:cNvPr>
          <p:cNvSpPr/>
          <p:nvPr/>
        </p:nvSpPr>
        <p:spPr>
          <a:xfrm>
            <a:off x="9035935" y="3202478"/>
            <a:ext cx="717664" cy="45304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6A3E614-FCC7-46E4-A0A1-30B34E0B3EA2}"/>
              </a:ext>
            </a:extLst>
          </p:cNvPr>
          <p:cNvSpPr/>
          <p:nvPr/>
        </p:nvSpPr>
        <p:spPr>
          <a:xfrm>
            <a:off x="4596938" y="1939573"/>
            <a:ext cx="2477193" cy="61514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Red text means your version is unsaved </a:t>
            </a:r>
          </a:p>
        </p:txBody>
      </p:sp>
      <p:sp>
        <p:nvSpPr>
          <p:cNvPr id="9" name="Rectangle 8">
            <a:extLst>
              <a:ext uri="{FF2B5EF4-FFF2-40B4-BE49-F238E27FC236}">
                <a16:creationId xmlns:a16="http://schemas.microsoft.com/office/drawing/2014/main" id="{043FA524-2CCE-40AC-A89D-4111B93C0D74}"/>
              </a:ext>
            </a:extLst>
          </p:cNvPr>
          <p:cNvSpPr/>
          <p:nvPr/>
        </p:nvSpPr>
        <p:spPr>
          <a:xfrm>
            <a:off x="8074429" y="2053307"/>
            <a:ext cx="2477193" cy="61514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run button will run highlighted code </a:t>
            </a:r>
          </a:p>
        </p:txBody>
      </p:sp>
    </p:spTree>
    <p:extLst>
      <p:ext uri="{BB962C8B-B14F-4D97-AF65-F5344CB8AC3E}">
        <p14:creationId xmlns:p14="http://schemas.microsoft.com/office/powerpoint/2010/main" val="67573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3B81B-A8A2-4A08-B225-C25095432546}"/>
              </a:ext>
            </a:extLst>
          </p:cNvPr>
          <p:cNvSpPr>
            <a:spLocks noGrp="1"/>
          </p:cNvSpPr>
          <p:nvPr>
            <p:ph type="title"/>
          </p:nvPr>
        </p:nvSpPr>
        <p:spPr>
          <a:solidFill>
            <a:schemeClr val="accent6">
              <a:lumMod val="60000"/>
              <a:lumOff val="40000"/>
            </a:schemeClr>
          </a:solidFill>
        </p:spPr>
        <p:txBody>
          <a:bodyPr/>
          <a:lstStyle/>
          <a:p>
            <a:r>
              <a:rPr lang="en-US" dirty="0"/>
              <a:t>File paths and reading in data</a:t>
            </a:r>
          </a:p>
        </p:txBody>
      </p:sp>
      <p:sp>
        <p:nvSpPr>
          <p:cNvPr id="3" name="Content Placeholder 2">
            <a:extLst>
              <a:ext uri="{FF2B5EF4-FFF2-40B4-BE49-F238E27FC236}">
                <a16:creationId xmlns:a16="http://schemas.microsoft.com/office/drawing/2014/main" id="{058CBC4A-A8AA-4571-8C55-BEE40C0322DE}"/>
              </a:ext>
            </a:extLst>
          </p:cNvPr>
          <p:cNvSpPr>
            <a:spLocks noGrp="1"/>
          </p:cNvSpPr>
          <p:nvPr>
            <p:ph idx="1"/>
          </p:nvPr>
        </p:nvSpPr>
        <p:spPr/>
        <p:txBody>
          <a:bodyPr/>
          <a:lstStyle/>
          <a:p>
            <a:r>
              <a:rPr lang="en-US" dirty="0"/>
              <a:t>One of the hardest things for new users of statistical software is reading in data</a:t>
            </a:r>
          </a:p>
          <a:p>
            <a:r>
              <a:rPr lang="en-US" dirty="0"/>
              <a:t>For this workshop, there are three broad steps</a:t>
            </a:r>
          </a:p>
          <a:p>
            <a:pPr marL="514350" indent="-514350">
              <a:buAutoNum type="arabicPeriod"/>
            </a:pPr>
            <a:r>
              <a:rPr lang="en-US" dirty="0"/>
              <a:t>Download the data from GitHub (demonstrated in video today)</a:t>
            </a:r>
          </a:p>
          <a:p>
            <a:pPr marL="514350" indent="-514350">
              <a:buAutoNum type="arabicPeriod"/>
            </a:pPr>
            <a:r>
              <a:rPr lang="en-US" dirty="0"/>
              <a:t>Save the data in an organized place on your computer</a:t>
            </a:r>
          </a:p>
          <a:p>
            <a:pPr marL="514350" indent="-514350">
              <a:buAutoNum type="arabicPeriod"/>
            </a:pPr>
            <a:r>
              <a:rPr lang="en-US" dirty="0"/>
              <a:t>Use code to tell R studio where the data is and read it in as a new object. </a:t>
            </a:r>
          </a:p>
        </p:txBody>
      </p:sp>
      <p:sp>
        <p:nvSpPr>
          <p:cNvPr id="4" name="Rectangle 3">
            <a:extLst>
              <a:ext uri="{FF2B5EF4-FFF2-40B4-BE49-F238E27FC236}">
                <a16:creationId xmlns:a16="http://schemas.microsoft.com/office/drawing/2014/main" id="{525DE7AD-2C75-4750-82C5-09ED2FEAAF32}"/>
              </a:ext>
            </a:extLst>
          </p:cNvPr>
          <p:cNvSpPr/>
          <p:nvPr/>
        </p:nvSpPr>
        <p:spPr>
          <a:xfrm>
            <a:off x="714895" y="5195455"/>
            <a:ext cx="10715105"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File paths are a key concept for the week- we use these to read data in and out </a:t>
            </a:r>
          </a:p>
        </p:txBody>
      </p:sp>
    </p:spTree>
    <p:extLst>
      <p:ext uri="{BB962C8B-B14F-4D97-AF65-F5344CB8AC3E}">
        <p14:creationId xmlns:p14="http://schemas.microsoft.com/office/powerpoint/2010/main" val="655771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6E4248-ECFA-457A-AD8B-B03049202327}"/>
              </a:ext>
            </a:extLst>
          </p:cNvPr>
          <p:cNvPicPr>
            <a:picLocks noChangeAspect="1"/>
          </p:cNvPicPr>
          <p:nvPr/>
        </p:nvPicPr>
        <p:blipFill>
          <a:blip r:embed="rId2"/>
          <a:stretch>
            <a:fillRect/>
          </a:stretch>
        </p:blipFill>
        <p:spPr>
          <a:xfrm>
            <a:off x="838200" y="2209670"/>
            <a:ext cx="8325278" cy="2787793"/>
          </a:xfrm>
          <a:prstGeom prst="rect">
            <a:avLst/>
          </a:prstGeom>
        </p:spPr>
      </p:pic>
      <p:sp>
        <p:nvSpPr>
          <p:cNvPr id="2" name="Title 1">
            <a:extLst>
              <a:ext uri="{FF2B5EF4-FFF2-40B4-BE49-F238E27FC236}">
                <a16:creationId xmlns:a16="http://schemas.microsoft.com/office/drawing/2014/main" id="{CFDA9649-E364-486B-AA19-CB04AFD29D60}"/>
              </a:ext>
            </a:extLst>
          </p:cNvPr>
          <p:cNvSpPr>
            <a:spLocks noGrp="1"/>
          </p:cNvSpPr>
          <p:nvPr>
            <p:ph type="title"/>
          </p:nvPr>
        </p:nvSpPr>
        <p:spPr>
          <a:solidFill>
            <a:schemeClr val="accent6">
              <a:lumMod val="60000"/>
              <a:lumOff val="40000"/>
            </a:schemeClr>
          </a:solidFill>
        </p:spPr>
        <p:txBody>
          <a:bodyPr/>
          <a:lstStyle/>
          <a:p>
            <a:r>
              <a:rPr lang="en-US" dirty="0"/>
              <a:t>Downloading the data from </a:t>
            </a:r>
            <a:r>
              <a:rPr lang="en-US" dirty="0" err="1"/>
              <a:t>github</a:t>
            </a:r>
            <a:endParaRPr lang="en-US" dirty="0"/>
          </a:p>
        </p:txBody>
      </p:sp>
      <p:sp>
        <p:nvSpPr>
          <p:cNvPr id="6" name="Rectangle 5">
            <a:extLst>
              <a:ext uri="{FF2B5EF4-FFF2-40B4-BE49-F238E27FC236}">
                <a16:creationId xmlns:a16="http://schemas.microsoft.com/office/drawing/2014/main" id="{551A4D12-55D1-4AE4-A847-B46269FFE6EE}"/>
              </a:ext>
            </a:extLst>
          </p:cNvPr>
          <p:cNvSpPr/>
          <p:nvPr/>
        </p:nvSpPr>
        <p:spPr>
          <a:xfrm>
            <a:off x="8154098" y="3333404"/>
            <a:ext cx="302005" cy="5403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A4FA9200-678C-4FF4-A4C8-6B94F0526000}"/>
              </a:ext>
            </a:extLst>
          </p:cNvPr>
          <p:cNvCxnSpPr>
            <a:cxnSpLocks/>
          </p:cNvCxnSpPr>
          <p:nvPr/>
        </p:nvCxnSpPr>
        <p:spPr>
          <a:xfrm flipH="1" flipV="1">
            <a:off x="8456104" y="3873732"/>
            <a:ext cx="1258347" cy="179722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56F51B5-FC90-4A70-BA3C-C21A9445A7AD}"/>
              </a:ext>
            </a:extLst>
          </p:cNvPr>
          <p:cNvSpPr/>
          <p:nvPr/>
        </p:nvSpPr>
        <p:spPr>
          <a:xfrm>
            <a:off x="6096000" y="5605807"/>
            <a:ext cx="5851380" cy="103077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Double clicking this downloads your data</a:t>
            </a:r>
          </a:p>
        </p:txBody>
      </p:sp>
    </p:spTree>
    <p:extLst>
      <p:ext uri="{BB962C8B-B14F-4D97-AF65-F5344CB8AC3E}">
        <p14:creationId xmlns:p14="http://schemas.microsoft.com/office/powerpoint/2010/main" val="274611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EA020-F105-45FC-B511-873BF6FA5E87}"/>
              </a:ext>
            </a:extLst>
          </p:cNvPr>
          <p:cNvSpPr>
            <a:spLocks noGrp="1"/>
          </p:cNvSpPr>
          <p:nvPr>
            <p:ph type="title"/>
          </p:nvPr>
        </p:nvSpPr>
        <p:spPr>
          <a:solidFill>
            <a:schemeClr val="accent6">
              <a:lumMod val="60000"/>
              <a:lumOff val="40000"/>
            </a:schemeClr>
          </a:solidFill>
        </p:spPr>
        <p:txBody>
          <a:bodyPr/>
          <a:lstStyle/>
          <a:p>
            <a:r>
              <a:rPr lang="en-US" dirty="0"/>
              <a:t>Save the file somewhere organized</a:t>
            </a:r>
          </a:p>
        </p:txBody>
      </p:sp>
      <p:pic>
        <p:nvPicPr>
          <p:cNvPr id="5" name="Picture 4">
            <a:extLst>
              <a:ext uri="{FF2B5EF4-FFF2-40B4-BE49-F238E27FC236}">
                <a16:creationId xmlns:a16="http://schemas.microsoft.com/office/drawing/2014/main" id="{C7995D38-BE59-4AD2-9F5C-C4F518B50717}"/>
              </a:ext>
            </a:extLst>
          </p:cNvPr>
          <p:cNvPicPr>
            <a:picLocks noChangeAspect="1"/>
          </p:cNvPicPr>
          <p:nvPr/>
        </p:nvPicPr>
        <p:blipFill>
          <a:blip r:embed="rId2"/>
          <a:stretch>
            <a:fillRect/>
          </a:stretch>
        </p:blipFill>
        <p:spPr>
          <a:xfrm>
            <a:off x="4172989" y="4379841"/>
            <a:ext cx="7583112" cy="2113034"/>
          </a:xfrm>
          <a:prstGeom prst="rect">
            <a:avLst/>
          </a:prstGeom>
        </p:spPr>
      </p:pic>
      <p:pic>
        <p:nvPicPr>
          <p:cNvPr id="7" name="Picture 6">
            <a:extLst>
              <a:ext uri="{FF2B5EF4-FFF2-40B4-BE49-F238E27FC236}">
                <a16:creationId xmlns:a16="http://schemas.microsoft.com/office/drawing/2014/main" id="{4BAB44AB-5A11-4A2D-BE7F-F4D5E43FE052}"/>
              </a:ext>
            </a:extLst>
          </p:cNvPr>
          <p:cNvPicPr>
            <a:picLocks noChangeAspect="1"/>
          </p:cNvPicPr>
          <p:nvPr/>
        </p:nvPicPr>
        <p:blipFill rotWithShape="1">
          <a:blip r:embed="rId3"/>
          <a:srcRect l="9822" t="14909" r="59344" b="8970"/>
          <a:stretch/>
        </p:blipFill>
        <p:spPr>
          <a:xfrm>
            <a:off x="523702" y="1958746"/>
            <a:ext cx="3000895" cy="4630375"/>
          </a:xfrm>
          <a:prstGeom prst="rect">
            <a:avLst/>
          </a:prstGeom>
        </p:spPr>
      </p:pic>
      <p:sp>
        <p:nvSpPr>
          <p:cNvPr id="8" name="Rectangle 7">
            <a:extLst>
              <a:ext uri="{FF2B5EF4-FFF2-40B4-BE49-F238E27FC236}">
                <a16:creationId xmlns:a16="http://schemas.microsoft.com/office/drawing/2014/main" id="{485C174A-CE12-4D22-89F9-199F944D7C64}"/>
              </a:ext>
            </a:extLst>
          </p:cNvPr>
          <p:cNvSpPr/>
          <p:nvPr/>
        </p:nvSpPr>
        <p:spPr>
          <a:xfrm>
            <a:off x="4339244" y="1862051"/>
            <a:ext cx="6808123" cy="21130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There are different ways to save the downloaded folder, which I will show on the video</a:t>
            </a:r>
          </a:p>
        </p:txBody>
      </p:sp>
      <p:cxnSp>
        <p:nvCxnSpPr>
          <p:cNvPr id="10" name="Straight Arrow Connector 9">
            <a:extLst>
              <a:ext uri="{FF2B5EF4-FFF2-40B4-BE49-F238E27FC236}">
                <a16:creationId xmlns:a16="http://schemas.microsoft.com/office/drawing/2014/main" id="{329C0AAE-F8D4-4294-BF21-10AEEF47C80A}"/>
              </a:ext>
            </a:extLst>
          </p:cNvPr>
          <p:cNvCxnSpPr/>
          <p:nvPr/>
        </p:nvCxnSpPr>
        <p:spPr>
          <a:xfrm>
            <a:off x="2901142" y="2319251"/>
            <a:ext cx="4522123" cy="214468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33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8085C-BA9F-4A20-8BE9-D47454993419}"/>
              </a:ext>
            </a:extLst>
          </p:cNvPr>
          <p:cNvSpPr>
            <a:spLocks noGrp="1"/>
          </p:cNvSpPr>
          <p:nvPr>
            <p:ph type="title"/>
          </p:nvPr>
        </p:nvSpPr>
        <p:spPr>
          <a:solidFill>
            <a:schemeClr val="accent6">
              <a:lumMod val="60000"/>
              <a:lumOff val="40000"/>
            </a:schemeClr>
          </a:solidFill>
        </p:spPr>
        <p:txBody>
          <a:bodyPr/>
          <a:lstStyle/>
          <a:p>
            <a:r>
              <a:rPr lang="en-US" dirty="0"/>
              <a:t>WHERE YOU SAVE IT IS THE FILEPATH</a:t>
            </a:r>
          </a:p>
        </p:txBody>
      </p:sp>
      <p:pic>
        <p:nvPicPr>
          <p:cNvPr id="7" name="Picture 6">
            <a:extLst>
              <a:ext uri="{FF2B5EF4-FFF2-40B4-BE49-F238E27FC236}">
                <a16:creationId xmlns:a16="http://schemas.microsoft.com/office/drawing/2014/main" id="{340437EA-AC29-4448-B73C-C0C10A8B3863}"/>
              </a:ext>
            </a:extLst>
          </p:cNvPr>
          <p:cNvPicPr>
            <a:picLocks noChangeAspect="1"/>
          </p:cNvPicPr>
          <p:nvPr/>
        </p:nvPicPr>
        <p:blipFill>
          <a:blip r:embed="rId2"/>
          <a:stretch>
            <a:fillRect/>
          </a:stretch>
        </p:blipFill>
        <p:spPr>
          <a:xfrm>
            <a:off x="2073922" y="1825626"/>
            <a:ext cx="9279877" cy="2189422"/>
          </a:xfrm>
          <a:prstGeom prst="rect">
            <a:avLst/>
          </a:prstGeom>
        </p:spPr>
      </p:pic>
      <p:sp>
        <p:nvSpPr>
          <p:cNvPr id="4" name="Rectangle 3">
            <a:extLst>
              <a:ext uri="{FF2B5EF4-FFF2-40B4-BE49-F238E27FC236}">
                <a16:creationId xmlns:a16="http://schemas.microsoft.com/office/drawing/2014/main" id="{C992B0D3-C6C3-40FA-BBF6-ED1FAC0F7861}"/>
              </a:ext>
            </a:extLst>
          </p:cNvPr>
          <p:cNvSpPr/>
          <p:nvPr/>
        </p:nvSpPr>
        <p:spPr>
          <a:xfrm>
            <a:off x="224444" y="2044931"/>
            <a:ext cx="1704109" cy="1837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Looks like this in windows file explorer</a:t>
            </a:r>
          </a:p>
        </p:txBody>
      </p:sp>
      <p:sp>
        <p:nvSpPr>
          <p:cNvPr id="6" name="Rectangle 5">
            <a:extLst>
              <a:ext uri="{FF2B5EF4-FFF2-40B4-BE49-F238E27FC236}">
                <a16:creationId xmlns:a16="http://schemas.microsoft.com/office/drawing/2014/main" id="{120E7987-D5C6-4324-9B4A-319AF3C6FC5B}"/>
              </a:ext>
            </a:extLst>
          </p:cNvPr>
          <p:cNvSpPr/>
          <p:nvPr/>
        </p:nvSpPr>
        <p:spPr>
          <a:xfrm>
            <a:off x="224444" y="4541087"/>
            <a:ext cx="1704109" cy="1837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Looks like this in R studio</a:t>
            </a:r>
          </a:p>
        </p:txBody>
      </p:sp>
      <p:pic>
        <p:nvPicPr>
          <p:cNvPr id="8" name="Picture 7">
            <a:extLst>
              <a:ext uri="{FF2B5EF4-FFF2-40B4-BE49-F238E27FC236}">
                <a16:creationId xmlns:a16="http://schemas.microsoft.com/office/drawing/2014/main" id="{9EA12F75-EB31-4B31-A8F0-D1A3A76906BC}"/>
              </a:ext>
            </a:extLst>
          </p:cNvPr>
          <p:cNvPicPr>
            <a:picLocks noChangeAspect="1"/>
          </p:cNvPicPr>
          <p:nvPr/>
        </p:nvPicPr>
        <p:blipFill>
          <a:blip r:embed="rId3"/>
          <a:stretch>
            <a:fillRect/>
          </a:stretch>
        </p:blipFill>
        <p:spPr>
          <a:xfrm>
            <a:off x="2073922" y="4852622"/>
            <a:ext cx="9465424" cy="1035709"/>
          </a:xfrm>
          <a:prstGeom prst="rect">
            <a:avLst/>
          </a:prstGeom>
        </p:spPr>
      </p:pic>
      <p:sp>
        <p:nvSpPr>
          <p:cNvPr id="9" name="Rectangle 8">
            <a:extLst>
              <a:ext uri="{FF2B5EF4-FFF2-40B4-BE49-F238E27FC236}">
                <a16:creationId xmlns:a16="http://schemas.microsoft.com/office/drawing/2014/main" id="{4B12F2B7-0D97-4B08-AF10-04CEE86CA708}"/>
              </a:ext>
            </a:extLst>
          </p:cNvPr>
          <p:cNvSpPr/>
          <p:nvPr/>
        </p:nvSpPr>
        <p:spPr>
          <a:xfrm>
            <a:off x="4064924" y="5459643"/>
            <a:ext cx="7474422" cy="72502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252383D4-7DB6-43CA-BD99-D61247D8C580}"/>
              </a:ext>
            </a:extLst>
          </p:cNvPr>
          <p:cNvCxnSpPr>
            <a:cxnSpLocks/>
          </p:cNvCxnSpPr>
          <p:nvPr/>
        </p:nvCxnSpPr>
        <p:spPr>
          <a:xfrm flipH="1" flipV="1">
            <a:off x="5187142" y="2211185"/>
            <a:ext cx="908859" cy="324846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67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BEE3-4FB4-4D13-8B76-3443FC1B9D9B}"/>
              </a:ext>
            </a:extLst>
          </p:cNvPr>
          <p:cNvSpPr>
            <a:spLocks noGrp="1"/>
          </p:cNvSpPr>
          <p:nvPr>
            <p:ph type="title"/>
          </p:nvPr>
        </p:nvSpPr>
        <p:spPr>
          <a:solidFill>
            <a:schemeClr val="accent6">
              <a:lumMod val="60000"/>
              <a:lumOff val="40000"/>
            </a:schemeClr>
          </a:solidFill>
        </p:spPr>
        <p:txBody>
          <a:bodyPr/>
          <a:lstStyle/>
          <a:p>
            <a:r>
              <a:rPr lang="en-US" dirty="0"/>
              <a:t>File extensions </a:t>
            </a:r>
          </a:p>
        </p:txBody>
      </p:sp>
      <p:sp>
        <p:nvSpPr>
          <p:cNvPr id="3" name="Content Placeholder 2">
            <a:extLst>
              <a:ext uri="{FF2B5EF4-FFF2-40B4-BE49-F238E27FC236}">
                <a16:creationId xmlns:a16="http://schemas.microsoft.com/office/drawing/2014/main" id="{243AF338-3BEB-40A0-BC94-F79F2C9C6501}"/>
              </a:ext>
            </a:extLst>
          </p:cNvPr>
          <p:cNvSpPr>
            <a:spLocks noGrp="1"/>
          </p:cNvSpPr>
          <p:nvPr>
            <p:ph idx="1"/>
          </p:nvPr>
        </p:nvSpPr>
        <p:spPr>
          <a:xfrm>
            <a:off x="838200" y="1825625"/>
            <a:ext cx="6618316" cy="4351338"/>
          </a:xfrm>
        </p:spPr>
        <p:txBody>
          <a:bodyPr>
            <a:normAutofit fontScale="92500" lnSpcReduction="20000"/>
          </a:bodyPr>
          <a:lstStyle/>
          <a:p>
            <a:r>
              <a:rPr lang="en-US" dirty="0"/>
              <a:t>In general, they tell us a lot of stuff about what type of file we are using</a:t>
            </a:r>
          </a:p>
          <a:p>
            <a:r>
              <a:rPr lang="en-US" dirty="0"/>
              <a:t>In datasets, they can tell us about the statistical software we are using,</a:t>
            </a:r>
          </a:p>
          <a:p>
            <a:endParaRPr lang="en-US" dirty="0"/>
          </a:p>
          <a:p>
            <a:r>
              <a:rPr lang="en-US" sz="4000" dirty="0">
                <a:highlight>
                  <a:srgbClr val="FFFF00"/>
                </a:highlight>
              </a:rPr>
              <a:t>The datasets file extensions also tell us the delimiter</a:t>
            </a:r>
          </a:p>
          <a:p>
            <a:endParaRPr lang="en-US" sz="4000" dirty="0">
              <a:highlight>
                <a:srgbClr val="FFFF00"/>
              </a:highlight>
            </a:endParaRPr>
          </a:p>
          <a:p>
            <a:r>
              <a:rPr lang="en-US" sz="4000" dirty="0">
                <a:highlight>
                  <a:srgbClr val="FFFF00"/>
                </a:highlight>
              </a:rPr>
              <a:t>R packages can read in data from any statistical software </a:t>
            </a:r>
          </a:p>
        </p:txBody>
      </p:sp>
      <p:pic>
        <p:nvPicPr>
          <p:cNvPr id="6" name="Picture 5">
            <a:extLst>
              <a:ext uri="{FF2B5EF4-FFF2-40B4-BE49-F238E27FC236}">
                <a16:creationId xmlns:a16="http://schemas.microsoft.com/office/drawing/2014/main" id="{CD3A05BB-3306-4D29-B068-1DC4586EBB3A}"/>
              </a:ext>
            </a:extLst>
          </p:cNvPr>
          <p:cNvPicPr>
            <a:picLocks noChangeAspect="1"/>
          </p:cNvPicPr>
          <p:nvPr/>
        </p:nvPicPr>
        <p:blipFill>
          <a:blip r:embed="rId2"/>
          <a:stretch>
            <a:fillRect/>
          </a:stretch>
        </p:blipFill>
        <p:spPr>
          <a:xfrm>
            <a:off x="7765472" y="1825625"/>
            <a:ext cx="3810000" cy="2619375"/>
          </a:xfrm>
          <a:prstGeom prst="rect">
            <a:avLst/>
          </a:prstGeom>
        </p:spPr>
      </p:pic>
    </p:spTree>
    <p:extLst>
      <p:ext uri="{BB962C8B-B14F-4D97-AF65-F5344CB8AC3E}">
        <p14:creationId xmlns:p14="http://schemas.microsoft.com/office/powerpoint/2010/main" val="3275466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08655-EF62-4121-AC46-55E95C9CB60D}"/>
              </a:ext>
            </a:extLst>
          </p:cNvPr>
          <p:cNvSpPr>
            <a:spLocks noGrp="1"/>
          </p:cNvSpPr>
          <p:nvPr>
            <p:ph type="title"/>
          </p:nvPr>
        </p:nvSpPr>
        <p:spPr>
          <a:solidFill>
            <a:schemeClr val="accent6">
              <a:lumMod val="60000"/>
              <a:lumOff val="40000"/>
            </a:schemeClr>
          </a:solidFill>
        </p:spPr>
        <p:txBody>
          <a:bodyPr/>
          <a:lstStyle/>
          <a:p>
            <a:r>
              <a:rPr lang="en-US" dirty="0"/>
              <a:t>Add extensions to windows explorer/ finder</a:t>
            </a:r>
          </a:p>
        </p:txBody>
      </p:sp>
      <p:pic>
        <p:nvPicPr>
          <p:cNvPr id="4" name="Content Placeholder 3">
            <a:extLst>
              <a:ext uri="{FF2B5EF4-FFF2-40B4-BE49-F238E27FC236}">
                <a16:creationId xmlns:a16="http://schemas.microsoft.com/office/drawing/2014/main" id="{6800F17F-2A53-4ADA-9671-23626779C925}"/>
              </a:ext>
            </a:extLst>
          </p:cNvPr>
          <p:cNvPicPr>
            <a:picLocks noGrp="1" noChangeAspect="1"/>
          </p:cNvPicPr>
          <p:nvPr>
            <p:ph idx="1"/>
          </p:nvPr>
        </p:nvPicPr>
        <p:blipFill>
          <a:blip r:embed="rId2"/>
          <a:stretch>
            <a:fillRect/>
          </a:stretch>
        </p:blipFill>
        <p:spPr>
          <a:xfrm>
            <a:off x="1354570" y="3232973"/>
            <a:ext cx="9482859" cy="3380675"/>
          </a:xfrm>
          <a:prstGeom prst="rect">
            <a:avLst/>
          </a:prstGeom>
        </p:spPr>
      </p:pic>
      <p:sp>
        <p:nvSpPr>
          <p:cNvPr id="6" name="TextBox 5">
            <a:extLst>
              <a:ext uri="{FF2B5EF4-FFF2-40B4-BE49-F238E27FC236}">
                <a16:creationId xmlns:a16="http://schemas.microsoft.com/office/drawing/2014/main" id="{D6B6364C-2A72-4341-B0AF-68D67ACFD6E7}"/>
              </a:ext>
            </a:extLst>
          </p:cNvPr>
          <p:cNvSpPr txBox="1"/>
          <p:nvPr/>
        </p:nvSpPr>
        <p:spPr>
          <a:xfrm>
            <a:off x="1016840" y="1947548"/>
            <a:ext cx="10022462" cy="1754326"/>
          </a:xfrm>
          <a:prstGeom prst="rect">
            <a:avLst/>
          </a:prstGeom>
          <a:noFill/>
        </p:spPr>
        <p:txBody>
          <a:bodyPr wrap="square">
            <a:spAutoFit/>
          </a:bodyPr>
          <a:lstStyle/>
          <a:p>
            <a:r>
              <a:rPr lang="en-US" dirty="0"/>
              <a:t>Windows explorer: </a:t>
            </a:r>
            <a:r>
              <a:rPr lang="en-US" dirty="0">
                <a:hlinkClick r:id="rId3"/>
              </a:rPr>
              <a:t>https://lazyadmin.nl/win-11/show-file-extension-windows-11/</a:t>
            </a:r>
            <a:endParaRPr lang="en-US" dirty="0"/>
          </a:p>
          <a:p>
            <a:endParaRPr lang="en-US" dirty="0"/>
          </a:p>
          <a:p>
            <a:r>
              <a:rPr lang="en-US" dirty="0"/>
              <a:t>Finder (Mac): </a:t>
            </a:r>
            <a:r>
              <a:rPr lang="en-US" dirty="0">
                <a:hlinkClick r:id="rId4"/>
              </a:rPr>
              <a:t>https://support.apple.com/guide/mac-help/show-or-hide-filename-extensions-on-mac-mchlp2304/mac</a:t>
            </a:r>
            <a:endParaRPr lang="en-US" dirty="0"/>
          </a:p>
          <a:p>
            <a:endParaRPr lang="en-US" dirty="0"/>
          </a:p>
          <a:p>
            <a:endParaRPr lang="en-US" dirty="0"/>
          </a:p>
        </p:txBody>
      </p:sp>
    </p:spTree>
    <p:extLst>
      <p:ext uri="{BB962C8B-B14F-4D97-AF65-F5344CB8AC3E}">
        <p14:creationId xmlns:p14="http://schemas.microsoft.com/office/powerpoint/2010/main" val="2432210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BAD70-2BBB-4C1B-8329-E16D5F4B393C}"/>
              </a:ext>
            </a:extLst>
          </p:cNvPr>
          <p:cNvSpPr>
            <a:spLocks noGrp="1"/>
          </p:cNvSpPr>
          <p:nvPr>
            <p:ph type="title"/>
          </p:nvPr>
        </p:nvSpPr>
        <p:spPr>
          <a:solidFill>
            <a:schemeClr val="accent6">
              <a:lumMod val="60000"/>
              <a:lumOff val="40000"/>
            </a:schemeClr>
          </a:solidFill>
        </p:spPr>
        <p:txBody>
          <a:bodyPr/>
          <a:lstStyle/>
          <a:p>
            <a:r>
              <a:rPr lang="en-US" dirty="0"/>
              <a:t>Anyway, Delimiters </a:t>
            </a:r>
          </a:p>
        </p:txBody>
      </p:sp>
      <p:sp>
        <p:nvSpPr>
          <p:cNvPr id="3" name="Content Placeholder 2">
            <a:extLst>
              <a:ext uri="{FF2B5EF4-FFF2-40B4-BE49-F238E27FC236}">
                <a16:creationId xmlns:a16="http://schemas.microsoft.com/office/drawing/2014/main" id="{DE73B943-2293-4249-9DF4-D47124B1BF2C}"/>
              </a:ext>
            </a:extLst>
          </p:cNvPr>
          <p:cNvSpPr>
            <a:spLocks noGrp="1"/>
          </p:cNvSpPr>
          <p:nvPr>
            <p:ph idx="1"/>
          </p:nvPr>
        </p:nvSpPr>
        <p:spPr/>
        <p:txBody>
          <a:bodyPr/>
          <a:lstStyle/>
          <a:p>
            <a:pPr marL="0" indent="0">
              <a:buNone/>
            </a:pPr>
            <a:r>
              <a:rPr lang="en-US" dirty="0"/>
              <a:t>Delimiters: Delimiters are characters that mark the boundaries between individual pieces of data within a file. </a:t>
            </a:r>
          </a:p>
          <a:p>
            <a:pPr marL="0" indent="0">
              <a:buNone/>
            </a:pPr>
            <a:r>
              <a:rPr lang="en-US" dirty="0"/>
              <a:t>In this class we use CSV because the data are simple and do not cause problems for learners </a:t>
            </a:r>
          </a:p>
          <a:p>
            <a:pPr marL="0" indent="0">
              <a:buNone/>
            </a:pPr>
            <a:endParaRPr lang="en-US" dirty="0"/>
          </a:p>
          <a:p>
            <a:pPr marL="0" indent="0">
              <a:buNone/>
            </a:pPr>
            <a:r>
              <a:rPr lang="en-US" dirty="0"/>
              <a:t>.csv: Indicates comma-separated values. </a:t>
            </a:r>
          </a:p>
          <a:p>
            <a:pPr marL="0" indent="0">
              <a:buNone/>
            </a:pPr>
            <a:r>
              <a:rPr lang="en-US" dirty="0"/>
              <a:t>.txt: Indicates a general text file, which can also be a delimited file. </a:t>
            </a:r>
          </a:p>
          <a:p>
            <a:pPr marL="0" indent="0">
              <a:buNone/>
            </a:pPr>
            <a:r>
              <a:rPr lang="en-US" dirty="0"/>
              <a:t>.</a:t>
            </a:r>
            <a:r>
              <a:rPr lang="en-US" dirty="0" err="1"/>
              <a:t>tsv</a:t>
            </a:r>
            <a:r>
              <a:rPr lang="en-US" dirty="0"/>
              <a:t>: Indicates tab-separated values. </a:t>
            </a:r>
          </a:p>
          <a:p>
            <a:pPr marL="0" indent="0">
              <a:buNone/>
            </a:pPr>
            <a:r>
              <a:rPr lang="en-US" dirty="0"/>
              <a:t>.</a:t>
            </a:r>
            <a:r>
              <a:rPr lang="en-US" dirty="0" err="1"/>
              <a:t>psv</a:t>
            </a:r>
            <a:r>
              <a:rPr lang="en-US" dirty="0"/>
              <a:t>: Indicates pipe-separated values. </a:t>
            </a:r>
          </a:p>
        </p:txBody>
      </p:sp>
    </p:spTree>
    <p:extLst>
      <p:ext uri="{BB962C8B-B14F-4D97-AF65-F5344CB8AC3E}">
        <p14:creationId xmlns:p14="http://schemas.microsoft.com/office/powerpoint/2010/main" val="66679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6C99E-3370-418F-A3F1-6D1A3BD14188}"/>
              </a:ext>
            </a:extLst>
          </p:cNvPr>
          <p:cNvSpPr>
            <a:spLocks noGrp="1"/>
          </p:cNvSpPr>
          <p:nvPr>
            <p:ph type="title"/>
          </p:nvPr>
        </p:nvSpPr>
        <p:spPr>
          <a:solidFill>
            <a:schemeClr val="accent6">
              <a:lumMod val="60000"/>
              <a:lumOff val="40000"/>
            </a:schemeClr>
          </a:solidFill>
        </p:spPr>
        <p:txBody>
          <a:bodyPr/>
          <a:lstStyle/>
          <a:p>
            <a:r>
              <a:rPr lang="en-US" dirty="0"/>
              <a:t>CSV behind the scenes </a:t>
            </a:r>
          </a:p>
        </p:txBody>
      </p:sp>
      <p:pic>
        <p:nvPicPr>
          <p:cNvPr id="7" name="Picture 6">
            <a:extLst>
              <a:ext uri="{FF2B5EF4-FFF2-40B4-BE49-F238E27FC236}">
                <a16:creationId xmlns:a16="http://schemas.microsoft.com/office/drawing/2014/main" id="{351B86A3-6239-4D11-A960-00F7CBD48A9A}"/>
              </a:ext>
            </a:extLst>
          </p:cNvPr>
          <p:cNvPicPr>
            <a:picLocks noChangeAspect="1"/>
          </p:cNvPicPr>
          <p:nvPr/>
        </p:nvPicPr>
        <p:blipFill>
          <a:blip r:embed="rId2"/>
          <a:stretch>
            <a:fillRect/>
          </a:stretch>
        </p:blipFill>
        <p:spPr>
          <a:xfrm>
            <a:off x="345151" y="3208713"/>
            <a:ext cx="5372649" cy="3064885"/>
          </a:xfrm>
          <a:prstGeom prst="rect">
            <a:avLst/>
          </a:prstGeom>
        </p:spPr>
      </p:pic>
      <p:pic>
        <p:nvPicPr>
          <p:cNvPr id="5" name="Content Placeholder 4">
            <a:extLst>
              <a:ext uri="{FF2B5EF4-FFF2-40B4-BE49-F238E27FC236}">
                <a16:creationId xmlns:a16="http://schemas.microsoft.com/office/drawing/2014/main" id="{970D33C0-3F03-45BE-8ABA-C6127A2D54DD}"/>
              </a:ext>
            </a:extLst>
          </p:cNvPr>
          <p:cNvPicPr>
            <a:picLocks noGrp="1" noChangeAspect="1"/>
          </p:cNvPicPr>
          <p:nvPr>
            <p:ph idx="1"/>
          </p:nvPr>
        </p:nvPicPr>
        <p:blipFill>
          <a:blip r:embed="rId3"/>
          <a:stretch>
            <a:fillRect/>
          </a:stretch>
        </p:blipFill>
        <p:spPr>
          <a:xfrm>
            <a:off x="4347555" y="1930126"/>
            <a:ext cx="7276927" cy="2013686"/>
          </a:xfrm>
        </p:spPr>
      </p:pic>
      <p:sp>
        <p:nvSpPr>
          <p:cNvPr id="8" name="Rectangle 7">
            <a:extLst>
              <a:ext uri="{FF2B5EF4-FFF2-40B4-BE49-F238E27FC236}">
                <a16:creationId xmlns:a16="http://schemas.microsoft.com/office/drawing/2014/main" id="{DE118913-92E6-4DD0-A3C1-46F10ADF14B0}"/>
              </a:ext>
            </a:extLst>
          </p:cNvPr>
          <p:cNvSpPr/>
          <p:nvPr/>
        </p:nvSpPr>
        <p:spPr>
          <a:xfrm>
            <a:off x="199505" y="1930126"/>
            <a:ext cx="4064924" cy="1039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looks like this in Excel </a:t>
            </a:r>
          </a:p>
        </p:txBody>
      </p:sp>
      <p:sp>
        <p:nvSpPr>
          <p:cNvPr id="9" name="Rectangle 8">
            <a:extLst>
              <a:ext uri="{FF2B5EF4-FFF2-40B4-BE49-F238E27FC236}">
                <a16:creationId xmlns:a16="http://schemas.microsoft.com/office/drawing/2014/main" id="{522B8559-6CFB-482F-84B8-7E97EC531F24}"/>
              </a:ext>
            </a:extLst>
          </p:cNvPr>
          <p:cNvSpPr/>
          <p:nvPr/>
        </p:nvSpPr>
        <p:spPr>
          <a:xfrm>
            <a:off x="5838304" y="4183249"/>
            <a:ext cx="5515495" cy="24087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Looks like this in its raw form, which is easy for different software to understand </a:t>
            </a:r>
          </a:p>
          <a:p>
            <a:pPr algn="ctr"/>
            <a:endParaRPr lang="en-US" sz="2800" dirty="0"/>
          </a:p>
          <a:p>
            <a:pPr algn="ctr"/>
            <a:r>
              <a:rPr lang="en-US" sz="2800" dirty="0"/>
              <a:t>Note the commas! </a:t>
            </a:r>
          </a:p>
        </p:txBody>
      </p:sp>
      <p:sp>
        <p:nvSpPr>
          <p:cNvPr id="10" name="Star: 10 Points 9">
            <a:extLst>
              <a:ext uri="{FF2B5EF4-FFF2-40B4-BE49-F238E27FC236}">
                <a16:creationId xmlns:a16="http://schemas.microsoft.com/office/drawing/2014/main" id="{F574EE55-12E1-4452-96C4-8B54F98F0350}"/>
              </a:ext>
            </a:extLst>
          </p:cNvPr>
          <p:cNvSpPr/>
          <p:nvPr/>
        </p:nvSpPr>
        <p:spPr>
          <a:xfrm>
            <a:off x="8146473" y="2369127"/>
            <a:ext cx="3561135" cy="1737360"/>
          </a:xfrm>
          <a:prstGeom prst="star10">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 will only use CSV in this class, and this is why</a:t>
            </a:r>
          </a:p>
        </p:txBody>
      </p:sp>
    </p:spTree>
    <p:extLst>
      <p:ext uri="{BB962C8B-B14F-4D97-AF65-F5344CB8AC3E}">
        <p14:creationId xmlns:p14="http://schemas.microsoft.com/office/powerpoint/2010/main" val="94404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EF455-9797-4933-B061-929CDFC9B285}"/>
              </a:ext>
            </a:extLst>
          </p:cNvPr>
          <p:cNvSpPr>
            <a:spLocks noGrp="1"/>
          </p:cNvSpPr>
          <p:nvPr>
            <p:ph type="title"/>
          </p:nvPr>
        </p:nvSpPr>
        <p:spPr>
          <a:solidFill>
            <a:schemeClr val="accent6">
              <a:lumMod val="60000"/>
              <a:lumOff val="40000"/>
            </a:schemeClr>
          </a:solidFill>
        </p:spPr>
        <p:txBody>
          <a:bodyPr/>
          <a:lstStyle/>
          <a:p>
            <a:r>
              <a:rPr lang="en-US" dirty="0"/>
              <a:t>Comments </a:t>
            </a:r>
          </a:p>
        </p:txBody>
      </p:sp>
      <p:sp>
        <p:nvSpPr>
          <p:cNvPr id="3" name="Content Placeholder 2">
            <a:extLst>
              <a:ext uri="{FF2B5EF4-FFF2-40B4-BE49-F238E27FC236}">
                <a16:creationId xmlns:a16="http://schemas.microsoft.com/office/drawing/2014/main" id="{BA3DB6FA-BDB4-4814-91BE-B8E312DACD68}"/>
              </a:ext>
            </a:extLst>
          </p:cNvPr>
          <p:cNvSpPr>
            <a:spLocks noGrp="1"/>
          </p:cNvSpPr>
          <p:nvPr>
            <p:ph idx="1"/>
          </p:nvPr>
        </p:nvSpPr>
        <p:spPr>
          <a:xfrm>
            <a:off x="838199" y="1825625"/>
            <a:ext cx="10515599" cy="2875165"/>
          </a:xfrm>
        </p:spPr>
        <p:txBody>
          <a:bodyPr>
            <a:normAutofit fontScale="85000" lnSpcReduction="20000"/>
          </a:bodyPr>
          <a:lstStyle/>
          <a:p>
            <a:r>
              <a:rPr lang="en-US" dirty="0"/>
              <a:t>Comments start with this symbol # </a:t>
            </a:r>
          </a:p>
          <a:p>
            <a:pPr lvl="1"/>
            <a:r>
              <a:rPr lang="en-US" dirty="0"/>
              <a:t>(AKA octothorpe, pound sign, hashtag)</a:t>
            </a:r>
          </a:p>
          <a:p>
            <a:r>
              <a:rPr lang="en-US" dirty="0"/>
              <a:t>These are used to document your code</a:t>
            </a:r>
          </a:p>
          <a:p>
            <a:r>
              <a:rPr lang="en-US" dirty="0"/>
              <a:t>If you highlight these and run them nothing happens</a:t>
            </a:r>
          </a:p>
          <a:p>
            <a:r>
              <a:rPr lang="en-US" dirty="0"/>
              <a:t>These are extremely useful for </a:t>
            </a:r>
          </a:p>
          <a:p>
            <a:pPr lvl="1"/>
            <a:r>
              <a:rPr lang="en-US" dirty="0"/>
              <a:t>Reproducible science</a:t>
            </a:r>
          </a:p>
          <a:p>
            <a:pPr lvl="1"/>
            <a:r>
              <a:rPr lang="en-US" dirty="0"/>
              <a:t>Trying to be a good teacher teaching people to code for first time</a:t>
            </a:r>
          </a:p>
          <a:p>
            <a:r>
              <a:rPr lang="en-US" dirty="0"/>
              <a:t>You will type your HW answers as comments this week   </a:t>
            </a:r>
          </a:p>
        </p:txBody>
      </p:sp>
      <p:pic>
        <p:nvPicPr>
          <p:cNvPr id="5" name="Picture 4">
            <a:extLst>
              <a:ext uri="{FF2B5EF4-FFF2-40B4-BE49-F238E27FC236}">
                <a16:creationId xmlns:a16="http://schemas.microsoft.com/office/drawing/2014/main" id="{FDD2D66B-99F3-4521-81D3-7746DF16BB39}"/>
              </a:ext>
            </a:extLst>
          </p:cNvPr>
          <p:cNvPicPr>
            <a:picLocks noChangeAspect="1"/>
          </p:cNvPicPr>
          <p:nvPr/>
        </p:nvPicPr>
        <p:blipFill>
          <a:blip r:embed="rId2"/>
          <a:stretch>
            <a:fillRect/>
          </a:stretch>
        </p:blipFill>
        <p:spPr>
          <a:xfrm>
            <a:off x="3086047" y="4835727"/>
            <a:ext cx="6152906" cy="1611110"/>
          </a:xfrm>
          <a:prstGeom prst="rect">
            <a:avLst/>
          </a:prstGeom>
        </p:spPr>
      </p:pic>
      <p:sp>
        <p:nvSpPr>
          <p:cNvPr id="6" name="Rectangle 5">
            <a:extLst>
              <a:ext uri="{FF2B5EF4-FFF2-40B4-BE49-F238E27FC236}">
                <a16:creationId xmlns:a16="http://schemas.microsoft.com/office/drawing/2014/main" id="{791DA095-2B7B-4AE0-8DEB-1A85EAD072DF}"/>
              </a:ext>
            </a:extLst>
          </p:cNvPr>
          <p:cNvSpPr/>
          <p:nvPr/>
        </p:nvSpPr>
        <p:spPr>
          <a:xfrm>
            <a:off x="2169622" y="5220393"/>
            <a:ext cx="7639396" cy="947651"/>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1988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D7169-CEB9-437B-9E51-E33782F8AF79}"/>
              </a:ext>
            </a:extLst>
          </p:cNvPr>
          <p:cNvSpPr>
            <a:spLocks noGrp="1"/>
          </p:cNvSpPr>
          <p:nvPr>
            <p:ph type="title"/>
          </p:nvPr>
        </p:nvSpPr>
        <p:spPr>
          <a:solidFill>
            <a:schemeClr val="accent6">
              <a:lumMod val="60000"/>
              <a:lumOff val="40000"/>
            </a:schemeClr>
          </a:solidFill>
        </p:spPr>
        <p:txBody>
          <a:bodyPr/>
          <a:lstStyle/>
          <a:p>
            <a:r>
              <a:rPr lang="en-US" dirty="0"/>
              <a:t>Running Code</a:t>
            </a:r>
          </a:p>
        </p:txBody>
      </p:sp>
      <p:sp>
        <p:nvSpPr>
          <p:cNvPr id="3" name="Content Placeholder 2">
            <a:extLst>
              <a:ext uri="{FF2B5EF4-FFF2-40B4-BE49-F238E27FC236}">
                <a16:creationId xmlns:a16="http://schemas.microsoft.com/office/drawing/2014/main" id="{22488700-B90A-4783-B30B-029D72300AB7}"/>
              </a:ext>
            </a:extLst>
          </p:cNvPr>
          <p:cNvSpPr>
            <a:spLocks noGrp="1"/>
          </p:cNvSpPr>
          <p:nvPr>
            <p:ph idx="1"/>
          </p:nvPr>
        </p:nvSpPr>
        <p:spPr/>
        <p:txBody>
          <a:bodyPr/>
          <a:lstStyle/>
          <a:p>
            <a:r>
              <a:rPr lang="en-US" dirty="0"/>
              <a:t>To run code, you can highlight a line of code and push the run button</a:t>
            </a:r>
          </a:p>
          <a:p>
            <a:r>
              <a:rPr lang="en-US" dirty="0"/>
              <a:t>If there are open parenthesis on two lines, you need to highlight both</a:t>
            </a:r>
          </a:p>
          <a:p>
            <a:r>
              <a:rPr lang="en-US" dirty="0"/>
              <a:t>You can also click on a line and push </a:t>
            </a:r>
            <a:r>
              <a:rPr lang="en-US" dirty="0" err="1"/>
              <a:t>control+enter</a:t>
            </a:r>
            <a:endParaRPr lang="en-US" dirty="0"/>
          </a:p>
          <a:p>
            <a:r>
              <a:rPr lang="en-US" dirty="0" err="1"/>
              <a:t>Command+enter</a:t>
            </a:r>
            <a:r>
              <a:rPr lang="en-US" dirty="0"/>
              <a:t> on Mac</a:t>
            </a:r>
          </a:p>
        </p:txBody>
      </p:sp>
      <p:pic>
        <p:nvPicPr>
          <p:cNvPr id="5" name="Picture 4">
            <a:extLst>
              <a:ext uri="{FF2B5EF4-FFF2-40B4-BE49-F238E27FC236}">
                <a16:creationId xmlns:a16="http://schemas.microsoft.com/office/drawing/2014/main" id="{096FA8F4-D283-4204-A19D-57B26634CE75}"/>
              </a:ext>
            </a:extLst>
          </p:cNvPr>
          <p:cNvPicPr>
            <a:picLocks noChangeAspect="1"/>
          </p:cNvPicPr>
          <p:nvPr/>
        </p:nvPicPr>
        <p:blipFill>
          <a:blip r:embed="rId2"/>
          <a:stretch>
            <a:fillRect/>
          </a:stretch>
        </p:blipFill>
        <p:spPr>
          <a:xfrm>
            <a:off x="3458174" y="4182283"/>
            <a:ext cx="3822389" cy="2129617"/>
          </a:xfrm>
          <a:prstGeom prst="rect">
            <a:avLst/>
          </a:prstGeom>
        </p:spPr>
      </p:pic>
      <p:sp>
        <p:nvSpPr>
          <p:cNvPr id="6" name="Star: 10 Points 5">
            <a:extLst>
              <a:ext uri="{FF2B5EF4-FFF2-40B4-BE49-F238E27FC236}">
                <a16:creationId xmlns:a16="http://schemas.microsoft.com/office/drawing/2014/main" id="{86A6327B-4B8A-4CA8-80E4-E2CF7F86D2B9}"/>
              </a:ext>
            </a:extLst>
          </p:cNvPr>
          <p:cNvSpPr/>
          <p:nvPr/>
        </p:nvSpPr>
        <p:spPr>
          <a:xfrm>
            <a:off x="8237913" y="3865418"/>
            <a:ext cx="3624349" cy="2842953"/>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They made this button way too small!!! </a:t>
            </a:r>
          </a:p>
        </p:txBody>
      </p:sp>
    </p:spTree>
    <p:extLst>
      <p:ext uri="{BB962C8B-B14F-4D97-AF65-F5344CB8AC3E}">
        <p14:creationId xmlns:p14="http://schemas.microsoft.com/office/powerpoint/2010/main" val="284600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32DB-324E-4F22-A5A5-9E6994F4CECB}"/>
              </a:ext>
            </a:extLst>
          </p:cNvPr>
          <p:cNvSpPr>
            <a:spLocks noGrp="1"/>
          </p:cNvSpPr>
          <p:nvPr>
            <p:ph type="title"/>
          </p:nvPr>
        </p:nvSpPr>
        <p:spPr>
          <a:solidFill>
            <a:schemeClr val="accent6">
              <a:lumMod val="60000"/>
              <a:lumOff val="40000"/>
            </a:schemeClr>
          </a:solidFill>
        </p:spPr>
        <p:txBody>
          <a:bodyPr/>
          <a:lstStyle/>
          <a:p>
            <a:r>
              <a:rPr lang="en-US" dirty="0"/>
              <a:t>Open Source: A Blessing and A Curse</a:t>
            </a:r>
          </a:p>
        </p:txBody>
      </p:sp>
      <p:sp>
        <p:nvSpPr>
          <p:cNvPr id="3" name="Content Placeholder 2">
            <a:extLst>
              <a:ext uri="{FF2B5EF4-FFF2-40B4-BE49-F238E27FC236}">
                <a16:creationId xmlns:a16="http://schemas.microsoft.com/office/drawing/2014/main" id="{449D38E7-1C34-45FF-883A-2188030C2E82}"/>
              </a:ext>
            </a:extLst>
          </p:cNvPr>
          <p:cNvSpPr>
            <a:spLocks noGrp="1"/>
          </p:cNvSpPr>
          <p:nvPr>
            <p:ph idx="1"/>
          </p:nvPr>
        </p:nvSpPr>
        <p:spPr>
          <a:xfrm>
            <a:off x="838201" y="1825625"/>
            <a:ext cx="7050578" cy="4351338"/>
          </a:xfrm>
        </p:spPr>
        <p:txBody>
          <a:bodyPr/>
          <a:lstStyle/>
          <a:p>
            <a:r>
              <a:rPr lang="en-US" dirty="0"/>
              <a:t>It is a scientific innovation that anyone, anywhere can write packages</a:t>
            </a:r>
          </a:p>
          <a:p>
            <a:r>
              <a:rPr lang="en-US" dirty="0"/>
              <a:t>This increases reproducibility, shared knowledge, and innovation</a:t>
            </a:r>
          </a:p>
          <a:p>
            <a:r>
              <a:rPr lang="en-US" dirty="0">
                <a:highlight>
                  <a:srgbClr val="FFFF00"/>
                </a:highlight>
              </a:rPr>
              <a:t>It also means sometimes syntax may vary slightly</a:t>
            </a:r>
          </a:p>
          <a:p>
            <a:r>
              <a:rPr lang="en-US" dirty="0"/>
              <a:t>In extreme cases, packages can be wrong (none that we will be working with) </a:t>
            </a:r>
          </a:p>
        </p:txBody>
      </p:sp>
      <p:pic>
        <p:nvPicPr>
          <p:cNvPr id="4" name="Picture 3">
            <a:extLst>
              <a:ext uri="{FF2B5EF4-FFF2-40B4-BE49-F238E27FC236}">
                <a16:creationId xmlns:a16="http://schemas.microsoft.com/office/drawing/2014/main" id="{5ADE64F0-9519-413D-BA86-2D46E3A06FB9}"/>
              </a:ext>
            </a:extLst>
          </p:cNvPr>
          <p:cNvPicPr>
            <a:picLocks noChangeAspect="1"/>
          </p:cNvPicPr>
          <p:nvPr/>
        </p:nvPicPr>
        <p:blipFill>
          <a:blip r:embed="rId2"/>
          <a:stretch>
            <a:fillRect/>
          </a:stretch>
        </p:blipFill>
        <p:spPr>
          <a:xfrm>
            <a:off x="7011323" y="2495897"/>
            <a:ext cx="5050443" cy="2840874"/>
          </a:xfrm>
          <a:prstGeom prst="rect">
            <a:avLst/>
          </a:prstGeom>
        </p:spPr>
      </p:pic>
    </p:spTree>
    <p:extLst>
      <p:ext uri="{BB962C8B-B14F-4D97-AF65-F5344CB8AC3E}">
        <p14:creationId xmlns:p14="http://schemas.microsoft.com/office/powerpoint/2010/main" val="16811479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5889-B45A-4021-A523-29BE3C0BF493}"/>
              </a:ext>
            </a:extLst>
          </p:cNvPr>
          <p:cNvSpPr>
            <a:spLocks noGrp="1"/>
          </p:cNvSpPr>
          <p:nvPr>
            <p:ph type="title"/>
          </p:nvPr>
        </p:nvSpPr>
        <p:spPr>
          <a:solidFill>
            <a:schemeClr val="accent6">
              <a:lumMod val="60000"/>
              <a:lumOff val="40000"/>
            </a:schemeClr>
          </a:solidFill>
        </p:spPr>
        <p:txBody>
          <a:bodyPr/>
          <a:lstStyle/>
          <a:p>
            <a:r>
              <a:rPr lang="en-US" dirty="0"/>
              <a:t>Questions?? Lets go to R</a:t>
            </a:r>
          </a:p>
        </p:txBody>
      </p:sp>
      <p:sp>
        <p:nvSpPr>
          <p:cNvPr id="3" name="Content Placeholder 2">
            <a:extLst>
              <a:ext uri="{FF2B5EF4-FFF2-40B4-BE49-F238E27FC236}">
                <a16:creationId xmlns:a16="http://schemas.microsoft.com/office/drawing/2014/main" id="{18E0B134-7677-4FA7-8673-C5FB819EE75D}"/>
              </a:ext>
            </a:extLst>
          </p:cNvPr>
          <p:cNvSpPr>
            <a:spLocks noGrp="1"/>
          </p:cNvSpPr>
          <p:nvPr>
            <p:ph idx="1"/>
          </p:nvPr>
        </p:nvSpPr>
        <p:spPr>
          <a:xfrm>
            <a:off x="838200" y="1825625"/>
            <a:ext cx="11216780" cy="4351338"/>
          </a:xfrm>
        </p:spPr>
        <p:txBody>
          <a:bodyPr/>
          <a:lstStyle/>
          <a:p>
            <a:r>
              <a:rPr lang="en-US" dirty="0"/>
              <a:t>EMAIL ME MORE QUESTIONS: </a:t>
            </a:r>
          </a:p>
          <a:p>
            <a:r>
              <a:rPr lang="en-US" sz="6000" dirty="0">
                <a:hlinkClick r:id="rId2"/>
              </a:rPr>
              <a:t>samswift@salud.unm.edu</a:t>
            </a:r>
            <a:r>
              <a:rPr lang="en-US" sz="6000" dirty="0"/>
              <a:t> </a:t>
            </a:r>
          </a:p>
          <a:p>
            <a:endParaRPr lang="en-US" dirty="0"/>
          </a:p>
        </p:txBody>
      </p:sp>
      <p:pic>
        <p:nvPicPr>
          <p:cNvPr id="1026" name="Picture 2">
            <a:extLst>
              <a:ext uri="{FF2B5EF4-FFF2-40B4-BE49-F238E27FC236}">
                <a16:creationId xmlns:a16="http://schemas.microsoft.com/office/drawing/2014/main" id="{E6580FCA-2032-455C-9123-CB91E7F71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701" y="2900857"/>
            <a:ext cx="7772598" cy="3957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183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811</TotalTime>
  <Words>2231</Words>
  <Application>Microsoft Office PowerPoint</Application>
  <PresentationFormat>Widescreen</PresentationFormat>
  <Paragraphs>281</Paragraphs>
  <Slides>43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Calibri</vt:lpstr>
      <vt:lpstr>Calibri Light</vt:lpstr>
      <vt:lpstr>Courier New</vt:lpstr>
      <vt:lpstr>Lato Extended</vt:lpstr>
      <vt:lpstr>Segoe UI Black</vt:lpstr>
      <vt:lpstr>Source Sans Pro</vt:lpstr>
      <vt:lpstr>Wingdings</vt:lpstr>
      <vt:lpstr>Office Theme</vt:lpstr>
      <vt:lpstr>Workshop #1: Welcome to  the R environment </vt:lpstr>
      <vt:lpstr>About Me- Sam Swift, PhD, MPH </vt:lpstr>
      <vt:lpstr>Questions about the Workshop??? </vt:lpstr>
      <vt:lpstr>Survey Results (I know pie charts are bad)</vt:lpstr>
      <vt:lpstr>More survey results</vt:lpstr>
      <vt:lpstr>Final (select) survey results </vt:lpstr>
      <vt:lpstr>Presentation contents </vt:lpstr>
      <vt:lpstr>Workshops outline</vt:lpstr>
      <vt:lpstr>Class Repository</vt:lpstr>
      <vt:lpstr>Installing R and R studio</vt:lpstr>
      <vt:lpstr>Entertaining meme</vt:lpstr>
      <vt:lpstr>PowerPoint Presentation</vt:lpstr>
      <vt:lpstr>There are Some Disadvantages to R/ R studio</vt:lpstr>
      <vt:lpstr>R vs R studio- Why do we need both? </vt:lpstr>
      <vt:lpstr>PowerPoint Presentation</vt:lpstr>
      <vt:lpstr>PowerPoint Presentation</vt:lpstr>
      <vt:lpstr>Code has syntax</vt:lpstr>
      <vt:lpstr>Key Terms </vt:lpstr>
      <vt:lpstr>Objects</vt:lpstr>
      <vt:lpstr>Objects Continued </vt:lpstr>
      <vt:lpstr>Objects Continued</vt:lpstr>
      <vt:lpstr>Syntax Breakdown </vt:lpstr>
      <vt:lpstr>Error messages</vt:lpstr>
      <vt:lpstr>Debugging Errors</vt:lpstr>
      <vt:lpstr>Functions</vt:lpstr>
      <vt:lpstr>Packages </vt:lpstr>
      <vt:lpstr>Ok… so what is a package?? </vt:lpstr>
      <vt:lpstr>PowerPoint Presentation</vt:lpstr>
      <vt:lpstr> </vt:lpstr>
      <vt:lpstr>Commonly Used Packages</vt:lpstr>
      <vt:lpstr>Scripts</vt:lpstr>
      <vt:lpstr>File paths and reading in data</vt:lpstr>
      <vt:lpstr>Downloading the data from github</vt:lpstr>
      <vt:lpstr>Save the file somewhere organized</vt:lpstr>
      <vt:lpstr>WHERE YOU SAVE IT IS THE FILEPATH</vt:lpstr>
      <vt:lpstr>File extensions </vt:lpstr>
      <vt:lpstr>Add extensions to windows explorer/ finder</vt:lpstr>
      <vt:lpstr>Anyway, Delimiters </vt:lpstr>
      <vt:lpstr>CSV behind the scenes </vt:lpstr>
      <vt:lpstr>Comments </vt:lpstr>
      <vt:lpstr>Running Code</vt:lpstr>
      <vt:lpstr>Open Source: A Blessing and A Curse</vt:lpstr>
      <vt:lpstr>Questions?? Lets go to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The R environment</dc:title>
  <dc:creator>Samuel L Swift</dc:creator>
  <cp:lastModifiedBy>Samuel L Swift</cp:lastModifiedBy>
  <cp:revision>81</cp:revision>
  <dcterms:created xsi:type="dcterms:W3CDTF">2025-06-04T15:24:44Z</dcterms:created>
  <dcterms:modified xsi:type="dcterms:W3CDTF">2026-07-29T16:36:44Z</dcterms:modified>
</cp:coreProperties>
</file>